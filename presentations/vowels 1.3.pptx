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465" r:id="rId3"/>
    <p:sldId id="467" r:id="rId4"/>
    <p:sldId id="395" r:id="rId5"/>
    <p:sldId id="468" r:id="rId6"/>
    <p:sldId id="469" r:id="rId7"/>
    <p:sldId id="470" r:id="rId8"/>
    <p:sldId id="490" r:id="rId9"/>
    <p:sldId id="471" r:id="rId10"/>
    <p:sldId id="472" r:id="rId11"/>
    <p:sldId id="473" r:id="rId12"/>
    <p:sldId id="476" r:id="rId13"/>
    <p:sldId id="491" r:id="rId14"/>
    <p:sldId id="477" r:id="rId15"/>
    <p:sldId id="480" r:id="rId16"/>
    <p:sldId id="478" r:id="rId17"/>
    <p:sldId id="492" r:id="rId18"/>
    <p:sldId id="479" r:id="rId19"/>
    <p:sldId id="494" r:id="rId20"/>
    <p:sldId id="466" r:id="rId21"/>
    <p:sldId id="495" r:id="rId22"/>
    <p:sldId id="496" r:id="rId23"/>
    <p:sldId id="438" r:id="rId24"/>
    <p:sldId id="481" r:id="rId25"/>
    <p:sldId id="499" r:id="rId26"/>
    <p:sldId id="500" r:id="rId27"/>
    <p:sldId id="501" r:id="rId28"/>
    <p:sldId id="502" r:id="rId29"/>
    <p:sldId id="482" r:id="rId30"/>
    <p:sldId id="498" r:id="rId31"/>
    <p:sldId id="484" r:id="rId32"/>
    <p:sldId id="485" r:id="rId33"/>
    <p:sldId id="487" r:id="rId34"/>
    <p:sldId id="488" r:id="rId35"/>
    <p:sldId id="489" r:id="rId36"/>
  </p:sldIdLst>
  <p:sldSz cx="12192000" cy="6858000"/>
  <p:notesSz cx="7099300" cy="102346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29" userDrawn="1">
          <p15:clr>
            <a:srgbClr val="A4A3A4"/>
          </p15:clr>
        </p15:guide>
        <p15:guide id="3" orient="horz" pos="958" userDrawn="1">
          <p15:clr>
            <a:srgbClr val="A4A3A4"/>
          </p15:clr>
        </p15:guide>
        <p15:guide id="4" orient="horz" pos="4065" userDrawn="1">
          <p15:clr>
            <a:srgbClr val="A4A3A4"/>
          </p15:clr>
        </p15:guide>
        <p15:guide id="5" orient="horz" pos="4110" userDrawn="1">
          <p15:clr>
            <a:srgbClr val="A4A3A4"/>
          </p15:clr>
        </p15:guide>
        <p15:guide id="7" orient="horz" pos="4178" userDrawn="1">
          <p15:clr>
            <a:srgbClr val="A4A3A4"/>
          </p15:clr>
        </p15:guide>
        <p15:guide id="8" pos="1231" userDrawn="1">
          <p15:clr>
            <a:srgbClr val="A4A3A4"/>
          </p15:clr>
        </p15:guide>
        <p15:guide id="9" pos="6993" userDrawn="1">
          <p15:clr>
            <a:srgbClr val="A4A3A4"/>
          </p15:clr>
        </p15:guide>
        <p15:guide id="10" pos="3840" userDrawn="1">
          <p15:clr>
            <a:srgbClr val="A4A3A4"/>
          </p15:clr>
        </p15:guide>
        <p15:guide id="11" pos="3795" userDrawn="1">
          <p15:clr>
            <a:srgbClr val="A4A3A4"/>
          </p15:clr>
        </p15:guide>
        <p15:guide id="12" pos="3885" userDrawn="1">
          <p15:clr>
            <a:srgbClr val="A4A3A4"/>
          </p15:clr>
        </p15:guide>
        <p15:guide id="13" pos="4248" userDrawn="1">
          <p15:clr>
            <a:srgbClr val="A4A3A4"/>
          </p15:clr>
        </p15:guide>
        <p15:guide id="14" pos="4340" userDrawn="1">
          <p15:clr>
            <a:srgbClr val="A4A3A4"/>
          </p15:clr>
        </p15:guide>
        <p15:guide id="15" pos="4679" userDrawn="1">
          <p15:clr>
            <a:srgbClr val="A4A3A4"/>
          </p15:clr>
        </p15:guide>
        <p15:guide id="16" pos="3341" userDrawn="1">
          <p15:clr>
            <a:srgbClr val="A4A3A4"/>
          </p15:clr>
        </p15:guide>
        <p15:guide id="17" pos="5132" userDrawn="1">
          <p15:clr>
            <a:srgbClr val="A4A3A4"/>
          </p15:clr>
        </p15:guide>
        <p15:guide id="18" pos="5223" userDrawn="1">
          <p15:clr>
            <a:srgbClr val="A4A3A4"/>
          </p15:clr>
        </p15:guide>
        <p15:guide id="19" pos="6108" userDrawn="1">
          <p15:clr>
            <a:srgbClr val="A4A3A4"/>
          </p15:clr>
        </p15:guide>
        <p15:guide id="21" pos="6449" userDrawn="1">
          <p15:clr>
            <a:srgbClr val="A4A3A4"/>
          </p15:clr>
        </p15:guide>
        <p15:guide id="22" pos="6902" userDrawn="1">
          <p15:clr>
            <a:srgbClr val="A4A3A4"/>
          </p15:clr>
        </p15:guide>
        <p15:guide id="23" pos="3432" userDrawn="1">
          <p15:clr>
            <a:srgbClr val="A4A3A4"/>
          </p15:clr>
        </p15:guide>
        <p15:guide id="25" pos="3000" userDrawn="1">
          <p15:clr>
            <a:srgbClr val="A4A3A4"/>
          </p15:clr>
        </p15:guide>
        <p15:guide id="26" pos="2911" userDrawn="1">
          <p15:clr>
            <a:srgbClr val="A4A3A4"/>
          </p15:clr>
        </p15:guide>
        <p15:guide id="27" pos="2547" userDrawn="1">
          <p15:clr>
            <a:srgbClr val="A4A3A4"/>
          </p15:clr>
        </p15:guide>
        <p15:guide id="28" pos="2457" userDrawn="1">
          <p15:clr>
            <a:srgbClr val="A4A3A4"/>
          </p15:clr>
        </p15:guide>
        <p15:guide id="29" pos="2116" userDrawn="1">
          <p15:clr>
            <a:srgbClr val="A4A3A4"/>
          </p15:clr>
        </p15:guide>
        <p15:guide id="30" pos="2026" userDrawn="1">
          <p15:clr>
            <a:srgbClr val="A4A3A4"/>
          </p15:clr>
        </p15:guide>
        <p15:guide id="31" pos="1662" userDrawn="1">
          <p15:clr>
            <a:srgbClr val="A4A3A4"/>
          </p15:clr>
        </p15:guide>
        <p15:guide id="32" pos="1572" userDrawn="1">
          <p15:clr>
            <a:srgbClr val="A4A3A4"/>
          </p15:clr>
        </p15:guide>
        <p15:guide id="36" pos="5564" userDrawn="1">
          <p15:clr>
            <a:srgbClr val="A4A3A4"/>
          </p15:clr>
        </p15:guide>
        <p15:guide id="37" pos="5655" userDrawn="1">
          <p15:clr>
            <a:srgbClr val="A4A3A4"/>
          </p15:clr>
        </p15:guide>
        <p15:guide id="38" pos="6017" userDrawn="1">
          <p15:clr>
            <a:srgbClr val="A4A3A4"/>
          </p15:clr>
        </p15:guide>
        <p15:guide id="40" pos="779" userDrawn="1">
          <p15:clr>
            <a:srgbClr val="A4A3A4"/>
          </p15:clr>
        </p15:guide>
        <p15:guide id="41" pos="665" userDrawn="1">
          <p15:clr>
            <a:srgbClr val="A4A3A4"/>
          </p15:clr>
        </p15:guide>
        <p15:guide id="42" pos="347" userDrawn="1">
          <p15:clr>
            <a:srgbClr val="A4A3A4"/>
          </p15:clr>
        </p15:guide>
        <p15:guide id="44" pos="6540" userDrawn="1">
          <p15:clr>
            <a:srgbClr val="A4A3A4"/>
          </p15:clr>
        </p15:guide>
        <p15:guide id="46" pos="7332" userDrawn="1">
          <p15:clr>
            <a:srgbClr val="A4A3A4"/>
          </p15:clr>
        </p15:guide>
        <p15:guide id="47" pos="1118" userDrawn="1">
          <p15:clr>
            <a:srgbClr val="A4A3A4"/>
          </p15:clr>
        </p15:guide>
        <p15:guide id="48" pos="257" userDrawn="1">
          <p15:clr>
            <a:srgbClr val="A4A3A4"/>
          </p15:clr>
        </p15:guide>
        <p15:guide id="49" pos="7424" userDrawn="1">
          <p15:clr>
            <a:srgbClr val="A4A3A4"/>
          </p15:clr>
        </p15:guide>
        <p15:guide id="50" pos="211" userDrawn="1">
          <p15:clr>
            <a:srgbClr val="A4A3A4"/>
          </p15:clr>
        </p15:guide>
        <p15:guide id="51" pos="746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20537"/>
    <a:srgbClr val="006E6E"/>
    <a:srgbClr val="FFFFFF"/>
    <a:srgbClr val="000000"/>
    <a:srgbClr val="BEC3C8"/>
    <a:srgbClr val="EB829B"/>
    <a:srgbClr val="8C9196"/>
    <a:srgbClr val="2D373C"/>
    <a:srgbClr val="1EA5A5"/>
    <a:srgbClr val="A5D7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ittlere Formatvorlage 3 - Akz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3135"/>
  </p:normalViewPr>
  <p:slideViewPr>
    <p:cSldViewPr showGuides="1">
      <p:cViewPr varScale="1">
        <p:scale>
          <a:sx n="86" d="100"/>
          <a:sy n="86" d="100"/>
        </p:scale>
        <p:origin x="680" y="184"/>
      </p:cViewPr>
      <p:guideLst>
        <p:guide orient="horz" pos="3929"/>
        <p:guide orient="horz" pos="958"/>
        <p:guide orient="horz" pos="4065"/>
        <p:guide orient="horz" pos="4110"/>
        <p:guide orient="horz" pos="4178"/>
        <p:guide pos="1231"/>
        <p:guide pos="6993"/>
        <p:guide pos="3840"/>
        <p:guide pos="3795"/>
        <p:guide pos="3885"/>
        <p:guide pos="4248"/>
        <p:guide pos="4340"/>
        <p:guide pos="4679"/>
        <p:guide pos="3341"/>
        <p:guide pos="5132"/>
        <p:guide pos="5223"/>
        <p:guide pos="6108"/>
        <p:guide pos="6449"/>
        <p:guide pos="6902"/>
        <p:guide pos="3432"/>
        <p:guide pos="3000"/>
        <p:guide pos="2911"/>
        <p:guide pos="2547"/>
        <p:guide pos="2457"/>
        <p:guide pos="2116"/>
        <p:guide pos="2026"/>
        <p:guide pos="1662"/>
        <p:guide pos="1572"/>
        <p:guide pos="5564"/>
        <p:guide pos="5655"/>
        <p:guide pos="6017"/>
        <p:guide pos="779"/>
        <p:guide pos="665"/>
        <p:guide pos="347"/>
        <p:guide pos="6540"/>
        <p:guide pos="7332"/>
        <p:guide pos="1118"/>
        <p:guide pos="257"/>
        <p:guide pos="7424"/>
        <p:guide pos="211"/>
        <p:guide pos="746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CH"/>
          </a:p>
        </p:txBody>
      </p:sp>
      <p:sp>
        <p:nvSpPr>
          <p:cNvPr id="3" name="Datumsplatzhalt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484FEB8E-57CB-43C0-BEF7-4F4116A5252C}" type="datetimeFigureOut">
              <a:rPr lang="de-CH" smtClean="0"/>
              <a:t>02.05.26</a:t>
            </a:fld>
            <a:endParaRPr lang="de-CH"/>
          </a:p>
        </p:txBody>
      </p:sp>
      <p:sp>
        <p:nvSpPr>
          <p:cNvPr id="4" name="Folienbildplatzhalt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de-CH"/>
          </a:p>
        </p:txBody>
      </p:sp>
      <p:sp>
        <p:nvSpPr>
          <p:cNvPr id="5" name="Notizenplatzhalt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de-CH"/>
          </a:p>
        </p:txBody>
      </p:sp>
      <p:sp>
        <p:nvSpPr>
          <p:cNvPr id="7" name="Foliennummernplatzhalt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DA53D58F-CC03-47C4-AC79-D3C984A61519}" type="slidenum">
              <a:rPr lang="de-CH" smtClean="0"/>
              <a:t>‹Nr.›</a:t>
            </a:fld>
            <a:endParaRPr lang="de-CH"/>
          </a:p>
        </p:txBody>
      </p:sp>
    </p:spTree>
    <p:extLst>
      <p:ext uri="{BB962C8B-B14F-4D97-AF65-F5344CB8AC3E}">
        <p14:creationId xmlns:p14="http://schemas.microsoft.com/office/powerpoint/2010/main" val="66783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A23DC-7EB6-EB9C-0E50-5EF87604735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22011C-B010-F5A1-FC36-D7C4FD83CD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0C1A4B2-E32D-183A-857D-3535AC661A0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B0088D9-4608-6A7A-73ED-D30BFF09D10B}"/>
              </a:ext>
            </a:extLst>
          </p:cNvPr>
          <p:cNvSpPr>
            <a:spLocks noGrp="1"/>
          </p:cNvSpPr>
          <p:nvPr>
            <p:ph type="sldNum" sz="quarter" idx="5"/>
          </p:nvPr>
        </p:nvSpPr>
        <p:spPr/>
        <p:txBody>
          <a:bodyPr/>
          <a:lstStyle/>
          <a:p>
            <a:fld id="{DA53D58F-CC03-47C4-AC79-D3C984A61519}" type="slidenum">
              <a:rPr lang="de-CH" smtClean="0"/>
              <a:t>2</a:t>
            </a:fld>
            <a:endParaRPr lang="de-CH"/>
          </a:p>
        </p:txBody>
      </p:sp>
    </p:spTree>
    <p:extLst>
      <p:ext uri="{BB962C8B-B14F-4D97-AF65-F5344CB8AC3E}">
        <p14:creationId xmlns:p14="http://schemas.microsoft.com/office/powerpoint/2010/main" val="111541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AAC0B-D73D-6992-ADA1-CF89D34A184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01E50F-CB71-965B-84CE-84B81CBA6F1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CE7447E-AC53-B020-1B52-397CC069D85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36EFB4E-E870-1929-C474-0AB2849A9B08}"/>
              </a:ext>
            </a:extLst>
          </p:cNvPr>
          <p:cNvSpPr>
            <a:spLocks noGrp="1"/>
          </p:cNvSpPr>
          <p:nvPr>
            <p:ph type="sldNum" sz="quarter" idx="5"/>
          </p:nvPr>
        </p:nvSpPr>
        <p:spPr/>
        <p:txBody>
          <a:bodyPr/>
          <a:lstStyle/>
          <a:p>
            <a:fld id="{DA53D58F-CC03-47C4-AC79-D3C984A61519}" type="slidenum">
              <a:rPr lang="de-CH" smtClean="0"/>
              <a:t>3</a:t>
            </a:fld>
            <a:endParaRPr lang="de-CH"/>
          </a:p>
        </p:txBody>
      </p:sp>
    </p:spTree>
    <p:extLst>
      <p:ext uri="{BB962C8B-B14F-4D97-AF65-F5344CB8AC3E}">
        <p14:creationId xmlns:p14="http://schemas.microsoft.com/office/powerpoint/2010/main" val="432759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CDCC2-D4F8-00FF-FD34-61577F2E518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392A973-55B4-C260-20EA-B8A9153528A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043B8A-5476-87F2-42B2-6B511E7E91E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1BF9155-AC81-2A8A-3333-8B4627EDEE62}"/>
              </a:ext>
            </a:extLst>
          </p:cNvPr>
          <p:cNvSpPr>
            <a:spLocks noGrp="1"/>
          </p:cNvSpPr>
          <p:nvPr>
            <p:ph type="sldNum" sz="quarter" idx="5"/>
          </p:nvPr>
        </p:nvSpPr>
        <p:spPr/>
        <p:txBody>
          <a:bodyPr/>
          <a:lstStyle/>
          <a:p>
            <a:fld id="{DA53D58F-CC03-47C4-AC79-D3C984A61519}" type="slidenum">
              <a:rPr lang="de-CH" smtClean="0"/>
              <a:t>4</a:t>
            </a:fld>
            <a:endParaRPr lang="de-CH"/>
          </a:p>
        </p:txBody>
      </p:sp>
    </p:spTree>
    <p:extLst>
      <p:ext uri="{BB962C8B-B14F-4D97-AF65-F5344CB8AC3E}">
        <p14:creationId xmlns:p14="http://schemas.microsoft.com/office/powerpoint/2010/main" val="365750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5436-1543-4A73-11CF-4185AC62C58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1C28A9C-F6BE-69D9-56A7-C58895DD450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3A4371-5EF5-CC03-38DC-B7B47EE8A1A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4336A40-6C24-E761-B5A6-6F23B085DD94}"/>
              </a:ext>
            </a:extLst>
          </p:cNvPr>
          <p:cNvSpPr>
            <a:spLocks noGrp="1"/>
          </p:cNvSpPr>
          <p:nvPr>
            <p:ph type="sldNum" sz="quarter" idx="5"/>
          </p:nvPr>
        </p:nvSpPr>
        <p:spPr/>
        <p:txBody>
          <a:bodyPr/>
          <a:lstStyle/>
          <a:p>
            <a:fld id="{DA53D58F-CC03-47C4-AC79-D3C984A61519}" type="slidenum">
              <a:rPr lang="de-CH" smtClean="0"/>
              <a:t>5</a:t>
            </a:fld>
            <a:endParaRPr lang="de-CH"/>
          </a:p>
        </p:txBody>
      </p:sp>
    </p:spTree>
    <p:extLst>
      <p:ext uri="{BB962C8B-B14F-4D97-AF65-F5344CB8AC3E}">
        <p14:creationId xmlns:p14="http://schemas.microsoft.com/office/powerpoint/2010/main" val="1292570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17AB-0B35-D1E0-9E01-F9E411F899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8E4B6D8-8721-915D-998A-73A978ABCF1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BA90332-CF43-0E64-C3E8-2A80D1755B0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DCA6E47-9FAD-1D36-AC6C-A1743F30E0C3}"/>
              </a:ext>
            </a:extLst>
          </p:cNvPr>
          <p:cNvSpPr>
            <a:spLocks noGrp="1"/>
          </p:cNvSpPr>
          <p:nvPr>
            <p:ph type="sldNum" sz="quarter" idx="5"/>
          </p:nvPr>
        </p:nvSpPr>
        <p:spPr/>
        <p:txBody>
          <a:bodyPr/>
          <a:lstStyle/>
          <a:p>
            <a:fld id="{DA53D58F-CC03-47C4-AC79-D3C984A61519}" type="slidenum">
              <a:rPr lang="de-CH" smtClean="0"/>
              <a:t>6</a:t>
            </a:fld>
            <a:endParaRPr lang="de-CH"/>
          </a:p>
        </p:txBody>
      </p:sp>
    </p:spTree>
    <p:extLst>
      <p:ext uri="{BB962C8B-B14F-4D97-AF65-F5344CB8AC3E}">
        <p14:creationId xmlns:p14="http://schemas.microsoft.com/office/powerpoint/2010/main" val="838982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A40D8-9D7F-5761-1F9D-92217486FB9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3602E53-E020-7128-31EE-5CE3C41F423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2B18C4A-376D-7313-CBB2-ED47A08BB79A}"/>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E74EF47-AFC4-2A78-9657-6B71CACBF1A2}"/>
              </a:ext>
            </a:extLst>
          </p:cNvPr>
          <p:cNvSpPr>
            <a:spLocks noGrp="1"/>
          </p:cNvSpPr>
          <p:nvPr>
            <p:ph type="sldNum" sz="quarter" idx="5"/>
          </p:nvPr>
        </p:nvSpPr>
        <p:spPr/>
        <p:txBody>
          <a:bodyPr/>
          <a:lstStyle/>
          <a:p>
            <a:fld id="{DA53D58F-CC03-47C4-AC79-D3C984A61519}" type="slidenum">
              <a:rPr lang="de-CH" smtClean="0"/>
              <a:t>7</a:t>
            </a:fld>
            <a:endParaRPr lang="de-CH"/>
          </a:p>
        </p:txBody>
      </p:sp>
    </p:spTree>
    <p:extLst>
      <p:ext uri="{BB962C8B-B14F-4D97-AF65-F5344CB8AC3E}">
        <p14:creationId xmlns:p14="http://schemas.microsoft.com/office/powerpoint/2010/main" val="2643050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BAD0E-D0B8-1BF8-DD34-54590EC57E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73598D8-DC17-1811-4CC9-93F2DAD0047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F0ADDC6-46B2-BA3C-3AD2-C7004D3F9F7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8440FAA-C897-6367-5CA9-6BB8E2E417B3}"/>
              </a:ext>
            </a:extLst>
          </p:cNvPr>
          <p:cNvSpPr>
            <a:spLocks noGrp="1"/>
          </p:cNvSpPr>
          <p:nvPr>
            <p:ph type="sldNum" sz="quarter" idx="5"/>
          </p:nvPr>
        </p:nvSpPr>
        <p:spPr/>
        <p:txBody>
          <a:bodyPr/>
          <a:lstStyle/>
          <a:p>
            <a:fld id="{DA53D58F-CC03-47C4-AC79-D3C984A61519}" type="slidenum">
              <a:rPr lang="de-CH" smtClean="0"/>
              <a:t>8</a:t>
            </a:fld>
            <a:endParaRPr lang="de-CH"/>
          </a:p>
        </p:txBody>
      </p:sp>
    </p:spTree>
    <p:extLst>
      <p:ext uri="{BB962C8B-B14F-4D97-AF65-F5344CB8AC3E}">
        <p14:creationId xmlns:p14="http://schemas.microsoft.com/office/powerpoint/2010/main" val="401473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4260-D7A8-7619-A4FA-8F480F6BC25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4EA06A-7848-2BA8-54C7-8326AB0BB6E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5430CE9-6A2A-B814-FC01-7B3534C2E4D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87285185-5D2E-5573-014A-9F68612E69FE}"/>
              </a:ext>
            </a:extLst>
          </p:cNvPr>
          <p:cNvSpPr>
            <a:spLocks noGrp="1"/>
          </p:cNvSpPr>
          <p:nvPr>
            <p:ph type="sldNum" sz="quarter" idx="5"/>
          </p:nvPr>
        </p:nvSpPr>
        <p:spPr/>
        <p:txBody>
          <a:bodyPr/>
          <a:lstStyle/>
          <a:p>
            <a:fld id="{DA53D58F-CC03-47C4-AC79-D3C984A61519}" type="slidenum">
              <a:rPr lang="de-CH" smtClean="0"/>
              <a:t>9</a:t>
            </a:fld>
            <a:endParaRPr lang="de-CH"/>
          </a:p>
        </p:txBody>
      </p:sp>
    </p:spTree>
    <p:extLst>
      <p:ext uri="{BB962C8B-B14F-4D97-AF65-F5344CB8AC3E}">
        <p14:creationId xmlns:p14="http://schemas.microsoft.com/office/powerpoint/2010/main" val="1079239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89DA-2DAC-2367-CB21-8777964A322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28CF44-ABD1-2502-35F3-708D16F38EA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A5AC314-3D81-5E74-5F98-41A128F7AD2C}"/>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F796F78-5ADB-1F08-978E-1D160CEE10F2}"/>
              </a:ext>
            </a:extLst>
          </p:cNvPr>
          <p:cNvSpPr>
            <a:spLocks noGrp="1"/>
          </p:cNvSpPr>
          <p:nvPr>
            <p:ph type="sldNum" sz="quarter" idx="5"/>
          </p:nvPr>
        </p:nvSpPr>
        <p:spPr/>
        <p:txBody>
          <a:bodyPr/>
          <a:lstStyle/>
          <a:p>
            <a:fld id="{DA53D58F-CC03-47C4-AC79-D3C984A61519}" type="slidenum">
              <a:rPr lang="de-CH" smtClean="0"/>
              <a:t>10</a:t>
            </a:fld>
            <a:endParaRPr lang="de-CH"/>
          </a:p>
        </p:txBody>
      </p:sp>
    </p:spTree>
    <p:extLst>
      <p:ext uri="{BB962C8B-B14F-4D97-AF65-F5344CB8AC3E}">
        <p14:creationId xmlns:p14="http://schemas.microsoft.com/office/powerpoint/2010/main" val="1363601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8A9E4-0473-57CA-5E48-06A610CC591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E51BF86-AB91-B5D6-49F0-53C9CCD5C30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F07DF08-7A2C-03B9-7DB6-B399F1D4A41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CD1E2B2-547B-6A50-22B1-14952E27E8C8}"/>
              </a:ext>
            </a:extLst>
          </p:cNvPr>
          <p:cNvSpPr>
            <a:spLocks noGrp="1"/>
          </p:cNvSpPr>
          <p:nvPr>
            <p:ph type="sldNum" sz="quarter" idx="5"/>
          </p:nvPr>
        </p:nvSpPr>
        <p:spPr/>
        <p:txBody>
          <a:bodyPr/>
          <a:lstStyle/>
          <a:p>
            <a:fld id="{DA53D58F-CC03-47C4-AC79-D3C984A61519}" type="slidenum">
              <a:rPr lang="de-CH" smtClean="0"/>
              <a:t>11</a:t>
            </a:fld>
            <a:endParaRPr lang="de-CH"/>
          </a:p>
        </p:txBody>
      </p:sp>
    </p:spTree>
    <p:extLst>
      <p:ext uri="{BB962C8B-B14F-4D97-AF65-F5344CB8AC3E}">
        <p14:creationId xmlns:p14="http://schemas.microsoft.com/office/powerpoint/2010/main" val="2883075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25F56-8E4E-10C3-9A28-E1CCF526F3A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101889-FD8C-3F43-AC9D-E229F845B03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556A331-70E0-0DD2-CCB4-42C40672E62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DAC90A3-6E30-D23F-55F8-687E40881D1C}"/>
              </a:ext>
            </a:extLst>
          </p:cNvPr>
          <p:cNvSpPr>
            <a:spLocks noGrp="1"/>
          </p:cNvSpPr>
          <p:nvPr>
            <p:ph type="sldNum" sz="quarter" idx="5"/>
          </p:nvPr>
        </p:nvSpPr>
        <p:spPr/>
        <p:txBody>
          <a:bodyPr/>
          <a:lstStyle/>
          <a:p>
            <a:fld id="{DA53D58F-CC03-47C4-AC79-D3C984A61519}" type="slidenum">
              <a:rPr lang="de-CH" smtClean="0"/>
              <a:t>12</a:t>
            </a:fld>
            <a:endParaRPr lang="de-CH"/>
          </a:p>
        </p:txBody>
      </p:sp>
    </p:spTree>
    <p:extLst>
      <p:ext uri="{BB962C8B-B14F-4D97-AF65-F5344CB8AC3E}">
        <p14:creationId xmlns:p14="http://schemas.microsoft.com/office/powerpoint/2010/main" val="634553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EE10-55B3-AFEF-DCA4-C2D799B954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DFA365-3B84-6765-A027-EAB7B54242A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5D2201B-AE8F-E5DB-B478-13C240C9E5A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137BF60-B36B-E3C5-BE80-102BE75707E8}"/>
              </a:ext>
            </a:extLst>
          </p:cNvPr>
          <p:cNvSpPr>
            <a:spLocks noGrp="1"/>
          </p:cNvSpPr>
          <p:nvPr>
            <p:ph type="sldNum" sz="quarter" idx="5"/>
          </p:nvPr>
        </p:nvSpPr>
        <p:spPr/>
        <p:txBody>
          <a:bodyPr/>
          <a:lstStyle/>
          <a:p>
            <a:fld id="{DA53D58F-CC03-47C4-AC79-D3C984A61519}" type="slidenum">
              <a:rPr lang="de-CH" smtClean="0"/>
              <a:t>13</a:t>
            </a:fld>
            <a:endParaRPr lang="de-CH"/>
          </a:p>
        </p:txBody>
      </p:sp>
    </p:spTree>
    <p:extLst>
      <p:ext uri="{BB962C8B-B14F-4D97-AF65-F5344CB8AC3E}">
        <p14:creationId xmlns:p14="http://schemas.microsoft.com/office/powerpoint/2010/main" val="3836538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DCE17-008C-048F-73D7-1ED7347B084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24BDB17-68B9-E108-2CF7-8914BB862FF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2204A2B-90AF-DD5D-FAC6-A576B27A176E}"/>
              </a:ext>
            </a:extLst>
          </p:cNvPr>
          <p:cNvSpPr>
            <a:spLocks noGrp="1"/>
          </p:cNvSpPr>
          <p:nvPr>
            <p:ph type="body" idx="1"/>
          </p:nvPr>
        </p:nvSpPr>
        <p:spPr/>
        <p:txBody>
          <a:bodyPr/>
          <a:lstStyle/>
          <a:p>
            <a:r>
              <a:rPr lang="de-DE" dirty="0" err="1"/>
              <a:t>morphological</a:t>
            </a:r>
            <a:r>
              <a:rPr lang="de-DE" dirty="0"/>
              <a:t> minimal </a:t>
            </a:r>
            <a:r>
              <a:rPr lang="de-DE" dirty="0" err="1"/>
              <a:t>pairs</a:t>
            </a:r>
            <a:r>
              <a:rPr lang="de-DE" dirty="0"/>
              <a:t> </a:t>
            </a:r>
            <a:r>
              <a:rPr lang="de-DE" dirty="0" err="1"/>
              <a:t>are</a:t>
            </a:r>
            <a:r>
              <a:rPr lang="de-DE" dirty="0"/>
              <a:t> a </a:t>
            </a:r>
            <a:r>
              <a:rPr lang="de-DE" dirty="0" err="1"/>
              <a:t>safer</a:t>
            </a:r>
            <a:r>
              <a:rPr lang="de-DE" dirty="0"/>
              <a:t> </a:t>
            </a:r>
            <a:r>
              <a:rPr lang="de-DE" dirty="0" err="1"/>
              <a:t>bet</a:t>
            </a:r>
            <a:endParaRPr lang="de-DE" dirty="0"/>
          </a:p>
        </p:txBody>
      </p:sp>
      <p:sp>
        <p:nvSpPr>
          <p:cNvPr id="4" name="Foliennummernplatzhalter 3">
            <a:extLst>
              <a:ext uri="{FF2B5EF4-FFF2-40B4-BE49-F238E27FC236}">
                <a16:creationId xmlns:a16="http://schemas.microsoft.com/office/drawing/2014/main" id="{F887D5A2-4A7C-07F0-F18C-5697695223F1}"/>
              </a:ext>
            </a:extLst>
          </p:cNvPr>
          <p:cNvSpPr>
            <a:spLocks noGrp="1"/>
          </p:cNvSpPr>
          <p:nvPr>
            <p:ph type="sldNum" sz="quarter" idx="5"/>
          </p:nvPr>
        </p:nvSpPr>
        <p:spPr/>
        <p:txBody>
          <a:bodyPr/>
          <a:lstStyle/>
          <a:p>
            <a:fld id="{DA53D58F-CC03-47C4-AC79-D3C984A61519}" type="slidenum">
              <a:rPr lang="de-CH" smtClean="0"/>
              <a:t>14</a:t>
            </a:fld>
            <a:endParaRPr lang="de-CH"/>
          </a:p>
        </p:txBody>
      </p:sp>
    </p:spTree>
    <p:extLst>
      <p:ext uri="{BB962C8B-B14F-4D97-AF65-F5344CB8AC3E}">
        <p14:creationId xmlns:p14="http://schemas.microsoft.com/office/powerpoint/2010/main" val="2287369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7DCD-4528-0E33-B352-DFCC9346D9D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6AB7E05-3E0F-2458-F96C-451FCB06940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25A89C8-4960-732C-BFB3-E30B849DDA24}"/>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C48D59F-E1F2-E257-3353-38001B7FEF04}"/>
              </a:ext>
            </a:extLst>
          </p:cNvPr>
          <p:cNvSpPr>
            <a:spLocks noGrp="1"/>
          </p:cNvSpPr>
          <p:nvPr>
            <p:ph type="sldNum" sz="quarter" idx="5"/>
          </p:nvPr>
        </p:nvSpPr>
        <p:spPr/>
        <p:txBody>
          <a:bodyPr/>
          <a:lstStyle/>
          <a:p>
            <a:fld id="{DA53D58F-CC03-47C4-AC79-D3C984A61519}" type="slidenum">
              <a:rPr lang="de-CH" smtClean="0"/>
              <a:t>15</a:t>
            </a:fld>
            <a:endParaRPr lang="de-CH"/>
          </a:p>
        </p:txBody>
      </p:sp>
    </p:spTree>
    <p:extLst>
      <p:ext uri="{BB962C8B-B14F-4D97-AF65-F5344CB8AC3E}">
        <p14:creationId xmlns:p14="http://schemas.microsoft.com/office/powerpoint/2010/main" val="1054381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78803-5F4F-1EC0-7BC5-371FF5CDFA2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CDD00AE-C1D1-90E4-30EE-BB6EF12DD4E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B643588-A62E-7F6D-5072-5941FD51DABF}"/>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939561F-79EC-0314-4F7B-D3B4C438B86C}"/>
              </a:ext>
            </a:extLst>
          </p:cNvPr>
          <p:cNvSpPr>
            <a:spLocks noGrp="1"/>
          </p:cNvSpPr>
          <p:nvPr>
            <p:ph type="sldNum" sz="quarter" idx="5"/>
          </p:nvPr>
        </p:nvSpPr>
        <p:spPr/>
        <p:txBody>
          <a:bodyPr/>
          <a:lstStyle/>
          <a:p>
            <a:fld id="{DA53D58F-CC03-47C4-AC79-D3C984A61519}" type="slidenum">
              <a:rPr lang="de-CH" smtClean="0"/>
              <a:t>16</a:t>
            </a:fld>
            <a:endParaRPr lang="de-CH"/>
          </a:p>
        </p:txBody>
      </p:sp>
    </p:spTree>
    <p:extLst>
      <p:ext uri="{BB962C8B-B14F-4D97-AF65-F5344CB8AC3E}">
        <p14:creationId xmlns:p14="http://schemas.microsoft.com/office/powerpoint/2010/main" val="3301553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11EB-7E61-9A56-E2DE-51C8B62C9F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01F5B9-F3DD-93C9-E164-46C19CE9405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B615661-451D-5CD4-7347-4F5EC7EDA1C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35D52F2-94A2-E1E9-0C4D-5F59940D0B3F}"/>
              </a:ext>
            </a:extLst>
          </p:cNvPr>
          <p:cNvSpPr>
            <a:spLocks noGrp="1"/>
          </p:cNvSpPr>
          <p:nvPr>
            <p:ph type="sldNum" sz="quarter" idx="5"/>
          </p:nvPr>
        </p:nvSpPr>
        <p:spPr/>
        <p:txBody>
          <a:bodyPr/>
          <a:lstStyle/>
          <a:p>
            <a:fld id="{DA53D58F-CC03-47C4-AC79-D3C984A61519}" type="slidenum">
              <a:rPr lang="de-CH" smtClean="0"/>
              <a:t>17</a:t>
            </a:fld>
            <a:endParaRPr lang="de-CH"/>
          </a:p>
        </p:txBody>
      </p:sp>
    </p:spTree>
    <p:extLst>
      <p:ext uri="{BB962C8B-B14F-4D97-AF65-F5344CB8AC3E}">
        <p14:creationId xmlns:p14="http://schemas.microsoft.com/office/powerpoint/2010/main" val="1398354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D5CC-ECD1-7205-D3A6-20AC5DBE1FC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72999C-D4A9-7671-EB7D-3B021E493A9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54F4484-B2AE-4D86-4BF6-E664AEA22AD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88877CC5-7E50-F2BE-C8BC-E3377CABB68D}"/>
              </a:ext>
            </a:extLst>
          </p:cNvPr>
          <p:cNvSpPr>
            <a:spLocks noGrp="1"/>
          </p:cNvSpPr>
          <p:nvPr>
            <p:ph type="sldNum" sz="quarter" idx="5"/>
          </p:nvPr>
        </p:nvSpPr>
        <p:spPr/>
        <p:txBody>
          <a:bodyPr/>
          <a:lstStyle/>
          <a:p>
            <a:fld id="{DA53D58F-CC03-47C4-AC79-D3C984A61519}" type="slidenum">
              <a:rPr lang="de-CH" smtClean="0"/>
              <a:t>18</a:t>
            </a:fld>
            <a:endParaRPr lang="de-CH"/>
          </a:p>
        </p:txBody>
      </p:sp>
    </p:spTree>
    <p:extLst>
      <p:ext uri="{BB962C8B-B14F-4D97-AF65-F5344CB8AC3E}">
        <p14:creationId xmlns:p14="http://schemas.microsoft.com/office/powerpoint/2010/main" val="1117100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272AC-1260-C1E4-95C5-A7F03448743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ABD18F-4957-9BFC-5441-1C275246DAF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CBAC68C-0FFA-DC0D-C166-D753AED7B4B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CF623B7-3A7A-D27B-AE8E-5D268D7BC163}"/>
              </a:ext>
            </a:extLst>
          </p:cNvPr>
          <p:cNvSpPr>
            <a:spLocks noGrp="1"/>
          </p:cNvSpPr>
          <p:nvPr>
            <p:ph type="sldNum" sz="quarter" idx="5"/>
          </p:nvPr>
        </p:nvSpPr>
        <p:spPr/>
        <p:txBody>
          <a:bodyPr/>
          <a:lstStyle/>
          <a:p>
            <a:fld id="{DA53D58F-CC03-47C4-AC79-D3C984A61519}" type="slidenum">
              <a:rPr lang="de-CH" smtClean="0"/>
              <a:t>19</a:t>
            </a:fld>
            <a:endParaRPr lang="de-CH"/>
          </a:p>
        </p:txBody>
      </p:sp>
    </p:spTree>
    <p:extLst>
      <p:ext uri="{BB962C8B-B14F-4D97-AF65-F5344CB8AC3E}">
        <p14:creationId xmlns:p14="http://schemas.microsoft.com/office/powerpoint/2010/main" val="363466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9C17A-5197-B1E9-4ADD-A91933735BA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36953D-EB0C-CDFA-C4F8-C4BC624C706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12F42C-E7CC-0374-ABE5-E0A1D60BEA5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8A108BC-3782-9E23-8E7B-51DFCFD3AFB2}"/>
              </a:ext>
            </a:extLst>
          </p:cNvPr>
          <p:cNvSpPr>
            <a:spLocks noGrp="1"/>
          </p:cNvSpPr>
          <p:nvPr>
            <p:ph type="sldNum" sz="quarter" idx="5"/>
          </p:nvPr>
        </p:nvSpPr>
        <p:spPr/>
        <p:txBody>
          <a:bodyPr/>
          <a:lstStyle/>
          <a:p>
            <a:fld id="{DA53D58F-CC03-47C4-AC79-D3C984A61519}" type="slidenum">
              <a:rPr lang="de-CH" smtClean="0"/>
              <a:t>20</a:t>
            </a:fld>
            <a:endParaRPr lang="de-CH"/>
          </a:p>
        </p:txBody>
      </p:sp>
    </p:spTree>
    <p:extLst>
      <p:ext uri="{BB962C8B-B14F-4D97-AF65-F5344CB8AC3E}">
        <p14:creationId xmlns:p14="http://schemas.microsoft.com/office/powerpoint/2010/main" val="35630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1435-0A67-7FAF-9CA5-6E58900D6A9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1E37D0-C4CC-3569-C47E-4A5E143D05F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EC4ADA3-DAAA-CD20-4F94-C9ADEA3197A5}"/>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2AA65070-2CB2-41BE-1E07-D8015F7CF7C8}"/>
              </a:ext>
            </a:extLst>
          </p:cNvPr>
          <p:cNvSpPr>
            <a:spLocks noGrp="1"/>
          </p:cNvSpPr>
          <p:nvPr>
            <p:ph type="sldNum" sz="quarter" idx="5"/>
          </p:nvPr>
        </p:nvSpPr>
        <p:spPr/>
        <p:txBody>
          <a:bodyPr/>
          <a:lstStyle/>
          <a:p>
            <a:fld id="{DA53D58F-CC03-47C4-AC79-D3C984A61519}" type="slidenum">
              <a:rPr lang="de-CH" smtClean="0"/>
              <a:t>21</a:t>
            </a:fld>
            <a:endParaRPr lang="de-CH"/>
          </a:p>
        </p:txBody>
      </p:sp>
    </p:spTree>
    <p:extLst>
      <p:ext uri="{BB962C8B-B14F-4D97-AF65-F5344CB8AC3E}">
        <p14:creationId xmlns:p14="http://schemas.microsoft.com/office/powerpoint/2010/main" val="249997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35B1-F57F-4070-953B-A09A530D179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F64158-CFE6-F6AF-9B7C-CC146481943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4439D69-EA35-9B30-C78D-A04FD585A6E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0380E0D-1F3B-359E-1615-EA22D9C1375A}"/>
              </a:ext>
            </a:extLst>
          </p:cNvPr>
          <p:cNvSpPr>
            <a:spLocks noGrp="1"/>
          </p:cNvSpPr>
          <p:nvPr>
            <p:ph type="sldNum" sz="quarter" idx="5"/>
          </p:nvPr>
        </p:nvSpPr>
        <p:spPr/>
        <p:txBody>
          <a:bodyPr/>
          <a:lstStyle/>
          <a:p>
            <a:fld id="{DA53D58F-CC03-47C4-AC79-D3C984A61519}" type="slidenum">
              <a:rPr lang="de-CH" smtClean="0"/>
              <a:t>22</a:t>
            </a:fld>
            <a:endParaRPr lang="de-CH"/>
          </a:p>
        </p:txBody>
      </p:sp>
    </p:spTree>
    <p:extLst>
      <p:ext uri="{BB962C8B-B14F-4D97-AF65-F5344CB8AC3E}">
        <p14:creationId xmlns:p14="http://schemas.microsoft.com/office/powerpoint/2010/main" val="324243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F5A5-0452-B28F-2B1A-71A06CDE330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3D83F04-DBD2-4980-7F6E-5E7C4B4BF4E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025145B-795D-FEA7-AF2E-BF225DC95A4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51D250F-DBC3-A2FC-426E-D5BCD3AD5620}"/>
              </a:ext>
            </a:extLst>
          </p:cNvPr>
          <p:cNvSpPr>
            <a:spLocks noGrp="1"/>
          </p:cNvSpPr>
          <p:nvPr>
            <p:ph type="sldNum" sz="quarter" idx="5"/>
          </p:nvPr>
        </p:nvSpPr>
        <p:spPr/>
        <p:txBody>
          <a:bodyPr/>
          <a:lstStyle/>
          <a:p>
            <a:fld id="{DA53D58F-CC03-47C4-AC79-D3C984A61519}" type="slidenum">
              <a:rPr lang="de-CH" smtClean="0"/>
              <a:t>23</a:t>
            </a:fld>
            <a:endParaRPr lang="de-CH"/>
          </a:p>
        </p:txBody>
      </p:sp>
    </p:spTree>
    <p:extLst>
      <p:ext uri="{BB962C8B-B14F-4D97-AF65-F5344CB8AC3E}">
        <p14:creationId xmlns:p14="http://schemas.microsoft.com/office/powerpoint/2010/main" val="1246078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3C8A-F57E-004E-A895-DBA3157325C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EDA497-6E87-BAB0-9B0C-5C2030D24F0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2796674-C7F3-7EE3-06D4-3F6681DABA8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0CC464B-DFB1-FD89-EFB3-59E6193A517B}"/>
              </a:ext>
            </a:extLst>
          </p:cNvPr>
          <p:cNvSpPr>
            <a:spLocks noGrp="1"/>
          </p:cNvSpPr>
          <p:nvPr>
            <p:ph type="sldNum" sz="quarter" idx="5"/>
          </p:nvPr>
        </p:nvSpPr>
        <p:spPr/>
        <p:txBody>
          <a:bodyPr/>
          <a:lstStyle/>
          <a:p>
            <a:fld id="{DA53D58F-CC03-47C4-AC79-D3C984A61519}" type="slidenum">
              <a:rPr lang="de-CH" smtClean="0"/>
              <a:t>24</a:t>
            </a:fld>
            <a:endParaRPr lang="de-CH"/>
          </a:p>
        </p:txBody>
      </p:sp>
    </p:spTree>
    <p:extLst>
      <p:ext uri="{BB962C8B-B14F-4D97-AF65-F5344CB8AC3E}">
        <p14:creationId xmlns:p14="http://schemas.microsoft.com/office/powerpoint/2010/main" val="1770969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D9553-E44F-F761-CE93-47AA3DFB351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E19E8B9-1D60-376B-0985-B51A517E573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7E3A7DE-7C10-1A10-BC3B-8BEFDA08F29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FFA0D58-A7FA-48CD-65E0-416568A18E22}"/>
              </a:ext>
            </a:extLst>
          </p:cNvPr>
          <p:cNvSpPr>
            <a:spLocks noGrp="1"/>
          </p:cNvSpPr>
          <p:nvPr>
            <p:ph type="sldNum" sz="quarter" idx="5"/>
          </p:nvPr>
        </p:nvSpPr>
        <p:spPr/>
        <p:txBody>
          <a:bodyPr/>
          <a:lstStyle/>
          <a:p>
            <a:fld id="{DA53D58F-CC03-47C4-AC79-D3C984A61519}" type="slidenum">
              <a:rPr lang="de-CH" smtClean="0"/>
              <a:t>25</a:t>
            </a:fld>
            <a:endParaRPr lang="de-CH"/>
          </a:p>
        </p:txBody>
      </p:sp>
    </p:spTree>
    <p:extLst>
      <p:ext uri="{BB962C8B-B14F-4D97-AF65-F5344CB8AC3E}">
        <p14:creationId xmlns:p14="http://schemas.microsoft.com/office/powerpoint/2010/main" val="2840441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F4D53-C2D8-CA0F-2BCF-DAD85E3D4E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07DED1-9B1F-3928-82A7-A53A26FF4DD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63393CC-DCD5-E8ED-D544-D539CF167B7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9497D91-BA38-DAEF-6379-80DFCC1AD3ED}"/>
              </a:ext>
            </a:extLst>
          </p:cNvPr>
          <p:cNvSpPr>
            <a:spLocks noGrp="1"/>
          </p:cNvSpPr>
          <p:nvPr>
            <p:ph type="sldNum" sz="quarter" idx="5"/>
          </p:nvPr>
        </p:nvSpPr>
        <p:spPr/>
        <p:txBody>
          <a:bodyPr/>
          <a:lstStyle/>
          <a:p>
            <a:fld id="{DA53D58F-CC03-47C4-AC79-D3C984A61519}" type="slidenum">
              <a:rPr lang="de-CH" smtClean="0"/>
              <a:t>26</a:t>
            </a:fld>
            <a:endParaRPr lang="de-CH"/>
          </a:p>
        </p:txBody>
      </p:sp>
    </p:spTree>
    <p:extLst>
      <p:ext uri="{BB962C8B-B14F-4D97-AF65-F5344CB8AC3E}">
        <p14:creationId xmlns:p14="http://schemas.microsoft.com/office/powerpoint/2010/main" val="1580683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09F2-3AD3-6FF2-11F9-272F238B6EB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31887F-5BEC-A773-71D7-D7F8728BC2B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28CEA1A-C391-9F01-757D-05623B91DB2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6A22C3D-16BF-FA96-B244-0ADD3E6918FC}"/>
              </a:ext>
            </a:extLst>
          </p:cNvPr>
          <p:cNvSpPr>
            <a:spLocks noGrp="1"/>
          </p:cNvSpPr>
          <p:nvPr>
            <p:ph type="sldNum" sz="quarter" idx="5"/>
          </p:nvPr>
        </p:nvSpPr>
        <p:spPr/>
        <p:txBody>
          <a:bodyPr/>
          <a:lstStyle/>
          <a:p>
            <a:fld id="{DA53D58F-CC03-47C4-AC79-D3C984A61519}" type="slidenum">
              <a:rPr lang="de-CH" smtClean="0"/>
              <a:t>27</a:t>
            </a:fld>
            <a:endParaRPr lang="de-CH"/>
          </a:p>
        </p:txBody>
      </p:sp>
    </p:spTree>
    <p:extLst>
      <p:ext uri="{BB962C8B-B14F-4D97-AF65-F5344CB8AC3E}">
        <p14:creationId xmlns:p14="http://schemas.microsoft.com/office/powerpoint/2010/main" val="2436186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CFD4E-8620-C10D-8CCD-21B7D1832AC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D1D7BC-7CCC-A6F8-BDCB-03533C96E6A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F89AA8D-987E-E178-6B3C-43AF50C3402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A9AC2A9-4AE1-630C-81E5-9E808073F113}"/>
              </a:ext>
            </a:extLst>
          </p:cNvPr>
          <p:cNvSpPr>
            <a:spLocks noGrp="1"/>
          </p:cNvSpPr>
          <p:nvPr>
            <p:ph type="sldNum" sz="quarter" idx="5"/>
          </p:nvPr>
        </p:nvSpPr>
        <p:spPr/>
        <p:txBody>
          <a:bodyPr/>
          <a:lstStyle/>
          <a:p>
            <a:fld id="{DA53D58F-CC03-47C4-AC79-D3C984A61519}" type="slidenum">
              <a:rPr lang="de-CH" smtClean="0"/>
              <a:t>28</a:t>
            </a:fld>
            <a:endParaRPr lang="de-CH"/>
          </a:p>
        </p:txBody>
      </p:sp>
    </p:spTree>
    <p:extLst>
      <p:ext uri="{BB962C8B-B14F-4D97-AF65-F5344CB8AC3E}">
        <p14:creationId xmlns:p14="http://schemas.microsoft.com/office/powerpoint/2010/main" val="25092093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B1C89-6A70-FFBF-0061-0A97068836F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255E7EB-AE27-F284-FE30-4AD265CA5D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1DBE215-345D-F97F-6E7B-A6B9C3EA2A9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210FF10-5782-BEE2-C85B-1EDFE7B26DB1}"/>
              </a:ext>
            </a:extLst>
          </p:cNvPr>
          <p:cNvSpPr>
            <a:spLocks noGrp="1"/>
          </p:cNvSpPr>
          <p:nvPr>
            <p:ph type="sldNum" sz="quarter" idx="5"/>
          </p:nvPr>
        </p:nvSpPr>
        <p:spPr/>
        <p:txBody>
          <a:bodyPr/>
          <a:lstStyle/>
          <a:p>
            <a:fld id="{DA53D58F-CC03-47C4-AC79-D3C984A61519}" type="slidenum">
              <a:rPr lang="de-CH" smtClean="0"/>
              <a:t>29</a:t>
            </a:fld>
            <a:endParaRPr lang="de-CH"/>
          </a:p>
        </p:txBody>
      </p:sp>
    </p:spTree>
    <p:extLst>
      <p:ext uri="{BB962C8B-B14F-4D97-AF65-F5344CB8AC3E}">
        <p14:creationId xmlns:p14="http://schemas.microsoft.com/office/powerpoint/2010/main" val="760062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5571-0D99-B4DE-34CD-C94652BB7A4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92FE01-8A0D-CDFC-A01A-AC05CF084A6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7F0AE4B-F8AE-E580-7D12-9C348C6120B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1DBD960-3811-EB3F-941C-9F7BF6881AEC}"/>
              </a:ext>
            </a:extLst>
          </p:cNvPr>
          <p:cNvSpPr>
            <a:spLocks noGrp="1"/>
          </p:cNvSpPr>
          <p:nvPr>
            <p:ph type="sldNum" sz="quarter" idx="5"/>
          </p:nvPr>
        </p:nvSpPr>
        <p:spPr/>
        <p:txBody>
          <a:bodyPr/>
          <a:lstStyle/>
          <a:p>
            <a:fld id="{DA53D58F-CC03-47C4-AC79-D3C984A61519}" type="slidenum">
              <a:rPr lang="de-CH" smtClean="0"/>
              <a:t>30</a:t>
            </a:fld>
            <a:endParaRPr lang="de-CH"/>
          </a:p>
        </p:txBody>
      </p:sp>
    </p:spTree>
    <p:extLst>
      <p:ext uri="{BB962C8B-B14F-4D97-AF65-F5344CB8AC3E}">
        <p14:creationId xmlns:p14="http://schemas.microsoft.com/office/powerpoint/2010/main" val="12475707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19807-2391-9824-C684-F101D676963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28BD4F8-6815-10D6-55EE-AAC33067A96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2A18A2E-B78A-1B54-E054-4DD4BEE54AF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350DD28-38C9-4471-2A70-D2D48E10626F}"/>
              </a:ext>
            </a:extLst>
          </p:cNvPr>
          <p:cNvSpPr>
            <a:spLocks noGrp="1"/>
          </p:cNvSpPr>
          <p:nvPr>
            <p:ph type="sldNum" sz="quarter" idx="5"/>
          </p:nvPr>
        </p:nvSpPr>
        <p:spPr/>
        <p:txBody>
          <a:bodyPr/>
          <a:lstStyle/>
          <a:p>
            <a:fld id="{DA53D58F-CC03-47C4-AC79-D3C984A61519}" type="slidenum">
              <a:rPr lang="de-CH" smtClean="0"/>
              <a:t>31</a:t>
            </a:fld>
            <a:endParaRPr lang="de-CH"/>
          </a:p>
        </p:txBody>
      </p:sp>
    </p:spTree>
    <p:extLst>
      <p:ext uri="{BB962C8B-B14F-4D97-AF65-F5344CB8AC3E}">
        <p14:creationId xmlns:p14="http://schemas.microsoft.com/office/powerpoint/2010/main" val="2135562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7BD2-0873-347D-37AB-2ECC525FC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FB50F0F-6973-4B47-8D09-0BB33110DF6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38E2BCB-8C5D-EFE8-6211-827DB4279BA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8C89124-9D54-CB24-1B61-CC0E7635B2ED}"/>
              </a:ext>
            </a:extLst>
          </p:cNvPr>
          <p:cNvSpPr>
            <a:spLocks noGrp="1"/>
          </p:cNvSpPr>
          <p:nvPr>
            <p:ph type="sldNum" sz="quarter" idx="5"/>
          </p:nvPr>
        </p:nvSpPr>
        <p:spPr/>
        <p:txBody>
          <a:bodyPr/>
          <a:lstStyle/>
          <a:p>
            <a:fld id="{DA53D58F-CC03-47C4-AC79-D3C984A61519}" type="slidenum">
              <a:rPr lang="de-CH" smtClean="0"/>
              <a:t>32</a:t>
            </a:fld>
            <a:endParaRPr lang="de-CH"/>
          </a:p>
        </p:txBody>
      </p:sp>
    </p:spTree>
    <p:extLst>
      <p:ext uri="{BB962C8B-B14F-4D97-AF65-F5344CB8AC3E}">
        <p14:creationId xmlns:p14="http://schemas.microsoft.com/office/powerpoint/2010/main" val="23731947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EA2DA-0819-6E95-B6BB-76757719C3F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6F30CA0-98EC-666B-F8D7-F2C71C5DCEA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253965A-1E6A-56A4-D84E-2896C62DEABF}"/>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7AF5789-2FCA-9224-7DDE-3987D7CAF559}"/>
              </a:ext>
            </a:extLst>
          </p:cNvPr>
          <p:cNvSpPr>
            <a:spLocks noGrp="1"/>
          </p:cNvSpPr>
          <p:nvPr>
            <p:ph type="sldNum" sz="quarter" idx="5"/>
          </p:nvPr>
        </p:nvSpPr>
        <p:spPr/>
        <p:txBody>
          <a:bodyPr/>
          <a:lstStyle/>
          <a:p>
            <a:fld id="{DA53D58F-CC03-47C4-AC79-D3C984A61519}" type="slidenum">
              <a:rPr lang="de-CH" smtClean="0"/>
              <a:t>33</a:t>
            </a:fld>
            <a:endParaRPr lang="de-CH"/>
          </a:p>
        </p:txBody>
      </p:sp>
    </p:spTree>
    <p:extLst>
      <p:ext uri="{BB962C8B-B14F-4D97-AF65-F5344CB8AC3E}">
        <p14:creationId xmlns:p14="http://schemas.microsoft.com/office/powerpoint/2010/main" val="16811447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E5425-3C5A-E903-E03E-54A55CDF92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7E79303-E821-3917-CE79-86526FB9978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495D645-5ED3-C8D5-BD11-86DBBFDA7F3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748FAD9-5D7A-3C9A-BE09-6D7C84812163}"/>
              </a:ext>
            </a:extLst>
          </p:cNvPr>
          <p:cNvSpPr>
            <a:spLocks noGrp="1"/>
          </p:cNvSpPr>
          <p:nvPr>
            <p:ph type="sldNum" sz="quarter" idx="5"/>
          </p:nvPr>
        </p:nvSpPr>
        <p:spPr/>
        <p:txBody>
          <a:bodyPr/>
          <a:lstStyle/>
          <a:p>
            <a:fld id="{DA53D58F-CC03-47C4-AC79-D3C984A61519}" type="slidenum">
              <a:rPr lang="de-CH" smtClean="0"/>
              <a:t>34</a:t>
            </a:fld>
            <a:endParaRPr lang="de-CH"/>
          </a:p>
        </p:txBody>
      </p:sp>
    </p:spTree>
    <p:extLst>
      <p:ext uri="{BB962C8B-B14F-4D97-AF65-F5344CB8AC3E}">
        <p14:creationId xmlns:p14="http://schemas.microsoft.com/office/powerpoint/2010/main" val="3584267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10" name="Rechteck 9"/>
          <p:cNvSpPr/>
          <p:nvPr userDrawn="1"/>
        </p:nvSpPr>
        <p:spPr>
          <a:xfrm>
            <a:off x="1" y="214313"/>
            <a:ext cx="11977200" cy="49071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800" dirty="0" err="1"/>
          </a:p>
        </p:txBody>
      </p:sp>
      <p:sp>
        <p:nvSpPr>
          <p:cNvPr id="2" name="Titel 1"/>
          <p:cNvSpPr>
            <a:spLocks noGrp="1"/>
          </p:cNvSpPr>
          <p:nvPr>
            <p:ph type="ctrTitle"/>
          </p:nvPr>
        </p:nvSpPr>
        <p:spPr>
          <a:xfrm>
            <a:off x="838800" y="1376363"/>
            <a:ext cx="7428256" cy="1044526"/>
          </a:xfrm>
        </p:spPr>
        <p:txBody>
          <a:bodyPr/>
          <a:lstStyle>
            <a:lvl1pPr>
              <a:lnSpc>
                <a:spcPts val="4000"/>
              </a:lnSpc>
              <a:defRPr sz="3600"/>
            </a:lvl1pPr>
          </a:lstStyle>
          <a:p>
            <a:r>
              <a:rPr lang="de-DE"/>
              <a:t>Mastertitelformat bearbeiten</a:t>
            </a:r>
            <a:endParaRPr lang="de-CH" dirty="0"/>
          </a:p>
        </p:txBody>
      </p:sp>
      <p:sp>
        <p:nvSpPr>
          <p:cNvPr id="3" name="Untertitel 2"/>
          <p:cNvSpPr>
            <a:spLocks noGrp="1"/>
          </p:cNvSpPr>
          <p:nvPr>
            <p:ph type="subTitle" idx="1" hasCustomPrompt="1"/>
          </p:nvPr>
        </p:nvSpPr>
        <p:spPr>
          <a:xfrm>
            <a:off x="838800" y="2564904"/>
            <a:ext cx="9067800" cy="324036"/>
          </a:xfrm>
        </p:spPr>
        <p:txBody>
          <a:bodyPr/>
          <a:lstStyle>
            <a:lvl1pPr marL="0" indent="0" algn="l">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CH" dirty="0"/>
              <a:t>Autor, DD.MM.YY</a:t>
            </a: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83600" y="396000"/>
            <a:ext cx="1588313" cy="568757"/>
          </a:xfrm>
          <a:prstGeom prst="rect">
            <a:avLst/>
          </a:prstGeom>
        </p:spPr>
      </p:pic>
    </p:spTree>
    <p:extLst>
      <p:ext uri="{BB962C8B-B14F-4D97-AF65-F5344CB8AC3E}">
        <p14:creationId xmlns:p14="http://schemas.microsoft.com/office/powerpoint/2010/main" val="2170675113"/>
      </p:ext>
    </p:extLst>
  </p:cSld>
  <p:clrMapOvr>
    <a:masterClrMapping/>
  </p:clrMapOvr>
  <p:extLst>
    <p:ext uri="{DCECCB84-F9BA-43D5-87BE-67443E8EF086}">
      <p15:sldGuideLst xmlns:p15="http://schemas.microsoft.com/office/powerpoint/2012/main">
        <p15:guide id="1" orient="horz" pos="134" userDrawn="1">
          <p15:clr>
            <a:srgbClr val="FBAE40"/>
          </p15:clr>
        </p15:guide>
        <p15:guide id="2" pos="7542" userDrawn="1">
          <p15:clr>
            <a:srgbClr val="FBAE40"/>
          </p15:clr>
        </p15:guide>
        <p15:guide id="3" orient="horz" pos="4183" userDrawn="1">
          <p15:clr>
            <a:srgbClr val="FBAE40"/>
          </p15:clr>
        </p15:guide>
        <p15:guide id="4" pos="136" userDrawn="1">
          <p15:clr>
            <a:srgbClr val="FBAE40"/>
          </p15:clr>
        </p15:guide>
        <p15:guide id="5" orient="horz" pos="270" userDrawn="1">
          <p15:clr>
            <a:srgbClr val="FBAE40"/>
          </p15:clr>
        </p15:guide>
        <p15:guide id="6" pos="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spTree>
      <p:nvGrpSpPr>
        <p:cNvPr id="1" name=""/>
        <p:cNvGrpSpPr/>
        <p:nvPr/>
      </p:nvGrpSpPr>
      <p:grpSpPr>
        <a:xfrm>
          <a:off x="0" y="0"/>
          <a:ext cx="0" cy="0"/>
          <a:chOff x="0" y="0"/>
          <a:chExt cx="0" cy="0"/>
        </a:xfrm>
      </p:grpSpPr>
      <p:sp>
        <p:nvSpPr>
          <p:cNvPr id="10" name="Rechteck 9"/>
          <p:cNvSpPr/>
          <p:nvPr userDrawn="1"/>
        </p:nvSpPr>
        <p:spPr>
          <a:xfrm>
            <a:off x="0" y="212726"/>
            <a:ext cx="11976100" cy="27844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800" dirty="0" err="1"/>
          </a:p>
        </p:txBody>
      </p:sp>
      <p:sp>
        <p:nvSpPr>
          <p:cNvPr id="2" name="Titel 1"/>
          <p:cNvSpPr>
            <a:spLocks noGrp="1"/>
          </p:cNvSpPr>
          <p:nvPr>
            <p:ph type="ctrTitle"/>
          </p:nvPr>
        </p:nvSpPr>
        <p:spPr>
          <a:xfrm>
            <a:off x="838800" y="1376363"/>
            <a:ext cx="7284240" cy="1044526"/>
          </a:xfrm>
        </p:spPr>
        <p:txBody>
          <a:bodyPr/>
          <a:lstStyle>
            <a:lvl1pPr>
              <a:lnSpc>
                <a:spcPts val="4000"/>
              </a:lnSpc>
              <a:defRPr sz="3600"/>
            </a:lvl1pPr>
          </a:lstStyle>
          <a:p>
            <a:r>
              <a:rPr lang="de-DE"/>
              <a:t>Mastertitelformat bearbeiten</a:t>
            </a:r>
            <a:endParaRPr lang="de-CH" dirty="0"/>
          </a:p>
        </p:txBody>
      </p:sp>
      <p:sp>
        <p:nvSpPr>
          <p:cNvPr id="3" name="Untertitel 2"/>
          <p:cNvSpPr>
            <a:spLocks noGrp="1"/>
          </p:cNvSpPr>
          <p:nvPr>
            <p:ph type="subTitle" idx="1" hasCustomPrompt="1"/>
          </p:nvPr>
        </p:nvSpPr>
        <p:spPr>
          <a:xfrm>
            <a:off x="838800" y="2564904"/>
            <a:ext cx="9067800" cy="324036"/>
          </a:xfrm>
        </p:spPr>
        <p:txBody>
          <a:bodyPr/>
          <a:lstStyle>
            <a:lvl1pPr marL="0" indent="0" algn="l">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CH" dirty="0"/>
              <a:t>Autor, DD.MM.YY</a:t>
            </a:r>
          </a:p>
        </p:txBody>
      </p:sp>
      <p:sp>
        <p:nvSpPr>
          <p:cNvPr id="12" name="Bildplatzhalter 11"/>
          <p:cNvSpPr>
            <a:spLocks noGrp="1"/>
          </p:cNvSpPr>
          <p:nvPr>
            <p:ph type="pic" sz="quarter" idx="10"/>
          </p:nvPr>
        </p:nvSpPr>
        <p:spPr>
          <a:xfrm>
            <a:off x="215900" y="2997203"/>
            <a:ext cx="11760200" cy="3641722"/>
          </a:xfrm>
        </p:spPr>
        <p:txBody>
          <a:bodyPr/>
          <a:lstStyle/>
          <a:p>
            <a:r>
              <a:rPr lang="de-DE"/>
              <a:t>Bild durch Klicken auf Symbol hinzufügen</a:t>
            </a:r>
            <a:endParaRPr lang="de-CH"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83600" y="396000"/>
            <a:ext cx="1588313" cy="568757"/>
          </a:xfrm>
          <a:prstGeom prst="rect">
            <a:avLst/>
          </a:prstGeom>
        </p:spPr>
      </p:pic>
    </p:spTree>
    <p:extLst>
      <p:ext uri="{BB962C8B-B14F-4D97-AF65-F5344CB8AC3E}">
        <p14:creationId xmlns:p14="http://schemas.microsoft.com/office/powerpoint/2010/main" val="2432409846"/>
      </p:ext>
    </p:extLst>
  </p:cSld>
  <p:clrMapOvr>
    <a:masterClrMapping/>
  </p:clrMapOvr>
  <p:extLst>
    <p:ext uri="{DCECCB84-F9BA-43D5-87BE-67443E8EF086}">
      <p15:sldGuideLst xmlns:p15="http://schemas.microsoft.com/office/powerpoint/2012/main">
        <p15:guide id="1" pos="136" userDrawn="1">
          <p15:clr>
            <a:srgbClr val="FBAE40"/>
          </p15:clr>
        </p15:guide>
        <p15:guide id="2" orient="horz" pos="134" userDrawn="1">
          <p15:clr>
            <a:srgbClr val="FBAE40"/>
          </p15:clr>
        </p15:guide>
        <p15:guide id="3" orient="horz" pos="4182" userDrawn="1">
          <p15:clr>
            <a:srgbClr val="FBAE40"/>
          </p15:clr>
        </p15:guide>
        <p15:guide id="4" pos="7544" userDrawn="1">
          <p15:clr>
            <a:srgbClr val="FBAE40"/>
          </p15:clr>
        </p15:guide>
        <p15:guide id="5" orient="horz" pos="27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34800" y="404813"/>
            <a:ext cx="11521840" cy="755936"/>
          </a:xfrm>
        </p:spPr>
        <p:txBody>
          <a:bodyPr/>
          <a:lstStyle/>
          <a:p>
            <a:r>
              <a:rPr lang="de-DE"/>
              <a:t>Mastertitelformat bearbeiten</a:t>
            </a:r>
            <a:endParaRPr lang="de-CH" dirty="0"/>
          </a:p>
        </p:txBody>
      </p:sp>
      <p:sp>
        <p:nvSpPr>
          <p:cNvPr id="3" name="Inhaltsplatzhalter 2"/>
          <p:cNvSpPr>
            <a:spLocks noGrp="1"/>
          </p:cNvSpPr>
          <p:nvPr>
            <p:ph idx="1"/>
          </p:nvPr>
        </p:nvSpPr>
        <p:spPr>
          <a:xfrm>
            <a:off x="334800" y="1520826"/>
            <a:ext cx="1152184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7" name="Datumsplatzhalter 6"/>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p:txBody>
      </p:sp>
      <p:sp>
        <p:nvSpPr>
          <p:cNvPr id="8" name="Fußzeilenplatzhalter 7"/>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p:txBody>
      </p:sp>
      <p:sp>
        <p:nvSpPr>
          <p:cNvPr id="9" name="Foliennummernplatzhalter 8"/>
          <p:cNvSpPr>
            <a:spLocks noGrp="1"/>
          </p:cNvSpPr>
          <p:nvPr>
            <p:ph type="sldNum" sz="quarter" idx="12"/>
          </p:nvPr>
        </p:nvSpPr>
        <p:spPr/>
        <p:txBody>
          <a:bodyPr/>
          <a:lstStyle/>
          <a:p>
            <a:fld id="{B3811826-9277-4232-A2B5-17D05DFC7392}" type="slidenum">
              <a:rPr lang="de-CH" smtClean="0"/>
              <a:pPr/>
              <a:t>‹Nr.›</a:t>
            </a:fld>
            <a:endParaRPr lang="de-CH" dirty="0"/>
          </a:p>
        </p:txBody>
      </p:sp>
    </p:spTree>
    <p:extLst>
      <p:ext uri="{BB962C8B-B14F-4D97-AF65-F5344CB8AC3E}">
        <p14:creationId xmlns:p14="http://schemas.microsoft.com/office/powerpoint/2010/main" val="413168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2 Inhalte">
    <p:spTree>
      <p:nvGrpSpPr>
        <p:cNvPr id="1" name=""/>
        <p:cNvGrpSpPr/>
        <p:nvPr/>
      </p:nvGrpSpPr>
      <p:grpSpPr>
        <a:xfrm>
          <a:off x="0" y="0"/>
          <a:ext cx="0" cy="0"/>
          <a:chOff x="0" y="0"/>
          <a:chExt cx="0" cy="0"/>
        </a:xfrm>
      </p:grpSpPr>
      <p:sp>
        <p:nvSpPr>
          <p:cNvPr id="2" name="Titel 1"/>
          <p:cNvSpPr>
            <a:spLocks noGrp="1"/>
          </p:cNvSpPr>
          <p:nvPr>
            <p:ph type="title"/>
          </p:nvPr>
        </p:nvSpPr>
        <p:spPr>
          <a:xfrm>
            <a:off x="334800" y="404813"/>
            <a:ext cx="11521840" cy="755936"/>
          </a:xfrm>
        </p:spPr>
        <p:txBody>
          <a:bodyPr/>
          <a:lstStyle/>
          <a:p>
            <a:r>
              <a:rPr lang="de-DE"/>
              <a:t>Mastertitelformat bearbeiten</a:t>
            </a:r>
            <a:endParaRPr lang="de-CH" dirty="0"/>
          </a:p>
        </p:txBody>
      </p:sp>
      <p:sp>
        <p:nvSpPr>
          <p:cNvPr id="3" name="Inhaltsplatzhalter 2"/>
          <p:cNvSpPr>
            <a:spLocks noGrp="1"/>
          </p:cNvSpPr>
          <p:nvPr>
            <p:ph idx="1"/>
          </p:nvPr>
        </p:nvSpPr>
        <p:spPr>
          <a:xfrm>
            <a:off x="334800" y="1522800"/>
            <a:ext cx="5688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7" name="Datumsplatzhalter 6"/>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p:txBody>
      </p:sp>
      <p:sp>
        <p:nvSpPr>
          <p:cNvPr id="8" name="Fußzeilenplatzhalter 7"/>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9" name="Foliennummernplatzhalter 8"/>
          <p:cNvSpPr>
            <a:spLocks noGrp="1"/>
          </p:cNvSpPr>
          <p:nvPr>
            <p:ph type="sldNum" sz="quarter" idx="12"/>
          </p:nvPr>
        </p:nvSpPr>
        <p:spPr/>
        <p:txBody>
          <a:bodyPr/>
          <a:lstStyle/>
          <a:p>
            <a:fld id="{B3811826-9277-4232-A2B5-17D05DFC7392}" type="slidenum">
              <a:rPr lang="de-CH" smtClean="0"/>
              <a:pPr/>
              <a:t>‹Nr.›</a:t>
            </a:fld>
            <a:endParaRPr lang="de-CH" dirty="0"/>
          </a:p>
        </p:txBody>
      </p:sp>
      <p:sp>
        <p:nvSpPr>
          <p:cNvPr id="10" name="Inhaltsplatzhalter 2"/>
          <p:cNvSpPr>
            <a:spLocks noGrp="1"/>
          </p:cNvSpPr>
          <p:nvPr>
            <p:ph idx="13"/>
          </p:nvPr>
        </p:nvSpPr>
        <p:spPr>
          <a:xfrm>
            <a:off x="6166800" y="1520826"/>
            <a:ext cx="5688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727836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e, mittig">
    <p:spTree>
      <p:nvGrpSpPr>
        <p:cNvPr id="1" name=""/>
        <p:cNvGrpSpPr/>
        <p:nvPr/>
      </p:nvGrpSpPr>
      <p:grpSpPr>
        <a:xfrm>
          <a:off x="0" y="0"/>
          <a:ext cx="0" cy="0"/>
          <a:chOff x="0" y="0"/>
          <a:chExt cx="0" cy="0"/>
        </a:xfrm>
      </p:grpSpPr>
      <p:sp>
        <p:nvSpPr>
          <p:cNvPr id="2" name="Titel 1"/>
          <p:cNvSpPr>
            <a:spLocks noGrp="1"/>
          </p:cNvSpPr>
          <p:nvPr>
            <p:ph type="title"/>
          </p:nvPr>
        </p:nvSpPr>
        <p:spPr>
          <a:xfrm>
            <a:off x="334800" y="404813"/>
            <a:ext cx="11521840" cy="755936"/>
          </a:xfrm>
        </p:spPr>
        <p:txBody>
          <a:bodyPr/>
          <a:lstStyle/>
          <a:p>
            <a:r>
              <a:rPr lang="de-DE"/>
              <a:t>Mastertitelformat bearbeiten</a:t>
            </a:r>
            <a:endParaRPr lang="de-CH" dirty="0"/>
          </a:p>
        </p:txBody>
      </p:sp>
      <p:sp>
        <p:nvSpPr>
          <p:cNvPr id="3" name="Inhaltsplatzhalter 2"/>
          <p:cNvSpPr>
            <a:spLocks noGrp="1"/>
          </p:cNvSpPr>
          <p:nvPr>
            <p:ph idx="1"/>
          </p:nvPr>
        </p:nvSpPr>
        <p:spPr>
          <a:xfrm>
            <a:off x="2494800" y="1522800"/>
            <a:ext cx="7200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7" name="Datumsplatzhalter 6"/>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8" name="Fußzeilenplatzhalter 7"/>
          <p:cNvSpPr>
            <a:spLocks noGrp="1"/>
          </p:cNvSpPr>
          <p:nvPr>
            <p:ph type="ftr" sz="quarter" idx="11"/>
          </p:nvPr>
        </p:nvSpPr>
        <p:spPr>
          <a:xfrm>
            <a:off x="9120682" y="6524626"/>
            <a:ext cx="2544283" cy="180000"/>
          </a:xfrm>
          <a:prstGeom prst="rect">
            <a:avLst/>
          </a:prstGeom>
        </p:spPr>
        <p:txBody>
          <a:bodyPr/>
          <a:lstStyle/>
          <a:p>
            <a:pPr algn="r"/>
            <a:r>
              <a:rPr lang="en-GB" dirty="0"/>
              <a:t>University of Basel</a:t>
            </a:r>
          </a:p>
          <a:p>
            <a:pPr algn="r"/>
            <a:endParaRPr lang="de-CH" dirty="0"/>
          </a:p>
        </p:txBody>
      </p:sp>
      <p:sp>
        <p:nvSpPr>
          <p:cNvPr id="9" name="Foliennummernplatzhalter 8"/>
          <p:cNvSpPr>
            <a:spLocks noGrp="1"/>
          </p:cNvSpPr>
          <p:nvPr>
            <p:ph type="sldNum" sz="quarter" idx="12"/>
          </p:nvPr>
        </p:nvSpPr>
        <p:spPr/>
        <p:txBody>
          <a:bodyPr/>
          <a:lstStyle/>
          <a:p>
            <a:fld id="{B3811826-9277-4232-A2B5-17D05DFC7392}" type="slidenum">
              <a:rPr lang="de-CH" smtClean="0"/>
              <a:pPr/>
              <a:t>‹Nr.›</a:t>
            </a:fld>
            <a:endParaRPr lang="de-CH" dirty="0"/>
          </a:p>
        </p:txBody>
      </p:sp>
    </p:spTree>
    <p:extLst>
      <p:ext uri="{BB962C8B-B14F-4D97-AF65-F5344CB8AC3E}">
        <p14:creationId xmlns:p14="http://schemas.microsoft.com/office/powerpoint/2010/main" val="565314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3 Inhalte">
    <p:spTree>
      <p:nvGrpSpPr>
        <p:cNvPr id="1" name=""/>
        <p:cNvGrpSpPr/>
        <p:nvPr/>
      </p:nvGrpSpPr>
      <p:grpSpPr>
        <a:xfrm>
          <a:off x="0" y="0"/>
          <a:ext cx="0" cy="0"/>
          <a:chOff x="0" y="0"/>
          <a:chExt cx="0" cy="0"/>
        </a:xfrm>
      </p:grpSpPr>
      <p:sp>
        <p:nvSpPr>
          <p:cNvPr id="2" name="Titel 1"/>
          <p:cNvSpPr>
            <a:spLocks noGrp="1"/>
          </p:cNvSpPr>
          <p:nvPr>
            <p:ph type="title"/>
          </p:nvPr>
        </p:nvSpPr>
        <p:spPr>
          <a:xfrm>
            <a:off x="334800" y="404813"/>
            <a:ext cx="11521840" cy="755936"/>
          </a:xfrm>
        </p:spPr>
        <p:txBody>
          <a:bodyPr/>
          <a:lstStyle/>
          <a:p>
            <a:r>
              <a:rPr lang="de-DE"/>
              <a:t>Mastertitelformat bearbeiten</a:t>
            </a:r>
            <a:endParaRPr lang="de-CH" dirty="0"/>
          </a:p>
        </p:txBody>
      </p:sp>
      <p:sp>
        <p:nvSpPr>
          <p:cNvPr id="3" name="Inhaltsplatzhalter 2"/>
          <p:cNvSpPr>
            <a:spLocks noGrp="1"/>
          </p:cNvSpPr>
          <p:nvPr>
            <p:ph idx="1"/>
          </p:nvPr>
        </p:nvSpPr>
        <p:spPr>
          <a:xfrm>
            <a:off x="334800" y="1522800"/>
            <a:ext cx="3744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7" name="Datumsplatzhalter 6"/>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8" name="Fußzeilenplatzhalter 7"/>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9" name="Foliennummernplatzhalter 8"/>
          <p:cNvSpPr>
            <a:spLocks noGrp="1"/>
          </p:cNvSpPr>
          <p:nvPr>
            <p:ph type="sldNum" sz="quarter" idx="12"/>
          </p:nvPr>
        </p:nvSpPr>
        <p:spPr/>
        <p:txBody>
          <a:bodyPr/>
          <a:lstStyle/>
          <a:p>
            <a:fld id="{B3811826-9277-4232-A2B5-17D05DFC7392}" type="slidenum">
              <a:rPr lang="de-CH" smtClean="0"/>
              <a:pPr/>
              <a:t>‹Nr.›</a:t>
            </a:fld>
            <a:endParaRPr lang="de-CH" dirty="0"/>
          </a:p>
        </p:txBody>
      </p:sp>
      <p:sp>
        <p:nvSpPr>
          <p:cNvPr id="10" name="Inhaltsplatzhalter 2"/>
          <p:cNvSpPr>
            <a:spLocks noGrp="1"/>
          </p:cNvSpPr>
          <p:nvPr>
            <p:ph idx="13"/>
          </p:nvPr>
        </p:nvSpPr>
        <p:spPr>
          <a:xfrm>
            <a:off x="8110800" y="1520826"/>
            <a:ext cx="3744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1" name="Inhaltsplatzhalter 2"/>
          <p:cNvSpPr>
            <a:spLocks noGrp="1"/>
          </p:cNvSpPr>
          <p:nvPr>
            <p:ph idx="14"/>
          </p:nvPr>
        </p:nvSpPr>
        <p:spPr>
          <a:xfrm>
            <a:off x="4222800" y="1520826"/>
            <a:ext cx="3744000" cy="4716462"/>
          </a:xfrm>
        </p:spPr>
        <p:txBody>
          <a:bodyPr/>
          <a:lstStyle>
            <a:lvl1pPr>
              <a:lnSpc>
                <a:spcPts val="2200"/>
              </a:lnSpc>
              <a:defRPr/>
            </a:lvl1pPr>
            <a:lvl2pPr>
              <a:lnSpc>
                <a:spcPts val="2200"/>
              </a:lnSpc>
              <a:defRPr/>
            </a:lvl2pPr>
            <a:lvl3pPr>
              <a:lnSpc>
                <a:spcPts val="2200"/>
              </a:lnSpc>
              <a:defRPr/>
            </a:lvl3pPr>
            <a:lvl4pPr>
              <a:lnSpc>
                <a:spcPts val="2200"/>
              </a:lnSpc>
              <a:defRPr/>
            </a:lvl4pPr>
            <a:lvl5pPr>
              <a:lnSpc>
                <a:spcPts val="2200"/>
              </a:lnSpc>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1134710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ld mit Legen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CH"/>
          </a:p>
        </p:txBody>
      </p:sp>
      <p:sp>
        <p:nvSpPr>
          <p:cNvPr id="3" name="Datumsplatzhalter 2"/>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4" name="Fußzeilenplatzhalter 3"/>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5" name="Foliennummernplatzhalter 4"/>
          <p:cNvSpPr>
            <a:spLocks noGrp="1"/>
          </p:cNvSpPr>
          <p:nvPr>
            <p:ph type="sldNum" sz="quarter" idx="12"/>
          </p:nvPr>
        </p:nvSpPr>
        <p:spPr/>
        <p:txBody>
          <a:bodyPr/>
          <a:lstStyle/>
          <a:p>
            <a:fld id="{B3811826-9277-4232-A2B5-17D05DFC7392}" type="slidenum">
              <a:rPr lang="de-CH" smtClean="0"/>
              <a:pPr/>
              <a:t>‹Nr.›</a:t>
            </a:fld>
            <a:endParaRPr lang="de-CH" dirty="0"/>
          </a:p>
        </p:txBody>
      </p:sp>
      <p:sp>
        <p:nvSpPr>
          <p:cNvPr id="7" name="Bildplatzhalter 6"/>
          <p:cNvSpPr>
            <a:spLocks noGrp="1"/>
          </p:cNvSpPr>
          <p:nvPr>
            <p:ph type="pic" sz="quarter" idx="13"/>
          </p:nvPr>
        </p:nvSpPr>
        <p:spPr>
          <a:xfrm>
            <a:off x="334800" y="1520824"/>
            <a:ext cx="8498051" cy="3960000"/>
          </a:xfrm>
        </p:spPr>
        <p:txBody>
          <a:bodyPr/>
          <a:lstStyle/>
          <a:p>
            <a:r>
              <a:rPr lang="de-DE"/>
              <a:t>Bild durch Klicken auf Symbol hinzufügen</a:t>
            </a:r>
            <a:endParaRPr lang="de-CH" dirty="0"/>
          </a:p>
        </p:txBody>
      </p:sp>
      <p:sp>
        <p:nvSpPr>
          <p:cNvPr id="9" name="Textplatzhalter 8"/>
          <p:cNvSpPr>
            <a:spLocks noGrp="1"/>
          </p:cNvSpPr>
          <p:nvPr>
            <p:ph type="body" sz="quarter" idx="14"/>
          </p:nvPr>
        </p:nvSpPr>
        <p:spPr>
          <a:xfrm>
            <a:off x="8976640" y="1520827"/>
            <a:ext cx="2880000" cy="3959998"/>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25153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CH"/>
          </a:p>
        </p:txBody>
      </p:sp>
      <p:sp>
        <p:nvSpPr>
          <p:cNvPr id="3" name="Datumsplatzhalter 2"/>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p:txBody>
      </p:sp>
      <p:sp>
        <p:nvSpPr>
          <p:cNvPr id="4" name="Fußzeilenplatzhalter 3"/>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5" name="Foliennummernplatzhalter 4"/>
          <p:cNvSpPr>
            <a:spLocks noGrp="1"/>
          </p:cNvSpPr>
          <p:nvPr>
            <p:ph type="sldNum" sz="quarter" idx="12"/>
          </p:nvPr>
        </p:nvSpPr>
        <p:spPr/>
        <p:txBody>
          <a:bodyPr/>
          <a:lstStyle/>
          <a:p>
            <a:fld id="{B3811826-9277-4232-A2B5-17D05DFC7392}" type="slidenum">
              <a:rPr lang="de-CH" smtClean="0"/>
              <a:pPr/>
              <a:t>‹Nr.›</a:t>
            </a:fld>
            <a:endParaRPr lang="de-CH" dirty="0"/>
          </a:p>
        </p:txBody>
      </p:sp>
      <p:sp>
        <p:nvSpPr>
          <p:cNvPr id="7" name="Bildplatzhalter 6"/>
          <p:cNvSpPr>
            <a:spLocks noGrp="1"/>
          </p:cNvSpPr>
          <p:nvPr>
            <p:ph type="pic" sz="quarter" idx="13"/>
          </p:nvPr>
        </p:nvSpPr>
        <p:spPr>
          <a:xfrm>
            <a:off x="334801" y="1520824"/>
            <a:ext cx="5688000" cy="2592000"/>
          </a:xfrm>
        </p:spPr>
        <p:txBody>
          <a:bodyPr/>
          <a:lstStyle/>
          <a:p>
            <a:r>
              <a:rPr lang="de-DE"/>
              <a:t>Bild durch Klicken auf Symbol hinzufügen</a:t>
            </a:r>
            <a:endParaRPr lang="de-CH"/>
          </a:p>
        </p:txBody>
      </p:sp>
      <p:sp>
        <p:nvSpPr>
          <p:cNvPr id="8" name="Bildplatzhalter 6"/>
          <p:cNvSpPr>
            <a:spLocks noGrp="1"/>
          </p:cNvSpPr>
          <p:nvPr>
            <p:ph type="pic" sz="quarter" idx="14"/>
          </p:nvPr>
        </p:nvSpPr>
        <p:spPr>
          <a:xfrm>
            <a:off x="6166800" y="1520825"/>
            <a:ext cx="5688000" cy="2592000"/>
          </a:xfrm>
        </p:spPr>
        <p:txBody>
          <a:bodyPr/>
          <a:lstStyle/>
          <a:p>
            <a:r>
              <a:rPr lang="de-DE"/>
              <a:t>Bild durch Klicken auf Symbol hinzufügen</a:t>
            </a:r>
            <a:endParaRPr lang="de-CH" dirty="0"/>
          </a:p>
        </p:txBody>
      </p:sp>
      <p:sp>
        <p:nvSpPr>
          <p:cNvPr id="9" name="Textplatzhalter 8"/>
          <p:cNvSpPr>
            <a:spLocks noGrp="1"/>
          </p:cNvSpPr>
          <p:nvPr>
            <p:ph type="body" sz="quarter" idx="15"/>
          </p:nvPr>
        </p:nvSpPr>
        <p:spPr>
          <a:xfrm>
            <a:off x="334799" y="4221088"/>
            <a:ext cx="5688000" cy="1836180"/>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0" name="Textplatzhalter 8"/>
          <p:cNvSpPr>
            <a:spLocks noGrp="1"/>
          </p:cNvSpPr>
          <p:nvPr>
            <p:ph type="body" sz="quarter" idx="16"/>
          </p:nvPr>
        </p:nvSpPr>
        <p:spPr>
          <a:xfrm>
            <a:off x="6166800" y="4221088"/>
            <a:ext cx="5688000" cy="1836180"/>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30635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CH" dirty="0"/>
          </a:p>
        </p:txBody>
      </p:sp>
      <p:sp>
        <p:nvSpPr>
          <p:cNvPr id="3" name="Datumsplatzhalter 2"/>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4" name="Fußzeilenplatzhalter 3"/>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5" name="Foliennummernplatzhalter 4"/>
          <p:cNvSpPr>
            <a:spLocks noGrp="1"/>
          </p:cNvSpPr>
          <p:nvPr>
            <p:ph type="sldNum" sz="quarter" idx="12"/>
          </p:nvPr>
        </p:nvSpPr>
        <p:spPr/>
        <p:txBody>
          <a:bodyPr/>
          <a:lstStyle/>
          <a:p>
            <a:fld id="{B3811826-9277-4232-A2B5-17D05DFC7392}" type="slidenum">
              <a:rPr lang="de-CH" smtClean="0"/>
              <a:pPr/>
              <a:t>‹Nr.›</a:t>
            </a:fld>
            <a:endParaRPr lang="de-CH" dirty="0"/>
          </a:p>
        </p:txBody>
      </p:sp>
      <p:sp>
        <p:nvSpPr>
          <p:cNvPr id="7" name="Bildplatzhalter 6"/>
          <p:cNvSpPr>
            <a:spLocks noGrp="1"/>
          </p:cNvSpPr>
          <p:nvPr>
            <p:ph type="pic" sz="quarter" idx="13"/>
          </p:nvPr>
        </p:nvSpPr>
        <p:spPr>
          <a:xfrm>
            <a:off x="334800" y="1520824"/>
            <a:ext cx="3744000" cy="3276000"/>
          </a:xfrm>
        </p:spPr>
        <p:txBody>
          <a:bodyPr/>
          <a:lstStyle/>
          <a:p>
            <a:r>
              <a:rPr lang="de-DE"/>
              <a:t>Bild durch Klicken auf Symbol hinzufügen</a:t>
            </a:r>
            <a:endParaRPr lang="de-CH" dirty="0"/>
          </a:p>
        </p:txBody>
      </p:sp>
      <p:sp>
        <p:nvSpPr>
          <p:cNvPr id="9" name="Textplatzhalter 8"/>
          <p:cNvSpPr>
            <a:spLocks noGrp="1"/>
          </p:cNvSpPr>
          <p:nvPr>
            <p:ph type="body" sz="quarter" idx="15"/>
          </p:nvPr>
        </p:nvSpPr>
        <p:spPr>
          <a:xfrm>
            <a:off x="334800" y="4901715"/>
            <a:ext cx="3744000" cy="115555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1" name="Bildplatzhalter 6"/>
          <p:cNvSpPr>
            <a:spLocks noGrp="1"/>
          </p:cNvSpPr>
          <p:nvPr>
            <p:ph type="pic" sz="quarter" idx="16"/>
          </p:nvPr>
        </p:nvSpPr>
        <p:spPr>
          <a:xfrm>
            <a:off x="4224208" y="1520825"/>
            <a:ext cx="3744000" cy="3276000"/>
          </a:xfrm>
        </p:spPr>
        <p:txBody>
          <a:bodyPr/>
          <a:lstStyle/>
          <a:p>
            <a:r>
              <a:rPr lang="de-DE"/>
              <a:t>Bild durch Klicken auf Symbol hinzufügen</a:t>
            </a:r>
            <a:endParaRPr lang="de-CH" dirty="0"/>
          </a:p>
        </p:txBody>
      </p:sp>
      <p:sp>
        <p:nvSpPr>
          <p:cNvPr id="12" name="Textplatzhalter 8"/>
          <p:cNvSpPr>
            <a:spLocks noGrp="1"/>
          </p:cNvSpPr>
          <p:nvPr>
            <p:ph type="body" sz="quarter" idx="17"/>
          </p:nvPr>
        </p:nvSpPr>
        <p:spPr>
          <a:xfrm>
            <a:off x="4219199" y="4901716"/>
            <a:ext cx="3744000" cy="115555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3" name="Bildplatzhalter 6"/>
          <p:cNvSpPr>
            <a:spLocks noGrp="1"/>
          </p:cNvSpPr>
          <p:nvPr>
            <p:ph type="pic" sz="quarter" idx="18"/>
          </p:nvPr>
        </p:nvSpPr>
        <p:spPr>
          <a:xfrm>
            <a:off x="8112640" y="1524273"/>
            <a:ext cx="3744000" cy="3276000"/>
          </a:xfrm>
        </p:spPr>
        <p:txBody>
          <a:bodyPr/>
          <a:lstStyle/>
          <a:p>
            <a:r>
              <a:rPr lang="de-DE"/>
              <a:t>Bild durch Klicken auf Symbol hinzufügen</a:t>
            </a:r>
            <a:endParaRPr lang="de-CH" dirty="0"/>
          </a:p>
        </p:txBody>
      </p:sp>
      <p:sp>
        <p:nvSpPr>
          <p:cNvPr id="14" name="Textplatzhalter 8"/>
          <p:cNvSpPr>
            <a:spLocks noGrp="1"/>
          </p:cNvSpPr>
          <p:nvPr>
            <p:ph type="body" sz="quarter" idx="19"/>
          </p:nvPr>
        </p:nvSpPr>
        <p:spPr>
          <a:xfrm>
            <a:off x="8114400" y="4905164"/>
            <a:ext cx="3744000" cy="115555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156505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4" name="Fußzeilenplatzhalter 3"/>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5" name="Foliennummernplatzhalter 4"/>
          <p:cNvSpPr>
            <a:spLocks noGrp="1"/>
          </p:cNvSpPr>
          <p:nvPr>
            <p:ph type="sldNum" sz="quarter" idx="12"/>
          </p:nvPr>
        </p:nvSpPr>
        <p:spPr/>
        <p:txBody>
          <a:bodyPr/>
          <a:lstStyle/>
          <a:p>
            <a:fld id="{B3811826-9277-4232-A2B5-17D05DFC7392}" type="slidenum">
              <a:rPr lang="de-CH" smtClean="0"/>
              <a:pPr/>
              <a:t>‹Nr.›</a:t>
            </a:fld>
            <a:endParaRPr lang="de-CH" dirty="0"/>
          </a:p>
        </p:txBody>
      </p:sp>
      <p:sp>
        <p:nvSpPr>
          <p:cNvPr id="7" name="Bildplatzhalter 6"/>
          <p:cNvSpPr>
            <a:spLocks noGrp="1"/>
          </p:cNvSpPr>
          <p:nvPr>
            <p:ph type="pic" sz="quarter" idx="13"/>
          </p:nvPr>
        </p:nvSpPr>
        <p:spPr>
          <a:xfrm>
            <a:off x="334800" y="334800"/>
            <a:ext cx="11521840" cy="5112000"/>
          </a:xfrm>
        </p:spPr>
        <p:txBody>
          <a:bodyPr/>
          <a:lstStyle/>
          <a:p>
            <a:r>
              <a:rPr lang="de-DE"/>
              <a:t>Bild durch Klicken auf Symbol hinzufügen</a:t>
            </a:r>
            <a:endParaRPr lang="de-CH" dirty="0"/>
          </a:p>
        </p:txBody>
      </p:sp>
      <p:sp>
        <p:nvSpPr>
          <p:cNvPr id="9" name="Textplatzhalter 8"/>
          <p:cNvSpPr>
            <a:spLocks noGrp="1"/>
          </p:cNvSpPr>
          <p:nvPr>
            <p:ph type="body" sz="quarter" idx="14"/>
          </p:nvPr>
        </p:nvSpPr>
        <p:spPr>
          <a:xfrm>
            <a:off x="334800" y="5554800"/>
            <a:ext cx="11521839" cy="612044"/>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400124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Vollfläche)">
    <p:spTree>
      <p:nvGrpSpPr>
        <p:cNvPr id="1" name=""/>
        <p:cNvGrpSpPr/>
        <p:nvPr/>
      </p:nvGrpSpPr>
      <p:grpSpPr>
        <a:xfrm>
          <a:off x="0" y="0"/>
          <a:ext cx="0" cy="0"/>
          <a:chOff x="0" y="0"/>
          <a:chExt cx="0" cy="0"/>
        </a:xfrm>
      </p:grpSpPr>
      <p:sp>
        <p:nvSpPr>
          <p:cNvPr id="7" name="Bildplatzhalter 6"/>
          <p:cNvSpPr>
            <a:spLocks noGrp="1"/>
          </p:cNvSpPr>
          <p:nvPr>
            <p:ph type="pic" sz="quarter" idx="13"/>
          </p:nvPr>
        </p:nvSpPr>
        <p:spPr>
          <a:xfrm>
            <a:off x="0" y="0"/>
            <a:ext cx="12192000" cy="6858000"/>
          </a:xfrm>
        </p:spPr>
        <p:txBody>
          <a:bodyPr/>
          <a:lstStyle/>
          <a:p>
            <a:r>
              <a:rPr lang="de-DE"/>
              <a:t>Bild durch Klicken auf Symbol hinzufügen</a:t>
            </a:r>
            <a:endParaRPr lang="de-CH" dirty="0"/>
          </a:p>
        </p:txBody>
      </p:sp>
    </p:spTree>
    <p:extLst>
      <p:ext uri="{BB962C8B-B14F-4D97-AF65-F5344CB8AC3E}">
        <p14:creationId xmlns:p14="http://schemas.microsoft.com/office/powerpoint/2010/main" val="1005280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CH" dirty="0"/>
          </a:p>
        </p:txBody>
      </p:sp>
      <p:sp>
        <p:nvSpPr>
          <p:cNvPr id="6" name="Datumsplatzhalter 5"/>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7" name="Fußzeilenplatzhalter 6"/>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8" name="Foliennummernplatzhalter 7"/>
          <p:cNvSpPr>
            <a:spLocks noGrp="1"/>
          </p:cNvSpPr>
          <p:nvPr>
            <p:ph type="sldNum" sz="quarter" idx="12"/>
          </p:nvPr>
        </p:nvSpPr>
        <p:spPr/>
        <p:txBody>
          <a:bodyPr/>
          <a:lstStyle/>
          <a:p>
            <a:fld id="{B3811826-9277-4232-A2B5-17D05DFC7392}" type="slidenum">
              <a:rPr lang="de-CH" smtClean="0"/>
              <a:pPr/>
              <a:t>‹Nr.›</a:t>
            </a:fld>
            <a:endParaRPr lang="de-CH" dirty="0"/>
          </a:p>
        </p:txBody>
      </p:sp>
    </p:spTree>
    <p:extLst>
      <p:ext uri="{BB962C8B-B14F-4D97-AF65-F5344CB8AC3E}">
        <p14:creationId xmlns:p14="http://schemas.microsoft.com/office/powerpoint/2010/main" val="42032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6" name="Fußzeilenplatzhalter 5"/>
          <p:cNvSpPr>
            <a:spLocks noGrp="1"/>
          </p:cNvSpPr>
          <p:nvPr>
            <p:ph type="ftr" sz="quarter" idx="11"/>
          </p:nvPr>
        </p:nvSpPr>
        <p:spPr>
          <a:xfrm>
            <a:off x="9120682" y="6525344"/>
            <a:ext cx="2544283" cy="180000"/>
          </a:xfrm>
          <a:prstGeom prst="rect">
            <a:avLst/>
          </a:prstGeom>
        </p:spPr>
        <p:txBody>
          <a:bodyPr/>
          <a:lstStyle/>
          <a:p>
            <a:pPr algn="r"/>
            <a:r>
              <a:rPr lang="en-GB" dirty="0"/>
              <a:t>University of Basel</a:t>
            </a:r>
          </a:p>
          <a:p>
            <a:pPr algn="r"/>
            <a:endParaRPr lang="de-CH" dirty="0"/>
          </a:p>
        </p:txBody>
      </p:sp>
      <p:sp>
        <p:nvSpPr>
          <p:cNvPr id="7" name="Foliennummernplatzhalter 6"/>
          <p:cNvSpPr>
            <a:spLocks noGrp="1"/>
          </p:cNvSpPr>
          <p:nvPr>
            <p:ph type="sldNum" sz="quarter" idx="12"/>
          </p:nvPr>
        </p:nvSpPr>
        <p:spPr/>
        <p:txBody>
          <a:bodyPr/>
          <a:lstStyle/>
          <a:p>
            <a:fld id="{B3811826-9277-4232-A2B5-17D05DFC7392}" type="slidenum">
              <a:rPr lang="de-CH" smtClean="0"/>
              <a:pPr/>
              <a:t>‹Nr.›</a:t>
            </a:fld>
            <a:endParaRPr lang="de-CH" dirty="0"/>
          </a:p>
        </p:txBody>
      </p:sp>
    </p:spTree>
    <p:extLst>
      <p:ext uri="{BB962C8B-B14F-4D97-AF65-F5344CB8AC3E}">
        <p14:creationId xmlns:p14="http://schemas.microsoft.com/office/powerpoint/2010/main" val="281834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35360" y="404813"/>
            <a:ext cx="11521280" cy="755936"/>
          </a:xfrm>
          <a:prstGeom prst="rect">
            <a:avLst/>
          </a:prstGeom>
        </p:spPr>
        <p:txBody>
          <a:bodyPr vert="horz" lIns="0" tIns="0" rIns="0" bIns="0" rtlCol="0" anchor="t" anchorCtr="0">
            <a:noAutofit/>
          </a:bodyPr>
          <a:lstStyle/>
          <a:p>
            <a:r>
              <a:rPr lang="de-CH" dirty="0"/>
              <a:t>Titelmasterformat durch Klicken bearbeiten</a:t>
            </a:r>
          </a:p>
        </p:txBody>
      </p:sp>
      <p:sp>
        <p:nvSpPr>
          <p:cNvPr id="3" name="Textplatzhalter 2"/>
          <p:cNvSpPr>
            <a:spLocks noGrp="1"/>
          </p:cNvSpPr>
          <p:nvPr>
            <p:ph type="body" idx="1"/>
          </p:nvPr>
        </p:nvSpPr>
        <p:spPr>
          <a:xfrm>
            <a:off x="335360" y="1520826"/>
            <a:ext cx="11521280" cy="4716462"/>
          </a:xfrm>
          <a:prstGeom prst="rect">
            <a:avLst/>
          </a:prstGeom>
        </p:spPr>
        <p:txBody>
          <a:bodyPr vert="horz" lIns="0" tIns="0" rIns="0" bIns="0" rtlCol="0">
            <a:noAutofit/>
          </a:bodyPr>
          <a:lstStyle/>
          <a:p>
            <a:pPr lvl="0"/>
            <a:r>
              <a:rPr lang="de-CH" dirty="0"/>
              <a:t>Textmasterformat bearbeiten</a:t>
            </a:r>
          </a:p>
          <a:p>
            <a:pPr lvl="1"/>
            <a:r>
              <a:rPr lang="de-CH" dirty="0"/>
              <a:t>Zweite Ebene</a:t>
            </a:r>
          </a:p>
          <a:p>
            <a:pPr lvl="2"/>
            <a:r>
              <a:rPr lang="de-CH" dirty="0"/>
              <a:t>Dritte Ebene</a:t>
            </a:r>
          </a:p>
          <a:p>
            <a:pPr lvl="3"/>
            <a:r>
              <a:rPr lang="de-CH" dirty="0"/>
              <a:t>Vierte Ebene</a:t>
            </a:r>
          </a:p>
          <a:p>
            <a:pPr lvl="4"/>
            <a:r>
              <a:rPr lang="de-CH" dirty="0"/>
              <a:t>Fünfte Ebene</a:t>
            </a:r>
          </a:p>
        </p:txBody>
      </p:sp>
      <p:sp>
        <p:nvSpPr>
          <p:cNvPr id="4" name="Datumsplatzhalter 3"/>
          <p:cNvSpPr>
            <a:spLocks noGrp="1"/>
          </p:cNvSpPr>
          <p:nvPr>
            <p:ph type="dt" sz="half" idx="2"/>
          </p:nvPr>
        </p:nvSpPr>
        <p:spPr>
          <a:xfrm>
            <a:off x="334800" y="6524626"/>
            <a:ext cx="2878667" cy="180000"/>
          </a:xfrm>
          <a:prstGeom prst="rect">
            <a:avLst/>
          </a:prstGeom>
        </p:spPr>
        <p:txBody>
          <a:bodyPr vert="horz" lIns="0" tIns="21600" rIns="0" bIns="0" rtlCol="0" anchor="t" anchorCtr="0"/>
          <a:lstStyle>
            <a:lvl1pPr algn="l">
              <a:defRPr sz="600">
                <a:solidFill>
                  <a:schemeClr val="tx1"/>
                </a:solidFill>
              </a:defRPr>
            </a:lvl1pPr>
          </a:lstStyle>
          <a:p>
            <a:r>
              <a:rPr lang="de-DE" dirty="0"/>
              <a:t>Title </a:t>
            </a:r>
            <a:r>
              <a:rPr lang="de-DE" dirty="0" err="1"/>
              <a:t>of</a:t>
            </a:r>
            <a:r>
              <a:rPr lang="de-DE" dirty="0"/>
              <a:t> </a:t>
            </a:r>
            <a:r>
              <a:rPr lang="de-DE" dirty="0" err="1"/>
              <a:t>presentation</a:t>
            </a:r>
            <a:r>
              <a:rPr lang="de-DE" dirty="0"/>
              <a:t>, </a:t>
            </a:r>
            <a:r>
              <a:rPr lang="de-DE" dirty="0" err="1"/>
              <a:t>author</a:t>
            </a:r>
            <a:r>
              <a:rPr lang="de-DE" dirty="0"/>
              <a:t>, DD.MM.YY</a:t>
            </a:r>
            <a:endParaRPr lang="en-GB" dirty="0"/>
          </a:p>
          <a:p>
            <a:endParaRPr lang="de-CH" dirty="0"/>
          </a:p>
        </p:txBody>
      </p:sp>
      <p:sp>
        <p:nvSpPr>
          <p:cNvPr id="6" name="Foliennummernplatzhalter 5"/>
          <p:cNvSpPr>
            <a:spLocks noGrp="1"/>
          </p:cNvSpPr>
          <p:nvPr>
            <p:ph type="sldNum" sz="quarter" idx="4"/>
          </p:nvPr>
        </p:nvSpPr>
        <p:spPr>
          <a:xfrm>
            <a:off x="11664965" y="6525344"/>
            <a:ext cx="191675" cy="180000"/>
          </a:xfrm>
          <a:prstGeom prst="rect">
            <a:avLst/>
          </a:prstGeom>
        </p:spPr>
        <p:txBody>
          <a:bodyPr vert="horz" lIns="0" tIns="21600" rIns="0" bIns="0" rtlCol="0" anchor="t" anchorCtr="0"/>
          <a:lstStyle>
            <a:lvl1pPr algn="r">
              <a:defRPr sz="600">
                <a:solidFill>
                  <a:schemeClr val="tx1"/>
                </a:solidFill>
              </a:defRPr>
            </a:lvl1pPr>
          </a:lstStyle>
          <a:p>
            <a:fld id="{B3811826-9277-4232-A2B5-17D05DFC7392}" type="slidenum">
              <a:rPr lang="de-CH" smtClean="0"/>
              <a:pPr/>
              <a:t>‹Nr.›</a:t>
            </a:fld>
            <a:endParaRPr lang="de-CH" dirty="0"/>
          </a:p>
        </p:txBody>
      </p:sp>
      <p:cxnSp>
        <p:nvCxnSpPr>
          <p:cNvPr id="10" name="Gerade Verbindung 9"/>
          <p:cNvCxnSpPr/>
          <p:nvPr/>
        </p:nvCxnSpPr>
        <p:spPr>
          <a:xfrm>
            <a:off x="334800" y="6453188"/>
            <a:ext cx="11521840" cy="14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7"/>
          <p:cNvSpPr>
            <a:spLocks noGrp="1"/>
          </p:cNvSpPr>
          <p:nvPr>
            <p:ph type="ftr" sz="quarter" idx="3"/>
          </p:nvPr>
        </p:nvSpPr>
        <p:spPr>
          <a:xfrm>
            <a:off x="9120682" y="6525344"/>
            <a:ext cx="2544283" cy="180000"/>
          </a:xfrm>
          <a:prstGeom prst="rect">
            <a:avLst/>
          </a:prstGeom>
        </p:spPr>
        <p:txBody>
          <a:bodyPr/>
          <a:lstStyle>
            <a:lvl1pPr>
              <a:defRPr sz="600"/>
            </a:lvl1pPr>
          </a:lstStyle>
          <a:p>
            <a:pPr algn="r"/>
            <a:r>
              <a:rPr lang="en-GB" dirty="0"/>
              <a:t>University of Basel</a:t>
            </a:r>
          </a:p>
        </p:txBody>
      </p:sp>
    </p:spTree>
    <p:extLst>
      <p:ext uri="{BB962C8B-B14F-4D97-AF65-F5344CB8AC3E}">
        <p14:creationId xmlns:p14="http://schemas.microsoft.com/office/powerpoint/2010/main" val="104507348"/>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63" r:id="rId4"/>
    <p:sldLayoutId id="2147483665" r:id="rId5"/>
    <p:sldLayoutId id="2147483664" r:id="rId6"/>
    <p:sldLayoutId id="2147483657" r:id="rId7"/>
    <p:sldLayoutId id="2147483658" r:id="rId8"/>
    <p:sldLayoutId id="2147483659" r:id="rId9"/>
    <p:sldLayoutId id="2147483660" r:id="rId10"/>
    <p:sldLayoutId id="2147483661" r:id="rId11"/>
    <p:sldLayoutId id="2147483654" r:id="rId12"/>
    <p:sldLayoutId id="2147483655" r:id="rId13"/>
  </p:sldLayoutIdLst>
  <p:hf hdr="0"/>
  <p:txStyles>
    <p:title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p:titleStyle>
    <p:bodyStyle>
      <a:lvl1pPr marL="0" indent="0" algn="l" defTabSz="914400" rtl="0" eaLnBrk="1" latinLnBrk="0" hangingPunct="1">
        <a:spcBef>
          <a:spcPts val="0"/>
        </a:spcBef>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838800" y="1376363"/>
            <a:ext cx="10873824" cy="1044526"/>
          </a:xfrm>
        </p:spPr>
        <p:txBody>
          <a:bodyPr/>
          <a:lstStyle/>
          <a:p>
            <a:r>
              <a:rPr lang="en-GB" dirty="0"/>
              <a:t>Reconstructing a two-vowel system in </a:t>
            </a:r>
            <a:br>
              <a:rPr lang="en-GB" dirty="0"/>
            </a:br>
            <a:r>
              <a:rPr lang="en-GB" dirty="0"/>
              <a:t>Proto-Coptic</a:t>
            </a:r>
          </a:p>
        </p:txBody>
      </p:sp>
      <p:sp>
        <p:nvSpPr>
          <p:cNvPr id="3" name="Untertitel 2"/>
          <p:cNvSpPr>
            <a:spLocks noGrp="1"/>
          </p:cNvSpPr>
          <p:nvPr>
            <p:ph type="subTitle" idx="1"/>
          </p:nvPr>
        </p:nvSpPr>
        <p:spPr>
          <a:xfrm>
            <a:off x="838800" y="2708920"/>
            <a:ext cx="9067800" cy="324036"/>
          </a:xfrm>
        </p:spPr>
        <p:txBody>
          <a:bodyPr/>
          <a:lstStyle/>
          <a:p>
            <a:r>
              <a:rPr lang="en-GB" dirty="0"/>
              <a:t>Marwan Kilani</a:t>
            </a:r>
          </a:p>
        </p:txBody>
      </p:sp>
      <p:sp>
        <p:nvSpPr>
          <p:cNvPr id="4" name="Textfeld 3">
            <a:extLst>
              <a:ext uri="{FF2B5EF4-FFF2-40B4-BE49-F238E27FC236}">
                <a16:creationId xmlns:a16="http://schemas.microsoft.com/office/drawing/2014/main" id="{5D1B1481-C3BF-BFA0-1E10-6C4EE5FA020F}"/>
              </a:ext>
            </a:extLst>
          </p:cNvPr>
          <p:cNvSpPr txBox="1"/>
          <p:nvPr/>
        </p:nvSpPr>
        <p:spPr>
          <a:xfrm>
            <a:off x="1272209" y="4124739"/>
            <a:ext cx="0" cy="0"/>
          </a:xfrm>
          <a:prstGeom prst="rect">
            <a:avLst/>
          </a:prstGeom>
          <a:noFill/>
        </p:spPr>
        <p:txBody>
          <a:bodyPr wrap="none" lIns="0" tIns="0" rIns="0" bIns="0" rtlCol="0">
            <a:noAutofit/>
          </a:bodyPr>
          <a:lstStyle/>
          <a:p>
            <a:pPr>
              <a:lnSpc>
                <a:spcPts val="2200"/>
              </a:lnSpc>
            </a:pPr>
            <a:endParaRPr lang="en-GB" dirty="0"/>
          </a:p>
        </p:txBody>
      </p:sp>
      <p:sp>
        <p:nvSpPr>
          <p:cNvPr id="5" name="Textfeld 4">
            <a:extLst>
              <a:ext uri="{FF2B5EF4-FFF2-40B4-BE49-F238E27FC236}">
                <a16:creationId xmlns:a16="http://schemas.microsoft.com/office/drawing/2014/main" id="{CC7A6467-1AF9-4EC1-470A-73593ED79EAE}"/>
              </a:ext>
            </a:extLst>
          </p:cNvPr>
          <p:cNvSpPr txBox="1"/>
          <p:nvPr/>
        </p:nvSpPr>
        <p:spPr>
          <a:xfrm>
            <a:off x="576470" y="636104"/>
            <a:ext cx="0" cy="0"/>
          </a:xfrm>
          <a:prstGeom prst="rect">
            <a:avLst/>
          </a:prstGeom>
          <a:noFill/>
        </p:spPr>
        <p:txBody>
          <a:bodyPr wrap="none" lIns="0" tIns="0" rIns="0" bIns="0" rtlCol="0">
            <a:noAutofit/>
          </a:bodyPr>
          <a:lstStyle/>
          <a:p>
            <a:pPr>
              <a:lnSpc>
                <a:spcPts val="2200"/>
              </a:lnSpc>
            </a:pPr>
            <a:endParaRPr lang="en-GB" dirty="0"/>
          </a:p>
        </p:txBody>
      </p:sp>
      <p:pic>
        <p:nvPicPr>
          <p:cNvPr id="7" name="Grafik 6">
            <a:extLst>
              <a:ext uri="{FF2B5EF4-FFF2-40B4-BE49-F238E27FC236}">
                <a16:creationId xmlns:a16="http://schemas.microsoft.com/office/drawing/2014/main" id="{5C316C71-8305-D3B1-B45B-BA8027AB1FA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95400" y="5514155"/>
            <a:ext cx="4023147" cy="899691"/>
          </a:xfrm>
          <a:prstGeom prst="rect">
            <a:avLst/>
          </a:prstGeom>
        </p:spPr>
      </p:pic>
    </p:spTree>
    <p:extLst>
      <p:ext uri="{BB962C8B-B14F-4D97-AF65-F5344CB8AC3E}">
        <p14:creationId xmlns:p14="http://schemas.microsoft.com/office/powerpoint/2010/main" val="964541059"/>
      </p:ext>
    </p:extLst>
  </p:cSld>
  <p:clrMapOvr>
    <a:masterClrMapping/>
  </p:clrMapOvr>
  <mc:AlternateContent xmlns:mc="http://schemas.openxmlformats.org/markup-compatibility/2006" xmlns:p14="http://schemas.microsoft.com/office/powerpoint/2010/main">
    <mc:Choice Requires="p14">
      <p:transition spd="slow" p14:dur="2000" advTm="33269"/>
    </mc:Choice>
    <mc:Fallback xmlns="">
      <p:transition spd="slow" advTm="3326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17F8F-27AA-05BF-2BE1-C572E6FEDF09}"/>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D596C4C8-9B77-A9CF-7DBB-42096500B97A}"/>
              </a:ext>
            </a:extLst>
          </p:cNvPr>
          <p:cNvSpPr>
            <a:spLocks noGrp="1"/>
          </p:cNvSpPr>
          <p:nvPr>
            <p:ph type="ftr" sz="quarter" idx="11"/>
          </p:nvPr>
        </p:nvSpPr>
        <p:spPr/>
        <p:txBody>
          <a:bodyPr/>
          <a:lstStyle/>
          <a:p>
            <a:pPr algn="r"/>
            <a:r>
              <a:rPr lang="en-GB" noProof="1"/>
              <a:t>University of Basel</a:t>
            </a:r>
          </a:p>
        </p:txBody>
      </p:sp>
      <p:sp>
        <p:nvSpPr>
          <p:cNvPr id="6" name="Foliennummernplatzhalter 5">
            <a:extLst>
              <a:ext uri="{FF2B5EF4-FFF2-40B4-BE49-F238E27FC236}">
                <a16:creationId xmlns:a16="http://schemas.microsoft.com/office/drawing/2014/main" id="{03BF2010-B09A-4CDB-4A6D-5E490F29E088}"/>
              </a:ext>
            </a:extLst>
          </p:cNvPr>
          <p:cNvSpPr>
            <a:spLocks noGrp="1"/>
          </p:cNvSpPr>
          <p:nvPr>
            <p:ph type="sldNum" sz="quarter" idx="12"/>
          </p:nvPr>
        </p:nvSpPr>
        <p:spPr/>
        <p:txBody>
          <a:bodyPr/>
          <a:lstStyle/>
          <a:p>
            <a:fld id="{B3811826-9277-4232-A2B5-17D05DFC7392}" type="slidenum">
              <a:rPr lang="en-GB" noProof="1" smtClean="0"/>
              <a:pPr/>
              <a:t>2</a:t>
            </a:fld>
            <a:endParaRPr lang="en-GB" noProof="1"/>
          </a:p>
        </p:txBody>
      </p:sp>
      <p:cxnSp>
        <p:nvCxnSpPr>
          <p:cNvPr id="9" name="Gerade Verbindung 7">
            <a:extLst>
              <a:ext uri="{FF2B5EF4-FFF2-40B4-BE49-F238E27FC236}">
                <a16:creationId xmlns:a16="http://schemas.microsoft.com/office/drawing/2014/main" id="{BB657DF5-81E6-1220-7DE0-9C974EB44C9C}"/>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EB83E5BD-EAF6-8E70-8823-590644D43075}"/>
              </a:ext>
            </a:extLst>
          </p:cNvPr>
          <p:cNvSpPr>
            <a:spLocks noGrp="1"/>
          </p:cNvSpPr>
          <p:nvPr>
            <p:ph type="title"/>
          </p:nvPr>
        </p:nvSpPr>
        <p:spPr>
          <a:xfrm>
            <a:off x="334800" y="404813"/>
            <a:ext cx="11521840" cy="755936"/>
          </a:xfrm>
        </p:spPr>
        <p:txBody>
          <a:bodyPr/>
          <a:lstStyle/>
          <a:p>
            <a:r>
              <a:rPr lang="en-GB" noProof="1"/>
              <a:t>Coptic Vowels - Overview</a:t>
            </a:r>
          </a:p>
        </p:txBody>
      </p:sp>
      <p:sp>
        <p:nvSpPr>
          <p:cNvPr id="3" name="Datumsplatzhalter 3">
            <a:extLst>
              <a:ext uri="{FF2B5EF4-FFF2-40B4-BE49-F238E27FC236}">
                <a16:creationId xmlns:a16="http://schemas.microsoft.com/office/drawing/2014/main" id="{2F1D72A8-5BCB-1254-1707-61F46C94E7FA}"/>
              </a:ext>
            </a:extLst>
          </p:cNvPr>
          <p:cNvSpPr>
            <a:spLocks noGrp="1"/>
          </p:cNvSpPr>
          <p:nvPr>
            <p:ph type="dt" sz="half" idx="10"/>
          </p:nvPr>
        </p:nvSpPr>
        <p:spPr>
          <a:xfrm>
            <a:off x="334800" y="6524626"/>
            <a:ext cx="3816984" cy="180000"/>
          </a:xfrm>
        </p:spPr>
        <p:txBody>
          <a:bodyPr/>
          <a:lstStyle/>
          <a:p>
            <a:r>
              <a:rPr lang="en-GB" noProof="1"/>
              <a:t>The Emergence of Ancient Egyptian</a:t>
            </a:r>
          </a:p>
        </p:txBody>
      </p:sp>
      <p:sp>
        <p:nvSpPr>
          <p:cNvPr id="16" name="Textfeld 15">
            <a:extLst>
              <a:ext uri="{FF2B5EF4-FFF2-40B4-BE49-F238E27FC236}">
                <a16:creationId xmlns:a16="http://schemas.microsoft.com/office/drawing/2014/main" id="{4D05D58D-4842-BC92-3D1C-2CF26269EF49}"/>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noProof="1"/>
          </a:p>
        </p:txBody>
      </p:sp>
      <p:sp>
        <p:nvSpPr>
          <p:cNvPr id="11" name="Textfeld 10">
            <a:extLst>
              <a:ext uri="{FF2B5EF4-FFF2-40B4-BE49-F238E27FC236}">
                <a16:creationId xmlns:a16="http://schemas.microsoft.com/office/drawing/2014/main" id="{1E29D701-7081-A59F-0261-FA89282271AB}"/>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noProof="1"/>
          </a:p>
        </p:txBody>
      </p:sp>
      <p:sp>
        <p:nvSpPr>
          <p:cNvPr id="28" name="Rechteck 27">
            <a:extLst>
              <a:ext uri="{FF2B5EF4-FFF2-40B4-BE49-F238E27FC236}">
                <a16:creationId xmlns:a16="http://schemas.microsoft.com/office/drawing/2014/main" id="{89D09B2D-DC82-27FD-12E6-4F3FD06D5518}"/>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extfeld 1">
            <a:extLst>
              <a:ext uri="{FF2B5EF4-FFF2-40B4-BE49-F238E27FC236}">
                <a16:creationId xmlns:a16="http://schemas.microsoft.com/office/drawing/2014/main" id="{50C01D0F-8382-197A-31D8-5F3678A0E5EA}"/>
              </a:ext>
            </a:extLst>
          </p:cNvPr>
          <p:cNvSpPr txBox="1"/>
          <p:nvPr/>
        </p:nvSpPr>
        <p:spPr>
          <a:xfrm>
            <a:off x="839416" y="1319981"/>
            <a:ext cx="4693004" cy="1224136"/>
          </a:xfrm>
          <a:prstGeom prst="rect">
            <a:avLst/>
          </a:prstGeom>
          <a:noFill/>
        </p:spPr>
        <p:txBody>
          <a:bodyPr wrap="square" lIns="0" tIns="0" rIns="0" bIns="0" rtlCol="0">
            <a:noAutofit/>
          </a:bodyPr>
          <a:lstStyle/>
          <a:p>
            <a:pPr>
              <a:lnSpc>
                <a:spcPts val="2200"/>
              </a:lnSpc>
            </a:pPr>
            <a:endParaRPr lang="en-GB" noProof="1"/>
          </a:p>
        </p:txBody>
      </p:sp>
      <p:sp>
        <p:nvSpPr>
          <p:cNvPr id="8" name="Textfeld 7">
            <a:extLst>
              <a:ext uri="{FF2B5EF4-FFF2-40B4-BE49-F238E27FC236}">
                <a16:creationId xmlns:a16="http://schemas.microsoft.com/office/drawing/2014/main" id="{0F5752E4-93F1-8D36-5D36-6DBAE0C3FED9}"/>
              </a:ext>
            </a:extLst>
          </p:cNvPr>
          <p:cNvSpPr txBox="1"/>
          <p:nvPr/>
        </p:nvSpPr>
        <p:spPr>
          <a:xfrm>
            <a:off x="334799" y="1136941"/>
            <a:ext cx="11330165" cy="2112031"/>
          </a:xfrm>
          <a:prstGeom prst="rect">
            <a:avLst/>
          </a:prstGeom>
          <a:noFill/>
        </p:spPr>
        <p:txBody>
          <a:bodyPr wrap="square" lIns="0" tIns="0" rIns="0" bIns="0" rtlCol="0">
            <a:noAutofit/>
          </a:bodyPr>
          <a:lstStyle/>
          <a:p>
            <a:pPr>
              <a:lnSpc>
                <a:spcPts val="2200"/>
              </a:lnSpc>
              <a:spcAft>
                <a:spcPts val="1000"/>
              </a:spcAft>
            </a:pPr>
            <a:r>
              <a:rPr lang="en-GB" noProof="1"/>
              <a:t>• Coptic is a group of related dialects, not a single language. Sahidic and Bohairic are best attested; others are less documented. Vowels differ among dialects but their correspondences are generally well understood.</a:t>
            </a:r>
          </a:p>
          <a:p>
            <a:pPr>
              <a:lnSpc>
                <a:spcPts val="2200"/>
              </a:lnSpc>
              <a:spcAft>
                <a:spcPts val="1000"/>
              </a:spcAft>
            </a:pPr>
            <a:r>
              <a:rPr lang="en-GB" noProof="1"/>
              <a:t>• In general, only the stressed vowel is distinctive and can be reconstructed – unstressed vowels are merged and reduced to ⲁ |a| or ⲉ possibly standing for |ə|</a:t>
            </a:r>
          </a:p>
          <a:p>
            <a:pPr>
              <a:lnSpc>
                <a:spcPts val="2200"/>
              </a:lnSpc>
              <a:spcAft>
                <a:spcPts val="1000"/>
              </a:spcAft>
            </a:pPr>
            <a:r>
              <a:rPr lang="en-GB" noProof="1"/>
              <a:t>• However, the stress pattern can move between prosodic forms, revealing different vowels of the word</a:t>
            </a:r>
          </a:p>
          <a:p>
            <a:pPr>
              <a:lnSpc>
                <a:spcPts val="2200"/>
              </a:lnSpc>
              <a:spcAft>
                <a:spcPts val="1000"/>
              </a:spcAft>
            </a:pPr>
            <a:r>
              <a:rPr lang="en-GB" noProof="1"/>
              <a:t>	e.g. Absolute [S] </a:t>
            </a:r>
            <a:r>
              <a:rPr lang="de-DE" dirty="0">
                <a:solidFill>
                  <a:srgbClr val="000000"/>
                </a:solidFill>
                <a:latin typeface="Calibri" panose="020F0502020204030204" pitchFamily="34" charset="0"/>
              </a:rPr>
              <a:t>ⲟⲩⲟⲥⲧⲛ</a:t>
            </a:r>
            <a:r>
              <a:rPr lang="en-GB" noProof="1"/>
              <a:t> |wɔ́stᵊn| but Prepronominal [S] ⲟⲩⲉⲥⲑⲱⲛ⸗ |wəstón|</a:t>
            </a:r>
          </a:p>
          <a:p>
            <a:pPr>
              <a:lnSpc>
                <a:spcPts val="2200"/>
              </a:lnSpc>
              <a:spcAft>
                <a:spcPts val="1000"/>
              </a:spcAft>
            </a:pPr>
            <a:endParaRPr lang="en-GB" noProof="1"/>
          </a:p>
          <a:p>
            <a:pPr>
              <a:lnSpc>
                <a:spcPts val="2200"/>
              </a:lnSpc>
              <a:spcAft>
                <a:spcPts val="1000"/>
              </a:spcAft>
            </a:pPr>
            <a:r>
              <a:rPr lang="en-GB" noProof="1"/>
              <a:t>• Contextual allophones are known, e.g. ⲱ |ó| &gt; ⲟⲩ |ú| after nasal consonants (in most if not all dialects)</a:t>
            </a:r>
          </a:p>
          <a:p>
            <a:pPr>
              <a:lnSpc>
                <a:spcPts val="2200"/>
              </a:lnSpc>
              <a:spcAft>
                <a:spcPts val="1000"/>
              </a:spcAft>
            </a:pPr>
            <a:r>
              <a:rPr lang="en-GB" noProof="1"/>
              <a:t>• The distribution of stressed vowels is restricted by the historical shape of the syllables in which they appear. The result is a series of syllable-conditioned allophones </a:t>
            </a:r>
          </a:p>
        </p:txBody>
      </p:sp>
      <p:graphicFrame>
        <p:nvGraphicFramePr>
          <p:cNvPr id="4" name="Tabelle 3">
            <a:extLst>
              <a:ext uri="{FF2B5EF4-FFF2-40B4-BE49-F238E27FC236}">
                <a16:creationId xmlns:a16="http://schemas.microsoft.com/office/drawing/2014/main" id="{D6F0C611-7A4B-1D6A-D71F-A74440F800BB}"/>
              </a:ext>
            </a:extLst>
          </p:cNvPr>
          <p:cNvGraphicFramePr>
            <a:graphicFrameLocks noGrp="1"/>
          </p:cNvGraphicFramePr>
          <p:nvPr>
            <p:extLst>
              <p:ext uri="{D42A27DB-BD31-4B8C-83A1-F6EECF244321}">
                <p14:modId xmlns:p14="http://schemas.microsoft.com/office/powerpoint/2010/main" val="1975478829"/>
              </p:ext>
            </p:extLst>
          </p:nvPr>
        </p:nvGraphicFramePr>
        <p:xfrm>
          <a:off x="6095720" y="4922337"/>
          <a:ext cx="4712072" cy="1097280"/>
        </p:xfrm>
        <a:graphic>
          <a:graphicData uri="http://schemas.openxmlformats.org/drawingml/2006/table">
            <a:tbl>
              <a:tblPr firstRow="1" bandRow="1">
                <a:tableStyleId>{5940675A-B579-460E-94D1-54222C63F5DA}</a:tableStyleId>
              </a:tblPr>
              <a:tblGrid>
                <a:gridCol w="2356036">
                  <a:extLst>
                    <a:ext uri="{9D8B030D-6E8A-4147-A177-3AD203B41FA5}">
                      <a16:colId xmlns:a16="http://schemas.microsoft.com/office/drawing/2014/main" val="221710929"/>
                    </a:ext>
                  </a:extLst>
                </a:gridCol>
                <a:gridCol w="2356036">
                  <a:extLst>
                    <a:ext uri="{9D8B030D-6E8A-4147-A177-3AD203B41FA5}">
                      <a16:colId xmlns:a16="http://schemas.microsoft.com/office/drawing/2014/main" val="3625011177"/>
                    </a:ext>
                  </a:extLst>
                </a:gridCol>
              </a:tblGrid>
              <a:tr h="190802">
                <a:tc>
                  <a:txBody>
                    <a:bodyPr/>
                    <a:lstStyle/>
                    <a:p>
                      <a:pPr algn="ctr"/>
                      <a:r>
                        <a:rPr lang="de-DE" i="1" dirty="0"/>
                        <a:t>CV́C</a:t>
                      </a:r>
                    </a:p>
                  </a:txBody>
                  <a:tcPr>
                    <a:solidFill>
                      <a:schemeClr val="bg1">
                        <a:lumMod val="85000"/>
                      </a:schemeClr>
                    </a:solidFill>
                  </a:tcPr>
                </a:tc>
                <a:tc>
                  <a:txBody>
                    <a:bodyPr/>
                    <a:lstStyle/>
                    <a:p>
                      <a:pPr algn="ctr"/>
                      <a:r>
                        <a:rPr lang="de-DE" i="1" dirty="0"/>
                        <a:t>CV́</a:t>
                      </a:r>
                    </a:p>
                  </a:txBody>
                  <a:tcPr>
                    <a:solidFill>
                      <a:schemeClr val="bg1">
                        <a:lumMod val="85000"/>
                      </a:schemeClr>
                    </a:solidFill>
                  </a:tcPr>
                </a:tc>
                <a:extLst>
                  <a:ext uri="{0D108BD9-81ED-4DB2-BD59-A6C34878D82A}">
                    <a16:rowId xmlns:a16="http://schemas.microsoft.com/office/drawing/2014/main" val="2567381221"/>
                  </a:ext>
                </a:extLst>
              </a:tr>
              <a:tr h="262810">
                <a:tc>
                  <a:txBody>
                    <a:bodyPr/>
                    <a:lstStyle/>
                    <a:p>
                      <a:pPr algn="ctr"/>
                      <a:r>
                        <a:rPr lang="de-DE" dirty="0">
                          <a:latin typeface="Calibri" panose="020F0502020204030204" pitchFamily="34" charset="0"/>
                          <a:cs typeface="Calibri" panose="020F0502020204030204" pitchFamily="34" charset="0"/>
                        </a:rPr>
                        <a:t>ⲟ |</a:t>
                      </a:r>
                      <a:r>
                        <a:rPr lang="de-DE" dirty="0" err="1">
                          <a:latin typeface="Calibri" panose="020F0502020204030204" pitchFamily="34" charset="0"/>
                          <a:cs typeface="Calibri" panose="020F0502020204030204" pitchFamily="34" charset="0"/>
                        </a:rPr>
                        <a:t>ɔ</a:t>
                      </a:r>
                      <a:r>
                        <a:rPr lang="de-DE" dirty="0">
                          <a:latin typeface="Calibri" panose="020F0502020204030204" pitchFamily="34" charset="0"/>
                          <a:cs typeface="Calibri" panose="020F0502020204030204" pitchFamily="34" charset="0"/>
                        </a:rPr>
                        <a:t>|</a:t>
                      </a:r>
                    </a:p>
                  </a:txBody>
                  <a:tcPr anchor="ctr"/>
                </a:tc>
                <a:tc>
                  <a:txBody>
                    <a:bodyPr/>
                    <a:lstStyle/>
                    <a:p>
                      <a:pPr algn="ctr"/>
                      <a:r>
                        <a:rPr lang="de-DE" dirty="0">
                          <a:latin typeface="Calibri" panose="020F0502020204030204" pitchFamily="34" charset="0"/>
                          <a:cs typeface="Calibri" panose="020F0502020204030204" pitchFamily="34" charset="0"/>
                        </a:rPr>
                        <a:t>ⲱ |o|</a:t>
                      </a:r>
                    </a:p>
                  </a:txBody>
                  <a:tcPr anchor="ctr"/>
                </a:tc>
                <a:extLst>
                  <a:ext uri="{0D108BD9-81ED-4DB2-BD59-A6C34878D82A}">
                    <a16:rowId xmlns:a16="http://schemas.microsoft.com/office/drawing/2014/main" val="2852095082"/>
                  </a:ext>
                </a:extLst>
              </a:tr>
              <a:tr h="266469">
                <a:tc>
                  <a:txBody>
                    <a:bodyPr/>
                    <a:lstStyle/>
                    <a:p>
                      <a:pPr algn="ctr"/>
                      <a:r>
                        <a:rPr lang="de-DE" dirty="0">
                          <a:latin typeface="Calibri" panose="020F0502020204030204" pitchFamily="34" charset="0"/>
                          <a:cs typeface="Calibri" panose="020F0502020204030204" pitchFamily="34" charset="0"/>
                        </a:rPr>
                        <a:t>ⲁ |a|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ⲏ |</a:t>
                      </a:r>
                      <a:r>
                        <a:rPr lang="de-DE" dirty="0" err="1">
                          <a:latin typeface="Calibri" panose="020F0502020204030204" pitchFamily="34" charset="0"/>
                          <a:cs typeface="Calibri" panose="020F0502020204030204" pitchFamily="34" charset="0"/>
                        </a:rPr>
                        <a:t>e</a:t>
                      </a:r>
                      <a:r>
                        <a:rPr lang="de-DE" dirty="0">
                          <a:latin typeface="Calibri" panose="020F0502020204030204" pitchFamily="34" charset="0"/>
                          <a:cs typeface="Calibri" panose="020F0502020204030204" pitchFamily="34" charset="0"/>
                        </a:rPr>
                        <a:t>| / ⲓ |i|</a:t>
                      </a:r>
                    </a:p>
                  </a:txBody>
                  <a:tcPr anchor="ctr"/>
                </a:tc>
                <a:extLst>
                  <a:ext uri="{0D108BD9-81ED-4DB2-BD59-A6C34878D82A}">
                    <a16:rowId xmlns:a16="http://schemas.microsoft.com/office/drawing/2014/main" val="3623417860"/>
                  </a:ext>
                </a:extLst>
              </a:tr>
            </a:tbl>
          </a:graphicData>
        </a:graphic>
      </p:graphicFrame>
      <p:graphicFrame>
        <p:nvGraphicFramePr>
          <p:cNvPr id="7" name="Tabelle 6">
            <a:extLst>
              <a:ext uri="{FF2B5EF4-FFF2-40B4-BE49-F238E27FC236}">
                <a16:creationId xmlns:a16="http://schemas.microsoft.com/office/drawing/2014/main" id="{9E543218-A7F2-B8CF-F7C1-553C9B292E21}"/>
              </a:ext>
            </a:extLst>
          </p:cNvPr>
          <p:cNvGraphicFramePr>
            <a:graphicFrameLocks noGrp="1"/>
          </p:cNvGraphicFramePr>
          <p:nvPr>
            <p:extLst>
              <p:ext uri="{D42A27DB-BD31-4B8C-83A1-F6EECF244321}">
                <p14:modId xmlns:p14="http://schemas.microsoft.com/office/powerpoint/2010/main" val="366819054"/>
              </p:ext>
            </p:extLst>
          </p:nvPr>
        </p:nvGraphicFramePr>
        <p:xfrm>
          <a:off x="479376" y="4833169"/>
          <a:ext cx="4712072" cy="1280160"/>
        </p:xfrm>
        <a:graphic>
          <a:graphicData uri="http://schemas.openxmlformats.org/drawingml/2006/table">
            <a:tbl>
              <a:tblPr firstRow="1" bandRow="1">
                <a:tableStyleId>{5940675A-B579-460E-94D1-54222C63F5DA}</a:tableStyleId>
              </a:tblPr>
              <a:tblGrid>
                <a:gridCol w="1800200">
                  <a:extLst>
                    <a:ext uri="{9D8B030D-6E8A-4147-A177-3AD203B41FA5}">
                      <a16:colId xmlns:a16="http://schemas.microsoft.com/office/drawing/2014/main" val="221710929"/>
                    </a:ext>
                  </a:extLst>
                </a:gridCol>
                <a:gridCol w="2911872">
                  <a:extLst>
                    <a:ext uri="{9D8B030D-6E8A-4147-A177-3AD203B41FA5}">
                      <a16:colId xmlns:a16="http://schemas.microsoft.com/office/drawing/2014/main" val="3625011177"/>
                    </a:ext>
                  </a:extLst>
                </a:gridCol>
              </a:tblGrid>
              <a:tr h="262810">
                <a:tc>
                  <a:txBody>
                    <a:bodyPr/>
                    <a:lstStyle/>
                    <a:p>
                      <a:pPr algn="l"/>
                      <a:r>
                        <a:rPr lang="en-GB" dirty="0">
                          <a:latin typeface="Calibri" panose="020F0502020204030204" pitchFamily="34" charset="0"/>
                          <a:cs typeface="Calibri" panose="020F0502020204030204" pitchFamily="34" charset="0"/>
                        </a:rPr>
                        <a:t>ⲥⲱⲧⲡ |sot</a:t>
                      </a:r>
                      <a:r>
                        <a:rPr lang="en-GB" noProof="1"/>
                        <a:t>ᵊ</a:t>
                      </a:r>
                      <a:r>
                        <a:rPr lang="en-GB" dirty="0">
                          <a:latin typeface="Calibri" panose="020F0502020204030204" pitchFamily="34" charset="0"/>
                          <a:cs typeface="Calibri" panose="020F0502020204030204" pitchFamily="34" charset="0"/>
                        </a:rPr>
                        <a:t>p|</a:t>
                      </a:r>
                    </a:p>
                    <a:p>
                      <a:pPr algn="l"/>
                      <a:r>
                        <a:rPr lang="en-GB" i="1" dirty="0">
                          <a:latin typeface="Calibri" panose="020F0502020204030204" pitchFamily="34" charset="0"/>
                          <a:cs typeface="Calibri" panose="020F0502020204030204" pitchFamily="34" charset="0"/>
                        </a:rPr>
                        <a:t>CV́.CVC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dirty="0">
                          <a:latin typeface="Calibri" panose="020F0502020204030204" pitchFamily="34" charset="0"/>
                          <a:cs typeface="Calibri" panose="020F0502020204030204" pitchFamily="34" charset="0"/>
                        </a:rPr>
                        <a:t>'to choose'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2095082"/>
                  </a:ext>
                </a:extLst>
              </a:tr>
              <a:tr h="266469">
                <a:tc>
                  <a:txBody>
                    <a:bodyPr/>
                    <a:lstStyle/>
                    <a:p>
                      <a:pPr algn="l"/>
                      <a:r>
                        <a:rPr lang="en-GB" dirty="0">
                          <a:latin typeface="Calibri" panose="020F0502020204030204" pitchFamily="34" charset="0"/>
                          <a:cs typeface="Calibri" panose="020F0502020204030204" pitchFamily="34" charset="0"/>
                        </a:rPr>
                        <a:t>ⲥⲟⲧⲡ</a:t>
                      </a:r>
                      <a:r>
                        <a:rPr lang="en-GB" noProof="1"/>
                        <a:t>⸗</a:t>
                      </a:r>
                      <a:r>
                        <a:rPr lang="en-GB" dirty="0" err="1">
                          <a:latin typeface="Calibri" panose="020F0502020204030204" pitchFamily="34" charset="0"/>
                          <a:cs typeface="Calibri" panose="020F0502020204030204" pitchFamily="34" charset="0"/>
                        </a:rPr>
                        <a:t>ϥ</a:t>
                      </a:r>
                      <a:r>
                        <a:rPr lang="en-GB" dirty="0">
                          <a:latin typeface="Calibri" panose="020F0502020204030204" pitchFamily="34" charset="0"/>
                          <a:cs typeface="Calibri" panose="020F0502020204030204" pitchFamily="34" charset="0"/>
                        </a:rPr>
                        <a:t> |</a:t>
                      </a:r>
                      <a:r>
                        <a:rPr lang="en-GB" dirty="0" err="1">
                          <a:latin typeface="Calibri" panose="020F0502020204030204" pitchFamily="34" charset="0"/>
                          <a:cs typeface="Calibri" panose="020F0502020204030204" pitchFamily="34" charset="0"/>
                        </a:rPr>
                        <a:t>sɔtp</a:t>
                      </a:r>
                      <a:r>
                        <a:rPr lang="en-GB" noProof="1"/>
                        <a:t>ᵊ</a:t>
                      </a:r>
                      <a:r>
                        <a:rPr lang="en-GB" dirty="0">
                          <a:latin typeface="Calibri" panose="020F0502020204030204" pitchFamily="34" charset="0"/>
                          <a:cs typeface="Calibri" panose="020F0502020204030204" pitchFamily="34" charset="0"/>
                        </a:rPr>
                        <a:t>f|</a:t>
                      </a:r>
                    </a:p>
                    <a:p>
                      <a:pPr algn="l"/>
                      <a:r>
                        <a:rPr lang="en-GB" i="1" dirty="0">
                          <a:latin typeface="Calibri" panose="020F0502020204030204" pitchFamily="34" charset="0"/>
                          <a:cs typeface="Calibri" panose="020F0502020204030204" pitchFamily="34" charset="0"/>
                        </a:rPr>
                        <a:t>CV́C.CVC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Calibri" panose="020F0502020204030204" pitchFamily="34" charset="0"/>
                          <a:cs typeface="Calibri" panose="020F0502020204030204" pitchFamily="34" charset="0"/>
                        </a:rPr>
                        <a:t>'to choose him'</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3417860"/>
                  </a:ext>
                </a:extLst>
              </a:tr>
            </a:tbl>
          </a:graphicData>
        </a:graphic>
      </p:graphicFrame>
    </p:spTree>
    <p:extLst>
      <p:ext uri="{BB962C8B-B14F-4D97-AF65-F5344CB8AC3E}">
        <p14:creationId xmlns:p14="http://schemas.microsoft.com/office/powerpoint/2010/main" val="4165340415"/>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61471-D67A-D255-6A01-06BC4D3B214B}"/>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5DCFD8F8-120E-5CA1-1569-1655F89F5A11}"/>
              </a:ext>
            </a:extLst>
          </p:cNvPr>
          <p:cNvSpPr>
            <a:spLocks noGrp="1"/>
          </p:cNvSpPr>
          <p:nvPr>
            <p:ph type="ftr" sz="quarter" idx="11"/>
          </p:nvPr>
        </p:nvSpPr>
        <p:spPr/>
        <p:txBody>
          <a:bodyPr/>
          <a:lstStyle/>
          <a:p>
            <a:pPr algn="r"/>
            <a:r>
              <a:rPr lang="en-GB" noProof="1"/>
              <a:t>University of Basel</a:t>
            </a:r>
          </a:p>
        </p:txBody>
      </p:sp>
      <p:sp>
        <p:nvSpPr>
          <p:cNvPr id="6" name="Foliennummernplatzhalter 5">
            <a:extLst>
              <a:ext uri="{FF2B5EF4-FFF2-40B4-BE49-F238E27FC236}">
                <a16:creationId xmlns:a16="http://schemas.microsoft.com/office/drawing/2014/main" id="{0B931040-2940-7A3D-3A55-C2E70F3C843A}"/>
              </a:ext>
            </a:extLst>
          </p:cNvPr>
          <p:cNvSpPr>
            <a:spLocks noGrp="1"/>
          </p:cNvSpPr>
          <p:nvPr>
            <p:ph type="sldNum" sz="quarter" idx="12"/>
          </p:nvPr>
        </p:nvSpPr>
        <p:spPr/>
        <p:txBody>
          <a:bodyPr/>
          <a:lstStyle/>
          <a:p>
            <a:fld id="{B3811826-9277-4232-A2B5-17D05DFC7392}" type="slidenum">
              <a:rPr lang="en-GB" noProof="1" smtClean="0"/>
              <a:pPr/>
              <a:t>3</a:t>
            </a:fld>
            <a:endParaRPr lang="en-GB" noProof="1"/>
          </a:p>
        </p:txBody>
      </p:sp>
      <p:cxnSp>
        <p:nvCxnSpPr>
          <p:cNvPr id="9" name="Gerade Verbindung 7">
            <a:extLst>
              <a:ext uri="{FF2B5EF4-FFF2-40B4-BE49-F238E27FC236}">
                <a16:creationId xmlns:a16="http://schemas.microsoft.com/office/drawing/2014/main" id="{32AC17EC-496B-3F75-AB35-96471FD2D8FC}"/>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A9FAAA0C-B052-36CF-CE55-74748213C517}"/>
              </a:ext>
            </a:extLst>
          </p:cNvPr>
          <p:cNvSpPr>
            <a:spLocks noGrp="1"/>
          </p:cNvSpPr>
          <p:nvPr>
            <p:ph type="title"/>
          </p:nvPr>
        </p:nvSpPr>
        <p:spPr>
          <a:xfrm>
            <a:off x="334800" y="404813"/>
            <a:ext cx="11521840" cy="755936"/>
          </a:xfrm>
        </p:spPr>
        <p:txBody>
          <a:bodyPr/>
          <a:lstStyle/>
          <a:p>
            <a:r>
              <a:rPr lang="en-GB" noProof="1"/>
              <a:t>Proto-Coptic vowels</a:t>
            </a:r>
          </a:p>
        </p:txBody>
      </p:sp>
      <p:sp>
        <p:nvSpPr>
          <p:cNvPr id="3" name="Datumsplatzhalter 3">
            <a:extLst>
              <a:ext uri="{FF2B5EF4-FFF2-40B4-BE49-F238E27FC236}">
                <a16:creationId xmlns:a16="http://schemas.microsoft.com/office/drawing/2014/main" id="{5A0EE4A9-0906-4524-A3D7-3069D032BC38}"/>
              </a:ext>
            </a:extLst>
          </p:cNvPr>
          <p:cNvSpPr>
            <a:spLocks noGrp="1"/>
          </p:cNvSpPr>
          <p:nvPr>
            <p:ph type="dt" sz="half" idx="10"/>
          </p:nvPr>
        </p:nvSpPr>
        <p:spPr>
          <a:xfrm>
            <a:off x="334800" y="6524626"/>
            <a:ext cx="3816984" cy="180000"/>
          </a:xfrm>
        </p:spPr>
        <p:txBody>
          <a:bodyPr/>
          <a:lstStyle/>
          <a:p>
            <a:r>
              <a:rPr lang="en-GB" noProof="1"/>
              <a:t>The Emergence of Ancient Egyptian</a:t>
            </a:r>
          </a:p>
        </p:txBody>
      </p:sp>
      <p:sp>
        <p:nvSpPr>
          <p:cNvPr id="16" name="Textfeld 15">
            <a:extLst>
              <a:ext uri="{FF2B5EF4-FFF2-40B4-BE49-F238E27FC236}">
                <a16:creationId xmlns:a16="http://schemas.microsoft.com/office/drawing/2014/main" id="{CB82E178-5D76-C694-C6A4-C06BD91D4CA8}"/>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noProof="1"/>
          </a:p>
        </p:txBody>
      </p:sp>
      <p:sp>
        <p:nvSpPr>
          <p:cNvPr id="11" name="Textfeld 10">
            <a:extLst>
              <a:ext uri="{FF2B5EF4-FFF2-40B4-BE49-F238E27FC236}">
                <a16:creationId xmlns:a16="http://schemas.microsoft.com/office/drawing/2014/main" id="{F7640593-70F5-3F74-3946-16DFD3C9AD9D}"/>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noProof="1"/>
          </a:p>
        </p:txBody>
      </p:sp>
      <p:sp>
        <p:nvSpPr>
          <p:cNvPr id="28" name="Rechteck 27">
            <a:extLst>
              <a:ext uri="{FF2B5EF4-FFF2-40B4-BE49-F238E27FC236}">
                <a16:creationId xmlns:a16="http://schemas.microsoft.com/office/drawing/2014/main" id="{48F3BC58-07D4-7AED-18ED-F12B19D7F5E7}"/>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extfeld 1">
            <a:extLst>
              <a:ext uri="{FF2B5EF4-FFF2-40B4-BE49-F238E27FC236}">
                <a16:creationId xmlns:a16="http://schemas.microsoft.com/office/drawing/2014/main" id="{E0E471DA-2EB1-B5E2-C643-A0043CFBBCE7}"/>
              </a:ext>
            </a:extLst>
          </p:cNvPr>
          <p:cNvSpPr txBox="1"/>
          <p:nvPr/>
        </p:nvSpPr>
        <p:spPr>
          <a:xfrm>
            <a:off x="695400" y="1135765"/>
            <a:ext cx="9280127" cy="408631"/>
          </a:xfrm>
          <a:prstGeom prst="rect">
            <a:avLst/>
          </a:prstGeom>
          <a:noFill/>
        </p:spPr>
        <p:txBody>
          <a:bodyPr wrap="square" lIns="0" tIns="0" rIns="0" bIns="0" rtlCol="0">
            <a:noAutofit/>
          </a:bodyPr>
          <a:lstStyle/>
          <a:p>
            <a:pPr>
              <a:lnSpc>
                <a:spcPts val="2200"/>
              </a:lnSpc>
            </a:pPr>
            <a:r>
              <a:rPr lang="en-GB" b="1" noProof="1"/>
              <a:t>Current model</a:t>
            </a:r>
            <a:r>
              <a:rPr lang="en-GB" noProof="1"/>
              <a:t>: 3 vowels </a:t>
            </a:r>
            <a:r>
              <a:rPr lang="en-GB" i="1" noProof="1"/>
              <a:t>*a</a:t>
            </a:r>
            <a:r>
              <a:rPr lang="en-GB" noProof="1"/>
              <a:t>, </a:t>
            </a:r>
            <a:r>
              <a:rPr lang="en-GB" i="1" noProof="1"/>
              <a:t>*i</a:t>
            </a:r>
            <a:r>
              <a:rPr lang="en-GB" noProof="1"/>
              <a:t>, </a:t>
            </a:r>
            <a:r>
              <a:rPr lang="en-GB" i="1" noProof="1"/>
              <a:t>*u</a:t>
            </a:r>
            <a:r>
              <a:rPr lang="en-GB" noProof="1"/>
              <a:t> at the Egyptian/Proto-Coptic level</a:t>
            </a:r>
          </a:p>
        </p:txBody>
      </p:sp>
      <p:graphicFrame>
        <p:nvGraphicFramePr>
          <p:cNvPr id="13" name="Tabelle 12">
            <a:extLst>
              <a:ext uri="{FF2B5EF4-FFF2-40B4-BE49-F238E27FC236}">
                <a16:creationId xmlns:a16="http://schemas.microsoft.com/office/drawing/2014/main" id="{7F41078E-B629-94E2-CC4D-3A05259D5053}"/>
              </a:ext>
            </a:extLst>
          </p:cNvPr>
          <p:cNvGraphicFramePr>
            <a:graphicFrameLocks noGrp="1"/>
          </p:cNvGraphicFramePr>
          <p:nvPr>
            <p:extLst>
              <p:ext uri="{D42A27DB-BD31-4B8C-83A1-F6EECF244321}">
                <p14:modId xmlns:p14="http://schemas.microsoft.com/office/powerpoint/2010/main" val="2268948472"/>
              </p:ext>
            </p:extLst>
          </p:nvPr>
        </p:nvGraphicFramePr>
        <p:xfrm>
          <a:off x="1847528" y="1690266"/>
          <a:ext cx="8127999"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21710929"/>
                    </a:ext>
                  </a:extLst>
                </a:gridCol>
                <a:gridCol w="2709333">
                  <a:extLst>
                    <a:ext uri="{9D8B030D-6E8A-4147-A177-3AD203B41FA5}">
                      <a16:colId xmlns:a16="http://schemas.microsoft.com/office/drawing/2014/main" val="3288776798"/>
                    </a:ext>
                  </a:extLst>
                </a:gridCol>
                <a:gridCol w="2709333">
                  <a:extLst>
                    <a:ext uri="{9D8B030D-6E8A-4147-A177-3AD203B41FA5}">
                      <a16:colId xmlns:a16="http://schemas.microsoft.com/office/drawing/2014/main" val="3625011177"/>
                    </a:ext>
                  </a:extLst>
                </a:gridCol>
              </a:tblGrid>
              <a:tr h="370840">
                <a:tc>
                  <a:txBody>
                    <a:bodyPr/>
                    <a:lstStyle/>
                    <a:p>
                      <a:pPr algn="ctr"/>
                      <a:r>
                        <a:rPr lang="de-DE" i="1" dirty="0"/>
                        <a:t>CVC</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b="1" dirty="0"/>
                        <a:t>Proto-</a:t>
                      </a:r>
                      <a:r>
                        <a:rPr lang="de-DE" b="1" dirty="0" err="1"/>
                        <a:t>Vowel</a:t>
                      </a:r>
                      <a:endParaRPr lang="de-DE"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i="1" dirty="0"/>
                        <a:t>CV</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73812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ⲟ |</a:t>
                      </a:r>
                      <a:r>
                        <a:rPr lang="de-DE" dirty="0" err="1">
                          <a:latin typeface="Calibri" panose="020F0502020204030204" pitchFamily="34" charset="0"/>
                          <a:cs typeface="Calibri" panose="020F0502020204030204" pitchFamily="34" charset="0"/>
                        </a:rPr>
                        <a:t>ɔ</a:t>
                      </a:r>
                      <a:r>
                        <a:rPr lang="de-DE" dirty="0">
                          <a:latin typeface="Calibri" panose="020F0502020204030204" pitchFamily="34" charset="0"/>
                          <a:cs typeface="Calibri" panose="020F0502020204030204" pitchFamily="34" charset="0"/>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de-DE" i="1" dirty="0"/>
                        <a:t>*a</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ⲱ |o|</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2095082"/>
                  </a:ext>
                </a:extLst>
              </a:tr>
              <a:tr h="37084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ⲁ |a|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i="1" dirty="0"/>
                        <a:t>*i</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ⲓ |i|</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3417860"/>
                  </a:ext>
                </a:extLst>
              </a:tr>
              <a:tr h="370840">
                <a:tc vMerge="1">
                  <a:txBody>
                    <a:bodyPr/>
                    <a:lstStyle/>
                    <a:p>
                      <a:pPr algn="ct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i="1" dirty="0"/>
                        <a:t>*</a:t>
                      </a:r>
                      <a:r>
                        <a:rPr lang="de-DE" i="1" dirty="0" err="1"/>
                        <a:t>u</a:t>
                      </a:r>
                      <a:endParaRPr lang="de-DE" i="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dirty="0">
                          <a:latin typeface="Calibri" panose="020F0502020204030204" pitchFamily="34" charset="0"/>
                          <a:cs typeface="Calibri" panose="020F0502020204030204" pitchFamily="34" charset="0"/>
                        </a:rPr>
                        <a:t>ⲏ |</a:t>
                      </a:r>
                      <a:r>
                        <a:rPr lang="de-DE" dirty="0" err="1">
                          <a:latin typeface="Calibri" panose="020F0502020204030204" pitchFamily="34" charset="0"/>
                          <a:cs typeface="Calibri" panose="020F0502020204030204" pitchFamily="34" charset="0"/>
                        </a:rPr>
                        <a:t>e</a:t>
                      </a:r>
                      <a:r>
                        <a:rPr lang="de-DE" dirty="0">
                          <a:latin typeface="Calibri" panose="020F0502020204030204" pitchFamily="34" charset="0"/>
                          <a:cs typeface="Calibri" panose="020F0502020204030204" pitchFamily="34" charset="0"/>
                        </a:rPr>
                        <a:t>|</a:t>
                      </a: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4285694"/>
                  </a:ext>
                </a:extLst>
              </a:tr>
            </a:tbl>
          </a:graphicData>
        </a:graphic>
      </p:graphicFrame>
      <p:sp>
        <p:nvSpPr>
          <p:cNvPr id="12" name="Pfeil nach rechts 11">
            <a:extLst>
              <a:ext uri="{FF2B5EF4-FFF2-40B4-BE49-F238E27FC236}">
                <a16:creationId xmlns:a16="http://schemas.microsoft.com/office/drawing/2014/main" id="{99E7C6B5-A617-188D-E5C3-4486E798F0AA}"/>
              </a:ext>
            </a:extLst>
          </p:cNvPr>
          <p:cNvSpPr/>
          <p:nvPr/>
        </p:nvSpPr>
        <p:spPr>
          <a:xfrm rot="10800000">
            <a:off x="3657436" y="2198978"/>
            <a:ext cx="1934508" cy="151974"/>
          </a:xfrm>
          <a:prstGeom prst="rightArrow">
            <a:avLst>
              <a:gd name="adj1" fmla="val 29393"/>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15" name="Pfeil nach rechts 14">
            <a:extLst>
              <a:ext uri="{FF2B5EF4-FFF2-40B4-BE49-F238E27FC236}">
                <a16:creationId xmlns:a16="http://schemas.microsoft.com/office/drawing/2014/main" id="{E41F4D19-A51E-1F2D-C266-DE6A73456363}"/>
              </a:ext>
            </a:extLst>
          </p:cNvPr>
          <p:cNvSpPr/>
          <p:nvPr/>
        </p:nvSpPr>
        <p:spPr>
          <a:xfrm>
            <a:off x="6312024" y="2198980"/>
            <a:ext cx="1934508" cy="169002"/>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17" name="Pfeil nach rechts 16">
            <a:extLst>
              <a:ext uri="{FF2B5EF4-FFF2-40B4-BE49-F238E27FC236}">
                <a16:creationId xmlns:a16="http://schemas.microsoft.com/office/drawing/2014/main" id="{13181B70-FAEF-EE04-1611-192861168AC9}"/>
              </a:ext>
            </a:extLst>
          </p:cNvPr>
          <p:cNvSpPr/>
          <p:nvPr/>
        </p:nvSpPr>
        <p:spPr>
          <a:xfrm rot="10800000">
            <a:off x="3657436" y="2740615"/>
            <a:ext cx="1358444" cy="182691"/>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cxnSp>
        <p:nvCxnSpPr>
          <p:cNvPr id="19" name="Gerade Verbindung 18">
            <a:extLst>
              <a:ext uri="{FF2B5EF4-FFF2-40B4-BE49-F238E27FC236}">
                <a16:creationId xmlns:a16="http://schemas.microsoft.com/office/drawing/2014/main" id="{14AB7950-9746-85B8-E450-B1B22711C439}"/>
              </a:ext>
            </a:extLst>
          </p:cNvPr>
          <p:cNvCxnSpPr>
            <a:cxnSpLocks/>
            <a:stCxn id="17" idx="1"/>
          </p:cNvCxnSpPr>
          <p:nvPr/>
        </p:nvCxnSpPr>
        <p:spPr>
          <a:xfrm flipV="1">
            <a:off x="5015880" y="2636912"/>
            <a:ext cx="576064" cy="195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23">
            <a:extLst>
              <a:ext uri="{FF2B5EF4-FFF2-40B4-BE49-F238E27FC236}">
                <a16:creationId xmlns:a16="http://schemas.microsoft.com/office/drawing/2014/main" id="{EB46622E-7DF6-155A-C162-BFEFA76353AF}"/>
              </a:ext>
            </a:extLst>
          </p:cNvPr>
          <p:cNvCxnSpPr>
            <a:cxnSpLocks/>
          </p:cNvCxnSpPr>
          <p:nvPr/>
        </p:nvCxnSpPr>
        <p:spPr>
          <a:xfrm>
            <a:off x="5015880" y="2808123"/>
            <a:ext cx="576064" cy="1690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FAD9EC8E-A435-0481-0D12-E27FCF0E3286}"/>
              </a:ext>
            </a:extLst>
          </p:cNvPr>
          <p:cNvCxnSpPr>
            <a:cxnSpLocks/>
          </p:cNvCxnSpPr>
          <p:nvPr/>
        </p:nvCxnSpPr>
        <p:spPr>
          <a:xfrm flipV="1">
            <a:off x="6240016" y="2814254"/>
            <a:ext cx="576064" cy="1826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 Verbindung 26">
            <a:extLst>
              <a:ext uri="{FF2B5EF4-FFF2-40B4-BE49-F238E27FC236}">
                <a16:creationId xmlns:a16="http://schemas.microsoft.com/office/drawing/2014/main" id="{207B0490-EA62-A064-FBEA-C89532423E35}"/>
              </a:ext>
            </a:extLst>
          </p:cNvPr>
          <p:cNvCxnSpPr>
            <a:cxnSpLocks/>
          </p:cNvCxnSpPr>
          <p:nvPr/>
        </p:nvCxnSpPr>
        <p:spPr>
          <a:xfrm>
            <a:off x="6240016" y="2624211"/>
            <a:ext cx="576064" cy="1690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 Verbindung 30">
            <a:extLst>
              <a:ext uri="{FF2B5EF4-FFF2-40B4-BE49-F238E27FC236}">
                <a16:creationId xmlns:a16="http://schemas.microsoft.com/office/drawing/2014/main" id="{ACCF1385-A420-45E4-7210-BBAADD9C49E8}"/>
              </a:ext>
            </a:extLst>
          </p:cNvPr>
          <p:cNvCxnSpPr>
            <a:cxnSpLocks/>
          </p:cNvCxnSpPr>
          <p:nvPr/>
        </p:nvCxnSpPr>
        <p:spPr>
          <a:xfrm>
            <a:off x="6816080" y="2802511"/>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Pfeil nach rechts 33">
            <a:extLst>
              <a:ext uri="{FF2B5EF4-FFF2-40B4-BE49-F238E27FC236}">
                <a16:creationId xmlns:a16="http://schemas.microsoft.com/office/drawing/2014/main" id="{4285CCA0-3BF8-EFEA-4119-567AC06FAB55}"/>
              </a:ext>
            </a:extLst>
          </p:cNvPr>
          <p:cNvSpPr/>
          <p:nvPr/>
        </p:nvSpPr>
        <p:spPr>
          <a:xfrm rot="20515918">
            <a:off x="7596212" y="2629720"/>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35" name="Pfeil nach rechts 34">
            <a:extLst>
              <a:ext uri="{FF2B5EF4-FFF2-40B4-BE49-F238E27FC236}">
                <a16:creationId xmlns:a16="http://schemas.microsoft.com/office/drawing/2014/main" id="{98B396AC-3271-B5DB-D303-9BFDD23C4B13}"/>
              </a:ext>
            </a:extLst>
          </p:cNvPr>
          <p:cNvSpPr/>
          <p:nvPr/>
        </p:nvSpPr>
        <p:spPr>
          <a:xfrm rot="1194057">
            <a:off x="7597160" y="2835738"/>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36" name="Textfeld 35">
            <a:extLst>
              <a:ext uri="{FF2B5EF4-FFF2-40B4-BE49-F238E27FC236}">
                <a16:creationId xmlns:a16="http://schemas.microsoft.com/office/drawing/2014/main" id="{F2BE9648-D838-CE16-858C-A9D1264B3B9A}"/>
              </a:ext>
            </a:extLst>
          </p:cNvPr>
          <p:cNvSpPr txBox="1"/>
          <p:nvPr/>
        </p:nvSpPr>
        <p:spPr>
          <a:xfrm>
            <a:off x="6699462" y="2996952"/>
            <a:ext cx="1080120" cy="432046"/>
          </a:xfrm>
          <a:prstGeom prst="rect">
            <a:avLst/>
          </a:prstGeom>
          <a:solidFill>
            <a:schemeClr val="bg1">
              <a:lumMod val="95000"/>
            </a:schemeClr>
          </a:solidFill>
          <a:ln w="9525"/>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ctr"/>
            <a:r>
              <a:rPr lang="en-GB" sz="1200" dirty="0"/>
              <a:t>?</a:t>
            </a:r>
          </a:p>
          <a:p>
            <a:pPr algn="ctr"/>
            <a:r>
              <a:rPr lang="en-GB" sz="1200" dirty="0"/>
              <a:t>Unclear Cond.</a:t>
            </a:r>
          </a:p>
        </p:txBody>
      </p:sp>
      <p:sp>
        <p:nvSpPr>
          <p:cNvPr id="37" name="Textfeld 36">
            <a:extLst>
              <a:ext uri="{FF2B5EF4-FFF2-40B4-BE49-F238E27FC236}">
                <a16:creationId xmlns:a16="http://schemas.microsoft.com/office/drawing/2014/main" id="{DF4F5263-6F0D-D277-808B-F6275D9F0226}"/>
              </a:ext>
            </a:extLst>
          </p:cNvPr>
          <p:cNvSpPr txBox="1"/>
          <p:nvPr/>
        </p:nvSpPr>
        <p:spPr>
          <a:xfrm>
            <a:off x="695399" y="3661904"/>
            <a:ext cx="9280127" cy="408631"/>
          </a:xfrm>
          <a:prstGeom prst="rect">
            <a:avLst/>
          </a:prstGeom>
          <a:noFill/>
        </p:spPr>
        <p:txBody>
          <a:bodyPr wrap="square" lIns="0" tIns="0" rIns="0" bIns="0" rtlCol="0">
            <a:noAutofit/>
          </a:bodyPr>
          <a:lstStyle/>
          <a:p>
            <a:pPr>
              <a:lnSpc>
                <a:spcPts val="2200"/>
              </a:lnSpc>
            </a:pPr>
            <a:r>
              <a:rPr lang="en-GB" b="1" noProof="1"/>
              <a:t>My model</a:t>
            </a:r>
            <a:r>
              <a:rPr lang="en-GB" noProof="1"/>
              <a:t>: 2 proto-Coptic vowels </a:t>
            </a:r>
            <a:r>
              <a:rPr lang="en-GB" i="1" noProof="1"/>
              <a:t>*a</a:t>
            </a:r>
            <a:r>
              <a:rPr lang="en-GB" noProof="1"/>
              <a:t>, </a:t>
            </a:r>
            <a:r>
              <a:rPr lang="en-GB" i="1" noProof="1"/>
              <a:t>*E </a:t>
            </a:r>
            <a:r>
              <a:rPr lang="en-GB" noProof="1"/>
              <a:t>( = non-*a )</a:t>
            </a:r>
          </a:p>
        </p:txBody>
      </p:sp>
      <p:graphicFrame>
        <p:nvGraphicFramePr>
          <p:cNvPr id="38" name="Tabelle 37">
            <a:extLst>
              <a:ext uri="{FF2B5EF4-FFF2-40B4-BE49-F238E27FC236}">
                <a16:creationId xmlns:a16="http://schemas.microsoft.com/office/drawing/2014/main" id="{7A4370EB-0C5F-5FD9-402A-C50C1D86B4B5}"/>
              </a:ext>
            </a:extLst>
          </p:cNvPr>
          <p:cNvGraphicFramePr>
            <a:graphicFrameLocks noGrp="1"/>
          </p:cNvGraphicFramePr>
          <p:nvPr>
            <p:extLst>
              <p:ext uri="{D42A27DB-BD31-4B8C-83A1-F6EECF244321}">
                <p14:modId xmlns:p14="http://schemas.microsoft.com/office/powerpoint/2010/main" val="465301667"/>
              </p:ext>
            </p:extLst>
          </p:nvPr>
        </p:nvGraphicFramePr>
        <p:xfrm>
          <a:off x="1847528" y="4274257"/>
          <a:ext cx="8127999"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21710929"/>
                    </a:ext>
                  </a:extLst>
                </a:gridCol>
                <a:gridCol w="2709333">
                  <a:extLst>
                    <a:ext uri="{9D8B030D-6E8A-4147-A177-3AD203B41FA5}">
                      <a16:colId xmlns:a16="http://schemas.microsoft.com/office/drawing/2014/main" val="3288776798"/>
                    </a:ext>
                  </a:extLst>
                </a:gridCol>
                <a:gridCol w="2709333">
                  <a:extLst>
                    <a:ext uri="{9D8B030D-6E8A-4147-A177-3AD203B41FA5}">
                      <a16:colId xmlns:a16="http://schemas.microsoft.com/office/drawing/2014/main" val="3625011177"/>
                    </a:ext>
                  </a:extLst>
                </a:gridCol>
              </a:tblGrid>
              <a:tr h="370840">
                <a:tc>
                  <a:txBody>
                    <a:bodyPr/>
                    <a:lstStyle/>
                    <a:p>
                      <a:pPr algn="ctr"/>
                      <a:r>
                        <a:rPr lang="de-DE" i="1" dirty="0"/>
                        <a:t>CVC</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b="1" dirty="0"/>
                        <a:t>Proto-</a:t>
                      </a:r>
                      <a:r>
                        <a:rPr lang="de-DE" b="1" dirty="0" err="1"/>
                        <a:t>Vowel</a:t>
                      </a:r>
                      <a:endParaRPr lang="de-DE"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i="1" dirty="0"/>
                        <a:t>CV</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73812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ⲟ |</a:t>
                      </a:r>
                      <a:r>
                        <a:rPr lang="de-DE" dirty="0" err="1">
                          <a:latin typeface="Calibri" panose="020F0502020204030204" pitchFamily="34" charset="0"/>
                          <a:cs typeface="Calibri" panose="020F0502020204030204" pitchFamily="34" charset="0"/>
                        </a:rPr>
                        <a:t>ɔ</a:t>
                      </a:r>
                      <a:r>
                        <a:rPr lang="de-DE" dirty="0">
                          <a:latin typeface="Calibri" panose="020F0502020204030204" pitchFamily="34" charset="0"/>
                          <a:cs typeface="Calibri" panose="020F0502020204030204" pitchFamily="34" charset="0"/>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de-DE" i="1" dirty="0"/>
                        <a:t>*a</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ⲱ |o|</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2095082"/>
                  </a:ext>
                </a:extLst>
              </a:tr>
              <a:tr h="37084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ⲁ |a|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rowSpan="2">
                  <a:txBody>
                    <a:bodyPr/>
                    <a:lstStyle/>
                    <a:p>
                      <a:pPr algn="ctr"/>
                      <a:r>
                        <a:rPr lang="de-DE" i="1" dirty="0"/>
                        <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ⲓ |i|</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3417860"/>
                  </a:ext>
                </a:extLst>
              </a:tr>
              <a:tr h="370840">
                <a:tc vMerge="1">
                  <a:txBody>
                    <a:bodyPr/>
                    <a:lstStyle/>
                    <a:p>
                      <a:pPr algn="ct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algn="ctr"/>
                      <a:endParaRPr lang="de-DE" i="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dirty="0">
                          <a:latin typeface="Calibri" panose="020F0502020204030204" pitchFamily="34" charset="0"/>
                          <a:cs typeface="Calibri" panose="020F0502020204030204" pitchFamily="34" charset="0"/>
                        </a:rPr>
                        <a:t>ⲏ |</a:t>
                      </a:r>
                      <a:r>
                        <a:rPr lang="de-DE" dirty="0" err="1">
                          <a:latin typeface="Calibri" panose="020F0502020204030204" pitchFamily="34" charset="0"/>
                          <a:cs typeface="Calibri" panose="020F0502020204030204" pitchFamily="34" charset="0"/>
                        </a:rPr>
                        <a:t>e</a:t>
                      </a:r>
                      <a:r>
                        <a:rPr lang="de-DE" dirty="0">
                          <a:latin typeface="Calibri" panose="020F0502020204030204" pitchFamily="34" charset="0"/>
                          <a:cs typeface="Calibri" panose="020F0502020204030204" pitchFamily="34" charset="0"/>
                        </a:rPr>
                        <a:t>|</a:t>
                      </a: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4285694"/>
                  </a:ext>
                </a:extLst>
              </a:tr>
            </a:tbl>
          </a:graphicData>
        </a:graphic>
      </p:graphicFrame>
      <p:sp>
        <p:nvSpPr>
          <p:cNvPr id="39" name="Pfeil nach rechts 38">
            <a:extLst>
              <a:ext uri="{FF2B5EF4-FFF2-40B4-BE49-F238E27FC236}">
                <a16:creationId xmlns:a16="http://schemas.microsoft.com/office/drawing/2014/main" id="{4C6F4ED6-2BF1-F270-BCCB-9F7B0331548F}"/>
              </a:ext>
            </a:extLst>
          </p:cNvPr>
          <p:cNvSpPr/>
          <p:nvPr/>
        </p:nvSpPr>
        <p:spPr>
          <a:xfrm rot="10800000">
            <a:off x="3657435" y="4782969"/>
            <a:ext cx="1934509" cy="157988"/>
          </a:xfrm>
          <a:prstGeom prst="rightArrow">
            <a:avLst>
              <a:gd name="adj1" fmla="val 29393"/>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40" name="Pfeil nach rechts 39">
            <a:extLst>
              <a:ext uri="{FF2B5EF4-FFF2-40B4-BE49-F238E27FC236}">
                <a16:creationId xmlns:a16="http://schemas.microsoft.com/office/drawing/2014/main" id="{CD33724A-E2B3-0CB4-A5BD-F4931D749D5E}"/>
              </a:ext>
            </a:extLst>
          </p:cNvPr>
          <p:cNvSpPr/>
          <p:nvPr/>
        </p:nvSpPr>
        <p:spPr>
          <a:xfrm>
            <a:off x="6312024" y="4782972"/>
            <a:ext cx="1934508" cy="157986"/>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cxnSp>
        <p:nvCxnSpPr>
          <p:cNvPr id="41" name="Gerade Verbindung 40">
            <a:extLst>
              <a:ext uri="{FF2B5EF4-FFF2-40B4-BE49-F238E27FC236}">
                <a16:creationId xmlns:a16="http://schemas.microsoft.com/office/drawing/2014/main" id="{B124F135-69BA-0847-ED66-700DBFE3BCF0}"/>
              </a:ext>
            </a:extLst>
          </p:cNvPr>
          <p:cNvCxnSpPr>
            <a:cxnSpLocks/>
          </p:cNvCxnSpPr>
          <p:nvPr/>
        </p:nvCxnSpPr>
        <p:spPr>
          <a:xfrm>
            <a:off x="6312024" y="5386502"/>
            <a:ext cx="12961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Pfeil nach rechts 41">
            <a:extLst>
              <a:ext uri="{FF2B5EF4-FFF2-40B4-BE49-F238E27FC236}">
                <a16:creationId xmlns:a16="http://schemas.microsoft.com/office/drawing/2014/main" id="{1F983B3C-7094-B644-6B80-165B72975B89}"/>
              </a:ext>
            </a:extLst>
          </p:cNvPr>
          <p:cNvSpPr/>
          <p:nvPr/>
        </p:nvSpPr>
        <p:spPr>
          <a:xfrm rot="20515918">
            <a:off x="7596212" y="5213711"/>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43" name="Pfeil nach rechts 42">
            <a:extLst>
              <a:ext uri="{FF2B5EF4-FFF2-40B4-BE49-F238E27FC236}">
                <a16:creationId xmlns:a16="http://schemas.microsoft.com/office/drawing/2014/main" id="{F4CA9F79-2D92-FD26-3516-4F94D4480016}"/>
              </a:ext>
            </a:extLst>
          </p:cNvPr>
          <p:cNvSpPr/>
          <p:nvPr/>
        </p:nvSpPr>
        <p:spPr>
          <a:xfrm rot="1194057">
            <a:off x="7597160" y="5419729"/>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44" name="Pfeil nach rechts 43">
            <a:extLst>
              <a:ext uri="{FF2B5EF4-FFF2-40B4-BE49-F238E27FC236}">
                <a16:creationId xmlns:a16="http://schemas.microsoft.com/office/drawing/2014/main" id="{83A5A78B-A535-8394-255A-40140914C2E0}"/>
              </a:ext>
            </a:extLst>
          </p:cNvPr>
          <p:cNvSpPr/>
          <p:nvPr/>
        </p:nvSpPr>
        <p:spPr>
          <a:xfrm rot="10800000">
            <a:off x="3657436" y="5330623"/>
            <a:ext cx="1934507" cy="147658"/>
          </a:xfrm>
          <a:prstGeom prst="rightArrow">
            <a:avLst>
              <a:gd name="adj1" fmla="val 29393"/>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47" name="Textfeld 46">
            <a:extLst>
              <a:ext uri="{FF2B5EF4-FFF2-40B4-BE49-F238E27FC236}">
                <a16:creationId xmlns:a16="http://schemas.microsoft.com/office/drawing/2014/main" id="{ED8E1B51-65AC-7347-4F2F-2A6990E1CBCA}"/>
              </a:ext>
            </a:extLst>
          </p:cNvPr>
          <p:cNvSpPr txBox="1"/>
          <p:nvPr/>
        </p:nvSpPr>
        <p:spPr>
          <a:xfrm>
            <a:off x="6344326" y="5549214"/>
            <a:ext cx="1243206" cy="638827"/>
          </a:xfrm>
          <a:prstGeom prst="rect">
            <a:avLst/>
          </a:prstGeom>
          <a:solidFill>
            <a:schemeClr val="bg1">
              <a:lumMod val="95000"/>
            </a:schemeClr>
          </a:solidFill>
          <a:ln w="9525"/>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ctr"/>
            <a:r>
              <a:rPr lang="en-GB" sz="1200" dirty="0"/>
              <a:t>→ </a:t>
            </a:r>
            <a:r>
              <a:rPr lang="de-DE" sz="1200" dirty="0">
                <a:latin typeface="Calibri" panose="020F0502020204030204" pitchFamily="34" charset="0"/>
                <a:cs typeface="Calibri" panose="020F0502020204030204" pitchFamily="34" charset="0"/>
              </a:rPr>
              <a:t>ⲓ |i|</a:t>
            </a:r>
            <a:r>
              <a:rPr lang="en-GB" sz="1200" dirty="0"/>
              <a:t> / _.E</a:t>
            </a:r>
          </a:p>
          <a:p>
            <a:pPr algn="ctr"/>
            <a:r>
              <a:rPr lang="en-GB" sz="1200" dirty="0"/>
              <a:t>→ </a:t>
            </a:r>
            <a:r>
              <a:rPr lang="de-DE" sz="1200" dirty="0">
                <a:latin typeface="Calibri" panose="020F0502020204030204" pitchFamily="34" charset="0"/>
                <a:cs typeface="Calibri" panose="020F0502020204030204" pitchFamily="34" charset="0"/>
              </a:rPr>
              <a:t>ⲏ |</a:t>
            </a:r>
            <a:r>
              <a:rPr lang="de-DE" sz="1200" dirty="0" err="1">
                <a:latin typeface="Calibri" panose="020F0502020204030204" pitchFamily="34" charset="0"/>
                <a:cs typeface="Calibri" panose="020F0502020204030204" pitchFamily="34" charset="0"/>
              </a:rPr>
              <a:t>e</a:t>
            </a:r>
            <a:r>
              <a:rPr lang="de-DE" sz="1200" dirty="0">
                <a:latin typeface="Calibri" panose="020F0502020204030204" pitchFamily="34" charset="0"/>
                <a:cs typeface="Calibri" panose="020F0502020204030204" pitchFamily="34" charset="0"/>
              </a:rPr>
              <a:t>|</a:t>
            </a:r>
            <a:r>
              <a:rPr lang="en-GB" sz="1200" dirty="0"/>
              <a:t> / _.a</a:t>
            </a:r>
          </a:p>
          <a:p>
            <a:pPr algn="ctr"/>
            <a:r>
              <a:rPr lang="en-GB" sz="1200" dirty="0"/>
              <a:t>(possibly others)</a:t>
            </a:r>
          </a:p>
        </p:txBody>
      </p:sp>
    </p:spTree>
    <p:extLst>
      <p:ext uri="{BB962C8B-B14F-4D97-AF65-F5344CB8AC3E}">
        <p14:creationId xmlns:p14="http://schemas.microsoft.com/office/powerpoint/2010/main" val="1084745638"/>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FE98-522E-04D5-6B5E-0D3BE469F8C3}"/>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57A19AAC-14F8-EF88-1CC3-52BF2A8D9AF8}"/>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B7EBF3D4-8E8A-2E1A-475D-8E3CEA608030}"/>
              </a:ext>
            </a:extLst>
          </p:cNvPr>
          <p:cNvSpPr>
            <a:spLocks noGrp="1"/>
          </p:cNvSpPr>
          <p:nvPr>
            <p:ph type="sldNum" sz="quarter" idx="12"/>
          </p:nvPr>
        </p:nvSpPr>
        <p:spPr/>
        <p:txBody>
          <a:bodyPr/>
          <a:lstStyle/>
          <a:p>
            <a:fld id="{B3811826-9277-4232-A2B5-17D05DFC7392}" type="slidenum">
              <a:rPr lang="en-GB" smtClean="0"/>
              <a:pPr/>
              <a:t>4</a:t>
            </a:fld>
            <a:endParaRPr lang="en-GB" dirty="0"/>
          </a:p>
        </p:txBody>
      </p:sp>
      <p:cxnSp>
        <p:nvCxnSpPr>
          <p:cNvPr id="9" name="Gerade Verbindung 7">
            <a:extLst>
              <a:ext uri="{FF2B5EF4-FFF2-40B4-BE49-F238E27FC236}">
                <a16:creationId xmlns:a16="http://schemas.microsoft.com/office/drawing/2014/main" id="{777C8217-3F61-943D-1782-AC1BE0F3EE73}"/>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899CAD5A-BB13-2041-4827-52F6B6D081FB}"/>
              </a:ext>
            </a:extLst>
          </p:cNvPr>
          <p:cNvSpPr>
            <a:spLocks noGrp="1"/>
          </p:cNvSpPr>
          <p:nvPr>
            <p:ph type="title"/>
          </p:nvPr>
        </p:nvSpPr>
        <p:spPr>
          <a:xfrm>
            <a:off x="334800" y="404813"/>
            <a:ext cx="11521840" cy="755936"/>
          </a:xfrm>
        </p:spPr>
        <p:txBody>
          <a:bodyPr/>
          <a:lstStyle/>
          <a:p>
            <a:r>
              <a:rPr lang="en-GB" dirty="0"/>
              <a:t>Proto-Coptic vowels: why do we need a new model?</a:t>
            </a:r>
          </a:p>
        </p:txBody>
      </p:sp>
      <p:sp>
        <p:nvSpPr>
          <p:cNvPr id="3" name="Datumsplatzhalter 3">
            <a:extLst>
              <a:ext uri="{FF2B5EF4-FFF2-40B4-BE49-F238E27FC236}">
                <a16:creationId xmlns:a16="http://schemas.microsoft.com/office/drawing/2014/main" id="{E33BE45A-D70A-82EE-1317-1A0AE03480B8}"/>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5E7A3B86-F3C6-8F11-FA1C-42855088B601}"/>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41499567-0318-FAF0-62E6-8E8907564458}"/>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28" name="Rechteck 27">
            <a:extLst>
              <a:ext uri="{FF2B5EF4-FFF2-40B4-BE49-F238E27FC236}">
                <a16:creationId xmlns:a16="http://schemas.microsoft.com/office/drawing/2014/main" id="{F1562D24-F9F5-0E52-0416-10DB3E8ED0BC}"/>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p>
        </p:txBody>
      </p:sp>
      <p:sp>
        <p:nvSpPr>
          <p:cNvPr id="15" name="Textfeld 14">
            <a:extLst>
              <a:ext uri="{FF2B5EF4-FFF2-40B4-BE49-F238E27FC236}">
                <a16:creationId xmlns:a16="http://schemas.microsoft.com/office/drawing/2014/main" id="{F37F7880-6C30-DFD5-F0C3-6DBB08030789}"/>
              </a:ext>
            </a:extLst>
          </p:cNvPr>
          <p:cNvSpPr txBox="1"/>
          <p:nvPr/>
        </p:nvSpPr>
        <p:spPr>
          <a:xfrm>
            <a:off x="7054523" y="4582264"/>
            <a:ext cx="4635408" cy="1287114"/>
          </a:xfrm>
          <a:prstGeom prst="rect">
            <a:avLst/>
          </a:prstGeom>
          <a:noFill/>
        </p:spPr>
        <p:txBody>
          <a:bodyPr wrap="square" lIns="0" tIns="0" rIns="0" bIns="0" rtlCol="0">
            <a:noAutofit/>
          </a:bodyPr>
          <a:lstStyle/>
          <a:p>
            <a:pPr>
              <a:lnSpc>
                <a:spcPts val="2200"/>
              </a:lnSpc>
            </a:pPr>
            <a:r>
              <a:rPr lang="en-GB" dirty="0"/>
              <a:t>The three-vowel system is not based on observation, but from the </a:t>
            </a:r>
            <a:r>
              <a:rPr lang="en-GB" i="1" dirty="0"/>
              <a:t>assumption</a:t>
            </a:r>
            <a:r>
              <a:rPr lang="en-GB" dirty="0"/>
              <a:t> that Egyptian must have had a Semitic-like vocalic system with 3 vowels</a:t>
            </a:r>
          </a:p>
        </p:txBody>
      </p:sp>
      <p:sp>
        <p:nvSpPr>
          <p:cNvPr id="18" name="Textfeld 17">
            <a:extLst>
              <a:ext uri="{FF2B5EF4-FFF2-40B4-BE49-F238E27FC236}">
                <a16:creationId xmlns:a16="http://schemas.microsoft.com/office/drawing/2014/main" id="{17B7AACE-9C16-2560-C2E9-9CA04D86A42D}"/>
              </a:ext>
            </a:extLst>
          </p:cNvPr>
          <p:cNvSpPr txBox="1"/>
          <p:nvPr/>
        </p:nvSpPr>
        <p:spPr>
          <a:xfrm>
            <a:off x="874643" y="4623802"/>
            <a:ext cx="4141237" cy="502920"/>
          </a:xfrm>
          <a:prstGeom prst="rect">
            <a:avLst/>
          </a:prstGeom>
          <a:noFill/>
        </p:spPr>
        <p:txBody>
          <a:bodyPr wrap="square" lIns="0" tIns="0" rIns="0" bIns="0" rtlCol="0">
            <a:noAutofit/>
          </a:bodyPr>
          <a:lstStyle/>
          <a:p>
            <a:pPr>
              <a:lnSpc>
                <a:spcPts val="2200"/>
              </a:lnSpc>
            </a:pPr>
            <a:r>
              <a:rPr lang="en-GB" dirty="0"/>
              <a:t>No one has been able to suggest a coherent, comprehensive set of rules to distinguish between </a:t>
            </a:r>
            <a:r>
              <a:rPr lang="en-GB" i="1" dirty="0"/>
              <a:t>*</a:t>
            </a:r>
            <a:r>
              <a:rPr lang="en-GB" i="1" dirty="0" err="1"/>
              <a:t>i</a:t>
            </a:r>
            <a:r>
              <a:rPr lang="en-GB" dirty="0"/>
              <a:t> and </a:t>
            </a:r>
            <a:r>
              <a:rPr lang="en-GB" i="1" dirty="0"/>
              <a:t>*u</a:t>
            </a:r>
            <a:r>
              <a:rPr lang="en-GB" dirty="0"/>
              <a:t> on the basis of the Coptic evidence</a:t>
            </a:r>
          </a:p>
        </p:txBody>
      </p:sp>
      <p:sp>
        <p:nvSpPr>
          <p:cNvPr id="19" name="Textfeld 18">
            <a:extLst>
              <a:ext uri="{FF2B5EF4-FFF2-40B4-BE49-F238E27FC236}">
                <a16:creationId xmlns:a16="http://schemas.microsoft.com/office/drawing/2014/main" id="{662EF09E-E0D3-BD1C-C82B-DC064ECD1DAF}"/>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noProof="1"/>
          </a:p>
        </p:txBody>
      </p:sp>
      <p:sp>
        <p:nvSpPr>
          <p:cNvPr id="20" name="Textfeld 19">
            <a:extLst>
              <a:ext uri="{FF2B5EF4-FFF2-40B4-BE49-F238E27FC236}">
                <a16:creationId xmlns:a16="http://schemas.microsoft.com/office/drawing/2014/main" id="{1E2BDDD1-4402-44E3-95F2-55C4DECB56A3}"/>
              </a:ext>
            </a:extLst>
          </p:cNvPr>
          <p:cNvSpPr txBox="1"/>
          <p:nvPr/>
        </p:nvSpPr>
        <p:spPr>
          <a:xfrm>
            <a:off x="695400" y="1135765"/>
            <a:ext cx="9280127" cy="408631"/>
          </a:xfrm>
          <a:prstGeom prst="rect">
            <a:avLst/>
          </a:prstGeom>
          <a:noFill/>
        </p:spPr>
        <p:txBody>
          <a:bodyPr wrap="square" lIns="0" tIns="0" rIns="0" bIns="0" rtlCol="0">
            <a:noAutofit/>
          </a:bodyPr>
          <a:lstStyle/>
          <a:p>
            <a:pPr>
              <a:lnSpc>
                <a:spcPts val="2200"/>
              </a:lnSpc>
            </a:pPr>
            <a:r>
              <a:rPr lang="en-GB" b="1" noProof="1"/>
              <a:t>Current model</a:t>
            </a:r>
            <a:r>
              <a:rPr lang="en-GB" noProof="1"/>
              <a:t>: 3 vowels </a:t>
            </a:r>
            <a:r>
              <a:rPr lang="en-GB" i="1" noProof="1"/>
              <a:t>*a</a:t>
            </a:r>
            <a:r>
              <a:rPr lang="en-GB" noProof="1"/>
              <a:t>, </a:t>
            </a:r>
            <a:r>
              <a:rPr lang="en-GB" i="1" noProof="1"/>
              <a:t>*i</a:t>
            </a:r>
            <a:r>
              <a:rPr lang="en-GB" noProof="1"/>
              <a:t>, </a:t>
            </a:r>
            <a:r>
              <a:rPr lang="en-GB" i="1" noProof="1"/>
              <a:t>*u</a:t>
            </a:r>
            <a:r>
              <a:rPr lang="en-GB" noProof="1"/>
              <a:t> at the Egyptian/Proto-Coptic level</a:t>
            </a:r>
          </a:p>
        </p:txBody>
      </p:sp>
      <p:graphicFrame>
        <p:nvGraphicFramePr>
          <p:cNvPr id="21" name="Tabelle 20">
            <a:extLst>
              <a:ext uri="{FF2B5EF4-FFF2-40B4-BE49-F238E27FC236}">
                <a16:creationId xmlns:a16="http://schemas.microsoft.com/office/drawing/2014/main" id="{9DFEE98D-84DC-5A34-61F5-93B0860E5C92}"/>
              </a:ext>
            </a:extLst>
          </p:cNvPr>
          <p:cNvGraphicFramePr>
            <a:graphicFrameLocks noGrp="1"/>
          </p:cNvGraphicFramePr>
          <p:nvPr>
            <p:extLst>
              <p:ext uri="{D42A27DB-BD31-4B8C-83A1-F6EECF244321}">
                <p14:modId xmlns:p14="http://schemas.microsoft.com/office/powerpoint/2010/main" val="4015032880"/>
              </p:ext>
            </p:extLst>
          </p:nvPr>
        </p:nvGraphicFramePr>
        <p:xfrm>
          <a:off x="1847528" y="1690266"/>
          <a:ext cx="8127999"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21710929"/>
                    </a:ext>
                  </a:extLst>
                </a:gridCol>
                <a:gridCol w="2709333">
                  <a:extLst>
                    <a:ext uri="{9D8B030D-6E8A-4147-A177-3AD203B41FA5}">
                      <a16:colId xmlns:a16="http://schemas.microsoft.com/office/drawing/2014/main" val="3288776798"/>
                    </a:ext>
                  </a:extLst>
                </a:gridCol>
                <a:gridCol w="2709333">
                  <a:extLst>
                    <a:ext uri="{9D8B030D-6E8A-4147-A177-3AD203B41FA5}">
                      <a16:colId xmlns:a16="http://schemas.microsoft.com/office/drawing/2014/main" val="3625011177"/>
                    </a:ext>
                  </a:extLst>
                </a:gridCol>
              </a:tblGrid>
              <a:tr h="370840">
                <a:tc>
                  <a:txBody>
                    <a:bodyPr/>
                    <a:lstStyle/>
                    <a:p>
                      <a:pPr algn="ctr"/>
                      <a:r>
                        <a:rPr lang="de-DE" i="1" dirty="0"/>
                        <a:t>CVC</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b="1" dirty="0"/>
                        <a:t>Proto-</a:t>
                      </a:r>
                      <a:r>
                        <a:rPr lang="de-DE" b="1" dirty="0" err="1"/>
                        <a:t>Vowel</a:t>
                      </a:r>
                      <a:endParaRPr lang="de-DE"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i="1" dirty="0"/>
                        <a:t>CV</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73812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ⲟ |</a:t>
                      </a:r>
                      <a:r>
                        <a:rPr lang="de-DE" dirty="0" err="1">
                          <a:latin typeface="Calibri" panose="020F0502020204030204" pitchFamily="34" charset="0"/>
                          <a:cs typeface="Calibri" panose="020F0502020204030204" pitchFamily="34" charset="0"/>
                        </a:rPr>
                        <a:t>ɔ</a:t>
                      </a:r>
                      <a:r>
                        <a:rPr lang="de-DE" dirty="0">
                          <a:latin typeface="Calibri" panose="020F0502020204030204" pitchFamily="34" charset="0"/>
                          <a:cs typeface="Calibri" panose="020F0502020204030204" pitchFamily="34" charset="0"/>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de-DE" i="1" dirty="0"/>
                        <a:t>*a</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ⲱ |o|</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2095082"/>
                  </a:ext>
                </a:extLst>
              </a:tr>
              <a:tr h="37084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ⲁ |a|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i="1" dirty="0"/>
                        <a:t>*i</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latin typeface="Calibri" panose="020F0502020204030204" pitchFamily="34" charset="0"/>
                          <a:cs typeface="Calibri" panose="020F0502020204030204" pitchFamily="34" charset="0"/>
                        </a:rPr>
                        <a:t>ⲓ |i|</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3417860"/>
                  </a:ext>
                </a:extLst>
              </a:tr>
              <a:tr h="370840">
                <a:tc vMerge="1">
                  <a:txBody>
                    <a:bodyPr/>
                    <a:lstStyle/>
                    <a:p>
                      <a:pPr algn="ct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i="1" dirty="0"/>
                        <a:t>*</a:t>
                      </a:r>
                      <a:r>
                        <a:rPr lang="de-DE" i="1" dirty="0" err="1"/>
                        <a:t>u</a:t>
                      </a:r>
                      <a:endParaRPr lang="de-DE" i="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de-DE" dirty="0">
                          <a:latin typeface="Calibri" panose="020F0502020204030204" pitchFamily="34" charset="0"/>
                          <a:cs typeface="Calibri" panose="020F0502020204030204" pitchFamily="34" charset="0"/>
                        </a:rPr>
                        <a:t>ⲏ |</a:t>
                      </a:r>
                      <a:r>
                        <a:rPr lang="de-DE" dirty="0" err="1">
                          <a:latin typeface="Calibri" panose="020F0502020204030204" pitchFamily="34" charset="0"/>
                          <a:cs typeface="Calibri" panose="020F0502020204030204" pitchFamily="34" charset="0"/>
                        </a:rPr>
                        <a:t>e</a:t>
                      </a:r>
                      <a:r>
                        <a:rPr lang="de-DE" dirty="0">
                          <a:latin typeface="Calibri" panose="020F0502020204030204" pitchFamily="34" charset="0"/>
                          <a:cs typeface="Calibri" panose="020F0502020204030204" pitchFamily="34" charset="0"/>
                        </a:rPr>
                        <a:t>|</a:t>
                      </a:r>
                      <a:endParaRPr lang="de-DE"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4285694"/>
                  </a:ext>
                </a:extLst>
              </a:tr>
            </a:tbl>
          </a:graphicData>
        </a:graphic>
      </p:graphicFrame>
      <p:sp>
        <p:nvSpPr>
          <p:cNvPr id="23" name="Pfeil nach rechts 22">
            <a:extLst>
              <a:ext uri="{FF2B5EF4-FFF2-40B4-BE49-F238E27FC236}">
                <a16:creationId xmlns:a16="http://schemas.microsoft.com/office/drawing/2014/main" id="{9350B812-9214-6433-1FCE-E4EA7B1EBC28}"/>
              </a:ext>
            </a:extLst>
          </p:cNvPr>
          <p:cNvSpPr/>
          <p:nvPr/>
        </p:nvSpPr>
        <p:spPr>
          <a:xfrm rot="10800000">
            <a:off x="3657436" y="2198978"/>
            <a:ext cx="1934508" cy="151974"/>
          </a:xfrm>
          <a:prstGeom prst="rightArrow">
            <a:avLst>
              <a:gd name="adj1" fmla="val 29393"/>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24" name="Pfeil nach rechts 23">
            <a:extLst>
              <a:ext uri="{FF2B5EF4-FFF2-40B4-BE49-F238E27FC236}">
                <a16:creationId xmlns:a16="http://schemas.microsoft.com/office/drawing/2014/main" id="{93637F04-DF2F-6EF5-7791-0DC59AA75548}"/>
              </a:ext>
            </a:extLst>
          </p:cNvPr>
          <p:cNvSpPr/>
          <p:nvPr/>
        </p:nvSpPr>
        <p:spPr>
          <a:xfrm>
            <a:off x="6312024" y="2198980"/>
            <a:ext cx="1934508" cy="169002"/>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26" name="Pfeil nach rechts 25">
            <a:extLst>
              <a:ext uri="{FF2B5EF4-FFF2-40B4-BE49-F238E27FC236}">
                <a16:creationId xmlns:a16="http://schemas.microsoft.com/office/drawing/2014/main" id="{A82F0B4D-3CAD-B989-7F2A-231FDFF5F4CB}"/>
              </a:ext>
            </a:extLst>
          </p:cNvPr>
          <p:cNvSpPr/>
          <p:nvPr/>
        </p:nvSpPr>
        <p:spPr>
          <a:xfrm rot="10800000">
            <a:off x="3657436" y="2740615"/>
            <a:ext cx="1358444" cy="182691"/>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cxnSp>
        <p:nvCxnSpPr>
          <p:cNvPr id="30" name="Gerade Verbindung 29">
            <a:extLst>
              <a:ext uri="{FF2B5EF4-FFF2-40B4-BE49-F238E27FC236}">
                <a16:creationId xmlns:a16="http://schemas.microsoft.com/office/drawing/2014/main" id="{7E7783F6-4164-E2D7-E723-239DBF62CFA0}"/>
              </a:ext>
            </a:extLst>
          </p:cNvPr>
          <p:cNvCxnSpPr>
            <a:cxnSpLocks/>
            <a:stCxn id="26" idx="1"/>
          </p:cNvCxnSpPr>
          <p:nvPr/>
        </p:nvCxnSpPr>
        <p:spPr>
          <a:xfrm flipV="1">
            <a:off x="5015880" y="2636912"/>
            <a:ext cx="576064" cy="195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 Verbindung 30">
            <a:extLst>
              <a:ext uri="{FF2B5EF4-FFF2-40B4-BE49-F238E27FC236}">
                <a16:creationId xmlns:a16="http://schemas.microsoft.com/office/drawing/2014/main" id="{B0415779-D48B-5BE7-08CD-8218E0F47828}"/>
              </a:ext>
            </a:extLst>
          </p:cNvPr>
          <p:cNvCxnSpPr>
            <a:cxnSpLocks/>
          </p:cNvCxnSpPr>
          <p:nvPr/>
        </p:nvCxnSpPr>
        <p:spPr>
          <a:xfrm>
            <a:off x="5015880" y="2808123"/>
            <a:ext cx="576064" cy="1690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 Verbindung 31">
            <a:extLst>
              <a:ext uri="{FF2B5EF4-FFF2-40B4-BE49-F238E27FC236}">
                <a16:creationId xmlns:a16="http://schemas.microsoft.com/office/drawing/2014/main" id="{2D34E0AF-71C4-BAD3-F430-6E58869C8082}"/>
              </a:ext>
            </a:extLst>
          </p:cNvPr>
          <p:cNvCxnSpPr>
            <a:cxnSpLocks/>
          </p:cNvCxnSpPr>
          <p:nvPr/>
        </p:nvCxnSpPr>
        <p:spPr>
          <a:xfrm flipV="1">
            <a:off x="6240016" y="2814254"/>
            <a:ext cx="576064" cy="1826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 Verbindung 32">
            <a:extLst>
              <a:ext uri="{FF2B5EF4-FFF2-40B4-BE49-F238E27FC236}">
                <a16:creationId xmlns:a16="http://schemas.microsoft.com/office/drawing/2014/main" id="{CF2076BA-BE8A-706A-DC2A-13135E504DC3}"/>
              </a:ext>
            </a:extLst>
          </p:cNvPr>
          <p:cNvCxnSpPr>
            <a:cxnSpLocks/>
          </p:cNvCxnSpPr>
          <p:nvPr/>
        </p:nvCxnSpPr>
        <p:spPr>
          <a:xfrm>
            <a:off x="6240016" y="2624211"/>
            <a:ext cx="576064" cy="1690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 Verbindung 33">
            <a:extLst>
              <a:ext uri="{FF2B5EF4-FFF2-40B4-BE49-F238E27FC236}">
                <a16:creationId xmlns:a16="http://schemas.microsoft.com/office/drawing/2014/main" id="{C7EF6AAE-F8E2-C2E9-13E8-E4DB21C127AD}"/>
              </a:ext>
            </a:extLst>
          </p:cNvPr>
          <p:cNvCxnSpPr>
            <a:cxnSpLocks/>
          </p:cNvCxnSpPr>
          <p:nvPr/>
        </p:nvCxnSpPr>
        <p:spPr>
          <a:xfrm>
            <a:off x="6816080" y="2802511"/>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Pfeil nach rechts 34">
            <a:extLst>
              <a:ext uri="{FF2B5EF4-FFF2-40B4-BE49-F238E27FC236}">
                <a16:creationId xmlns:a16="http://schemas.microsoft.com/office/drawing/2014/main" id="{286AA3A0-38F4-507A-4FD8-8B713DF0B082}"/>
              </a:ext>
            </a:extLst>
          </p:cNvPr>
          <p:cNvSpPr/>
          <p:nvPr/>
        </p:nvSpPr>
        <p:spPr>
          <a:xfrm rot="20515918">
            <a:off x="7596212" y="2629720"/>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36" name="Pfeil nach rechts 35">
            <a:extLst>
              <a:ext uri="{FF2B5EF4-FFF2-40B4-BE49-F238E27FC236}">
                <a16:creationId xmlns:a16="http://schemas.microsoft.com/office/drawing/2014/main" id="{FE951D9A-433B-4D21-7D89-A6A8D8A9C859}"/>
              </a:ext>
            </a:extLst>
          </p:cNvPr>
          <p:cNvSpPr/>
          <p:nvPr/>
        </p:nvSpPr>
        <p:spPr>
          <a:xfrm rot="1194057">
            <a:off x="7597160" y="2835738"/>
            <a:ext cx="641641" cy="157989"/>
          </a:xfrm>
          <a:prstGeom prst="rightArrow">
            <a:avLst>
              <a:gd name="adj1" fmla="val 23545"/>
              <a:gd name="adj2" fmla="val 110470"/>
            </a:avLst>
          </a:prstGeom>
          <a:solidFill>
            <a:schemeClr val="tx1">
              <a:lumMod val="85000"/>
              <a:lumOff val="1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dirty="0" err="1"/>
          </a:p>
        </p:txBody>
      </p:sp>
      <p:sp>
        <p:nvSpPr>
          <p:cNvPr id="37" name="Textfeld 36">
            <a:extLst>
              <a:ext uri="{FF2B5EF4-FFF2-40B4-BE49-F238E27FC236}">
                <a16:creationId xmlns:a16="http://schemas.microsoft.com/office/drawing/2014/main" id="{A04EA0A8-568D-6839-92EC-14E74C4D9F23}"/>
              </a:ext>
            </a:extLst>
          </p:cNvPr>
          <p:cNvSpPr txBox="1"/>
          <p:nvPr/>
        </p:nvSpPr>
        <p:spPr>
          <a:xfrm>
            <a:off x="6699462" y="2996952"/>
            <a:ext cx="1080120" cy="432046"/>
          </a:xfrm>
          <a:prstGeom prst="rect">
            <a:avLst/>
          </a:prstGeom>
          <a:solidFill>
            <a:schemeClr val="bg1">
              <a:lumMod val="95000"/>
            </a:schemeClr>
          </a:solidFill>
          <a:ln w="9525"/>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ctr"/>
            <a:r>
              <a:rPr lang="en-GB" sz="1200" dirty="0"/>
              <a:t>?</a:t>
            </a:r>
          </a:p>
          <a:p>
            <a:pPr algn="ctr"/>
            <a:r>
              <a:rPr lang="en-GB" sz="1200" dirty="0"/>
              <a:t>Unclear Cond.</a:t>
            </a:r>
          </a:p>
        </p:txBody>
      </p:sp>
      <p:sp>
        <p:nvSpPr>
          <p:cNvPr id="38" name="Titel 6">
            <a:extLst>
              <a:ext uri="{FF2B5EF4-FFF2-40B4-BE49-F238E27FC236}">
                <a16:creationId xmlns:a16="http://schemas.microsoft.com/office/drawing/2014/main" id="{AC24501B-CDA2-2085-5241-B9E01E1A15C4}"/>
              </a:ext>
            </a:extLst>
          </p:cNvPr>
          <p:cNvSpPr txBox="1">
            <a:spLocks/>
          </p:cNvSpPr>
          <p:nvPr/>
        </p:nvSpPr>
        <p:spPr>
          <a:xfrm>
            <a:off x="591962" y="4033175"/>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dirty="0">
                <a:latin typeface="Calibri" panose="020F0502020204030204" pitchFamily="34" charset="0"/>
                <a:cs typeface="Calibri" panose="020F0502020204030204" pitchFamily="34" charset="0"/>
              </a:rPr>
              <a:t>Practical problems</a:t>
            </a:r>
          </a:p>
        </p:txBody>
      </p:sp>
      <p:sp>
        <p:nvSpPr>
          <p:cNvPr id="39" name="Titel 6">
            <a:extLst>
              <a:ext uri="{FF2B5EF4-FFF2-40B4-BE49-F238E27FC236}">
                <a16:creationId xmlns:a16="http://schemas.microsoft.com/office/drawing/2014/main" id="{42F01906-B3DA-8E61-597F-8D2DF95CE227}"/>
              </a:ext>
            </a:extLst>
          </p:cNvPr>
          <p:cNvSpPr txBox="1">
            <a:spLocks/>
          </p:cNvSpPr>
          <p:nvPr/>
        </p:nvSpPr>
        <p:spPr>
          <a:xfrm>
            <a:off x="6888183" y="4033175"/>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dirty="0">
                <a:latin typeface="Calibri" panose="020F0502020204030204" pitchFamily="34" charset="0"/>
                <a:cs typeface="Calibri" panose="020F0502020204030204" pitchFamily="34" charset="0"/>
              </a:rPr>
              <a:t>Conceptual problems</a:t>
            </a:r>
          </a:p>
        </p:txBody>
      </p:sp>
      <p:sp>
        <p:nvSpPr>
          <p:cNvPr id="40" name="Pfeil nach rechts 39">
            <a:extLst>
              <a:ext uri="{FF2B5EF4-FFF2-40B4-BE49-F238E27FC236}">
                <a16:creationId xmlns:a16="http://schemas.microsoft.com/office/drawing/2014/main" id="{0BF64224-134E-C07B-E20C-7717AC0750EC}"/>
              </a:ext>
            </a:extLst>
          </p:cNvPr>
          <p:cNvSpPr/>
          <p:nvPr/>
        </p:nvSpPr>
        <p:spPr>
          <a:xfrm rot="10800000">
            <a:off x="5518659" y="4685119"/>
            <a:ext cx="720080" cy="800129"/>
          </a:xfrm>
          <a:prstGeom prst="rightArrow">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err="1"/>
          </a:p>
        </p:txBody>
      </p:sp>
    </p:spTree>
    <p:extLst>
      <p:ext uri="{BB962C8B-B14F-4D97-AF65-F5344CB8AC3E}">
        <p14:creationId xmlns:p14="http://schemas.microsoft.com/office/powerpoint/2010/main" val="325101073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B244-AD8B-0205-01AC-CACBDDD972F2}"/>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6DBE23B1-6228-3FA0-39FD-868E8025B668}"/>
              </a:ext>
            </a:extLst>
          </p:cNvPr>
          <p:cNvSpPr>
            <a:spLocks noGrp="1"/>
          </p:cNvSpPr>
          <p:nvPr>
            <p:ph type="ftr" sz="quarter" idx="11"/>
          </p:nvPr>
        </p:nvSpPr>
        <p:spPr/>
        <p:txBody>
          <a:bodyPr/>
          <a:lstStyle/>
          <a:p>
            <a:pPr algn="r"/>
            <a:r>
              <a:rPr lang="en-GB" noProof="1"/>
              <a:t>University of Basel</a:t>
            </a:r>
          </a:p>
        </p:txBody>
      </p:sp>
      <p:sp>
        <p:nvSpPr>
          <p:cNvPr id="6" name="Foliennummernplatzhalter 5">
            <a:extLst>
              <a:ext uri="{FF2B5EF4-FFF2-40B4-BE49-F238E27FC236}">
                <a16:creationId xmlns:a16="http://schemas.microsoft.com/office/drawing/2014/main" id="{E5885A58-25CC-0935-3B64-111D0E4ED7A3}"/>
              </a:ext>
            </a:extLst>
          </p:cNvPr>
          <p:cNvSpPr>
            <a:spLocks noGrp="1"/>
          </p:cNvSpPr>
          <p:nvPr>
            <p:ph type="sldNum" sz="quarter" idx="12"/>
          </p:nvPr>
        </p:nvSpPr>
        <p:spPr/>
        <p:txBody>
          <a:bodyPr/>
          <a:lstStyle/>
          <a:p>
            <a:fld id="{B3811826-9277-4232-A2B5-17D05DFC7392}" type="slidenum">
              <a:rPr lang="en-GB" noProof="1" smtClean="0"/>
              <a:pPr/>
              <a:t>5</a:t>
            </a:fld>
            <a:endParaRPr lang="en-GB" noProof="1"/>
          </a:p>
        </p:txBody>
      </p:sp>
      <p:cxnSp>
        <p:nvCxnSpPr>
          <p:cNvPr id="9" name="Gerade Verbindung 7">
            <a:extLst>
              <a:ext uri="{FF2B5EF4-FFF2-40B4-BE49-F238E27FC236}">
                <a16:creationId xmlns:a16="http://schemas.microsoft.com/office/drawing/2014/main" id="{38E5EBB1-CCE9-0143-235F-87D38B4A0949}"/>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B094E86F-F9DE-FDA2-0C8C-F032B61CC583}"/>
              </a:ext>
            </a:extLst>
          </p:cNvPr>
          <p:cNvSpPr>
            <a:spLocks noGrp="1"/>
          </p:cNvSpPr>
          <p:nvPr>
            <p:ph type="dt" sz="half" idx="10"/>
          </p:nvPr>
        </p:nvSpPr>
        <p:spPr>
          <a:xfrm>
            <a:off x="334800" y="6524626"/>
            <a:ext cx="3816984" cy="180000"/>
          </a:xfrm>
        </p:spPr>
        <p:txBody>
          <a:bodyPr/>
          <a:lstStyle/>
          <a:p>
            <a:r>
              <a:rPr lang="en-GB" noProof="1"/>
              <a:t>The Emergence of Ancient Egyptian</a:t>
            </a:r>
          </a:p>
        </p:txBody>
      </p:sp>
      <p:sp>
        <p:nvSpPr>
          <p:cNvPr id="16" name="Textfeld 15">
            <a:extLst>
              <a:ext uri="{FF2B5EF4-FFF2-40B4-BE49-F238E27FC236}">
                <a16:creationId xmlns:a16="http://schemas.microsoft.com/office/drawing/2014/main" id="{737B1A54-ADA3-D69B-035E-31C8F2A76B90}"/>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noProof="1"/>
          </a:p>
        </p:txBody>
      </p:sp>
      <p:sp>
        <p:nvSpPr>
          <p:cNvPr id="11" name="Textfeld 10">
            <a:extLst>
              <a:ext uri="{FF2B5EF4-FFF2-40B4-BE49-F238E27FC236}">
                <a16:creationId xmlns:a16="http://schemas.microsoft.com/office/drawing/2014/main" id="{E8EAFAB6-74BE-924F-DF84-27E7F092B32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noProof="1"/>
          </a:p>
        </p:txBody>
      </p:sp>
      <p:sp>
        <p:nvSpPr>
          <p:cNvPr id="28" name="Rechteck 27">
            <a:extLst>
              <a:ext uri="{FF2B5EF4-FFF2-40B4-BE49-F238E27FC236}">
                <a16:creationId xmlns:a16="http://schemas.microsoft.com/office/drawing/2014/main" id="{93B09001-C534-3635-934E-E50B191C8D87}"/>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8" name="Textfeld 17">
            <a:extLst>
              <a:ext uri="{FF2B5EF4-FFF2-40B4-BE49-F238E27FC236}">
                <a16:creationId xmlns:a16="http://schemas.microsoft.com/office/drawing/2014/main" id="{07036BE9-A590-881B-D996-321FF3279599}"/>
              </a:ext>
            </a:extLst>
          </p:cNvPr>
          <p:cNvSpPr txBox="1"/>
          <p:nvPr/>
        </p:nvSpPr>
        <p:spPr>
          <a:xfrm>
            <a:off x="999038" y="1915508"/>
            <a:ext cx="10137522" cy="638401"/>
          </a:xfrm>
          <a:prstGeom prst="rect">
            <a:avLst/>
          </a:prstGeom>
          <a:noFill/>
        </p:spPr>
        <p:txBody>
          <a:bodyPr wrap="square" lIns="0" tIns="0" rIns="0" bIns="0" rtlCol="0">
            <a:noAutofit/>
          </a:bodyPr>
          <a:lstStyle/>
          <a:p>
            <a:pPr>
              <a:lnSpc>
                <a:spcPts val="2200"/>
              </a:lnSpc>
            </a:pPr>
            <a:r>
              <a:rPr lang="en-GB" noProof="1"/>
              <a:t>Supporters of the current model generally agree that </a:t>
            </a:r>
            <a:r>
              <a:rPr lang="en-GB" i="1" noProof="1"/>
              <a:t>*i</a:t>
            </a:r>
            <a:r>
              <a:rPr lang="en-GB" noProof="1"/>
              <a:t> and </a:t>
            </a:r>
            <a:r>
              <a:rPr lang="en-GB" i="1" noProof="1"/>
              <a:t>*u</a:t>
            </a:r>
            <a:r>
              <a:rPr lang="en-GB" noProof="1"/>
              <a:t> merged in closed syllables.</a:t>
            </a:r>
          </a:p>
          <a:p>
            <a:pPr>
              <a:lnSpc>
                <a:spcPts val="2200"/>
              </a:lnSpc>
            </a:pPr>
            <a:endParaRPr lang="en-GB" noProof="1"/>
          </a:p>
          <a:p>
            <a:pPr>
              <a:lnSpc>
                <a:spcPts val="2200"/>
              </a:lnSpc>
            </a:pPr>
            <a:r>
              <a:rPr lang="en-GB" noProof="1"/>
              <a:t>There have been attempts to interpret apparent allophonic variants between </a:t>
            </a:r>
            <a:r>
              <a:rPr lang="de-DE" dirty="0">
                <a:latin typeface="Calibri" panose="020F0502020204030204" pitchFamily="34" charset="0"/>
                <a:cs typeface="Calibri" panose="020F0502020204030204" pitchFamily="34" charset="0"/>
              </a:rPr>
              <a:t>ⲁ |á|</a:t>
            </a:r>
            <a:r>
              <a:rPr lang="en-GB" noProof="1"/>
              <a:t> and ⲉ |ɛ́| as reflecting originally distinct protovowels, but no coherent, predictive model has been suggested.</a:t>
            </a:r>
          </a:p>
        </p:txBody>
      </p:sp>
      <p:sp>
        <p:nvSpPr>
          <p:cNvPr id="12" name="Titel 6">
            <a:extLst>
              <a:ext uri="{FF2B5EF4-FFF2-40B4-BE49-F238E27FC236}">
                <a16:creationId xmlns:a16="http://schemas.microsoft.com/office/drawing/2014/main" id="{654120AF-6501-766E-CCCA-29935233C1C9}"/>
              </a:ext>
            </a:extLst>
          </p:cNvPr>
          <p:cNvSpPr>
            <a:spLocks noGrp="1"/>
          </p:cNvSpPr>
          <p:nvPr>
            <p:ph type="title"/>
          </p:nvPr>
        </p:nvSpPr>
        <p:spPr>
          <a:xfrm>
            <a:off x="334800" y="404813"/>
            <a:ext cx="11521840" cy="755936"/>
          </a:xfrm>
        </p:spPr>
        <p:txBody>
          <a:bodyPr/>
          <a:lstStyle/>
          <a:p>
            <a:r>
              <a:rPr lang="en-GB" noProof="1"/>
              <a:t>Current Model: the problem of </a:t>
            </a:r>
            <a:r>
              <a:rPr lang="en-GB" i="1" noProof="1"/>
              <a:t>*i</a:t>
            </a:r>
            <a:r>
              <a:rPr lang="en-GB" noProof="1"/>
              <a:t> vs </a:t>
            </a:r>
            <a:r>
              <a:rPr lang="en-GB" i="1" noProof="1"/>
              <a:t>*u</a:t>
            </a:r>
          </a:p>
        </p:txBody>
      </p:sp>
      <p:sp>
        <p:nvSpPr>
          <p:cNvPr id="14" name="Titel 6">
            <a:extLst>
              <a:ext uri="{FF2B5EF4-FFF2-40B4-BE49-F238E27FC236}">
                <a16:creationId xmlns:a16="http://schemas.microsoft.com/office/drawing/2014/main" id="{00664004-965E-9E3F-783E-55209C59AC18}"/>
              </a:ext>
            </a:extLst>
          </p:cNvPr>
          <p:cNvSpPr txBox="1">
            <a:spLocks/>
          </p:cNvSpPr>
          <p:nvPr/>
        </p:nvSpPr>
        <p:spPr>
          <a:xfrm>
            <a:off x="695400" y="1295734"/>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In closed syllables</a:t>
            </a:r>
          </a:p>
        </p:txBody>
      </p:sp>
      <p:pic>
        <p:nvPicPr>
          <p:cNvPr id="19" name="Grafik 18">
            <a:extLst>
              <a:ext uri="{FF2B5EF4-FFF2-40B4-BE49-F238E27FC236}">
                <a16:creationId xmlns:a16="http://schemas.microsoft.com/office/drawing/2014/main" id="{9386FB38-0A99-7B84-FBFB-69434CC77F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380709" y="1393249"/>
            <a:ext cx="2449372" cy="6520874"/>
          </a:xfrm>
          <a:prstGeom prst="rect">
            <a:avLst/>
          </a:prstGeom>
        </p:spPr>
      </p:pic>
      <p:sp>
        <p:nvSpPr>
          <p:cNvPr id="20" name="Textfeld 19">
            <a:extLst>
              <a:ext uri="{FF2B5EF4-FFF2-40B4-BE49-F238E27FC236}">
                <a16:creationId xmlns:a16="http://schemas.microsoft.com/office/drawing/2014/main" id="{5F5EF49A-7C6A-E6F0-4A4E-980130F75878}"/>
              </a:ext>
            </a:extLst>
          </p:cNvPr>
          <p:cNvSpPr txBox="1"/>
          <p:nvPr/>
        </p:nvSpPr>
        <p:spPr>
          <a:xfrm>
            <a:off x="695400" y="5894114"/>
            <a:ext cx="2088232" cy="319201"/>
          </a:xfrm>
          <a:prstGeom prst="rect">
            <a:avLst/>
          </a:prstGeom>
          <a:noFill/>
        </p:spPr>
        <p:txBody>
          <a:bodyPr wrap="square" lIns="0" tIns="0" rIns="0" bIns="0" rtlCol="0">
            <a:noAutofit/>
          </a:bodyPr>
          <a:lstStyle/>
          <a:p>
            <a:pPr>
              <a:lnSpc>
                <a:spcPts val="2200"/>
              </a:lnSpc>
            </a:pPr>
            <a:r>
              <a:rPr lang="fr-CH" sz="1200" noProof="1"/>
              <a:t>Osing 1976, 18</a:t>
            </a:r>
            <a:endParaRPr lang="en-GB" sz="1200" noProof="1"/>
          </a:p>
        </p:txBody>
      </p:sp>
      <p:pic>
        <p:nvPicPr>
          <p:cNvPr id="22" name="Grafik 21">
            <a:extLst>
              <a:ext uri="{FF2B5EF4-FFF2-40B4-BE49-F238E27FC236}">
                <a16:creationId xmlns:a16="http://schemas.microsoft.com/office/drawing/2014/main" id="{E824EEB9-18AD-6D86-C227-8486F29800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4192" y="4007054"/>
            <a:ext cx="3402594" cy="372275"/>
          </a:xfrm>
          <a:prstGeom prst="rect">
            <a:avLst/>
          </a:prstGeom>
        </p:spPr>
      </p:pic>
      <p:pic>
        <p:nvPicPr>
          <p:cNvPr id="24" name="Grafik 23">
            <a:extLst>
              <a:ext uri="{FF2B5EF4-FFF2-40B4-BE49-F238E27FC236}">
                <a16:creationId xmlns:a16="http://schemas.microsoft.com/office/drawing/2014/main" id="{7884AF1D-3209-3DE2-C611-88218D443B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4192" y="4455453"/>
            <a:ext cx="2808312" cy="388963"/>
          </a:xfrm>
          <a:prstGeom prst="rect">
            <a:avLst/>
          </a:prstGeom>
        </p:spPr>
      </p:pic>
      <p:sp>
        <p:nvSpPr>
          <p:cNvPr id="25" name="Textfeld 24">
            <a:extLst>
              <a:ext uri="{FF2B5EF4-FFF2-40B4-BE49-F238E27FC236}">
                <a16:creationId xmlns:a16="http://schemas.microsoft.com/office/drawing/2014/main" id="{F9229EC4-0E53-9D58-AB5E-8072FC9216EE}"/>
              </a:ext>
            </a:extLst>
          </p:cNvPr>
          <p:cNvSpPr txBox="1"/>
          <p:nvPr/>
        </p:nvSpPr>
        <p:spPr>
          <a:xfrm>
            <a:off x="8506337" y="5116973"/>
            <a:ext cx="1694119" cy="283241"/>
          </a:xfrm>
          <a:prstGeom prst="rect">
            <a:avLst/>
          </a:prstGeom>
          <a:noFill/>
        </p:spPr>
        <p:txBody>
          <a:bodyPr wrap="square" lIns="0" tIns="0" rIns="0" bIns="0" rtlCol="0">
            <a:noAutofit/>
          </a:bodyPr>
          <a:lstStyle/>
          <a:p>
            <a:pPr>
              <a:lnSpc>
                <a:spcPts val="2200"/>
              </a:lnSpc>
            </a:pPr>
            <a:r>
              <a:rPr lang="fr-CH" sz="1200" noProof="1"/>
              <a:t>Loprieno 1995, 39</a:t>
            </a:r>
            <a:endParaRPr lang="en-GB" sz="1200" noProof="1"/>
          </a:p>
        </p:txBody>
      </p:sp>
      <p:cxnSp>
        <p:nvCxnSpPr>
          <p:cNvPr id="27" name="Gerade Verbindung 26">
            <a:extLst>
              <a:ext uri="{FF2B5EF4-FFF2-40B4-BE49-F238E27FC236}">
                <a16:creationId xmlns:a16="http://schemas.microsoft.com/office/drawing/2014/main" id="{75D37896-BB4A-07EA-BA00-F37A638456D4}"/>
              </a:ext>
            </a:extLst>
          </p:cNvPr>
          <p:cNvCxnSpPr/>
          <p:nvPr/>
        </p:nvCxnSpPr>
        <p:spPr>
          <a:xfrm>
            <a:off x="7320136" y="3429000"/>
            <a:ext cx="0" cy="278431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75788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7BB6B-A9D3-4474-0D5B-76BB9628CE82}"/>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6EE63868-1EF4-11A5-1121-316DEE8A2C05}"/>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D2C3AAC3-54CD-CDC7-32F9-A554991D3881}"/>
              </a:ext>
            </a:extLst>
          </p:cNvPr>
          <p:cNvSpPr>
            <a:spLocks noGrp="1"/>
          </p:cNvSpPr>
          <p:nvPr>
            <p:ph type="sldNum" sz="quarter" idx="12"/>
          </p:nvPr>
        </p:nvSpPr>
        <p:spPr/>
        <p:txBody>
          <a:bodyPr/>
          <a:lstStyle/>
          <a:p>
            <a:fld id="{B3811826-9277-4232-A2B5-17D05DFC7392}" type="slidenum">
              <a:rPr lang="de-CH" smtClean="0"/>
              <a:pPr/>
              <a:t>6</a:t>
            </a:fld>
            <a:endParaRPr lang="de-CH" dirty="0"/>
          </a:p>
        </p:txBody>
      </p:sp>
      <p:cxnSp>
        <p:nvCxnSpPr>
          <p:cNvPr id="9" name="Gerade Verbindung 7">
            <a:extLst>
              <a:ext uri="{FF2B5EF4-FFF2-40B4-BE49-F238E27FC236}">
                <a16:creationId xmlns:a16="http://schemas.microsoft.com/office/drawing/2014/main" id="{02708257-93E1-DB01-4AD9-BD651D64E70A}"/>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ADEC2BCC-9923-3CB3-B5D2-8D88EA5C37C2}"/>
              </a:ext>
            </a:extLst>
          </p:cNvPr>
          <p:cNvSpPr>
            <a:spLocks noGrp="1"/>
          </p:cNvSpPr>
          <p:nvPr>
            <p:ph type="title"/>
          </p:nvPr>
        </p:nvSpPr>
        <p:spPr>
          <a:xfrm>
            <a:off x="334800" y="404813"/>
            <a:ext cx="11521840" cy="755936"/>
          </a:xfrm>
        </p:spPr>
        <p:txBody>
          <a:bodyPr/>
          <a:lstStyle/>
          <a:p>
            <a:r>
              <a:rPr lang="en-GB" dirty="0"/>
              <a:t>Current Model: the problem of </a:t>
            </a:r>
            <a:r>
              <a:rPr lang="en-GB" i="1" dirty="0"/>
              <a:t>*</a:t>
            </a:r>
            <a:r>
              <a:rPr lang="en-GB" i="1" dirty="0" err="1"/>
              <a:t>i</a:t>
            </a:r>
            <a:r>
              <a:rPr lang="en-GB" dirty="0"/>
              <a:t> vs </a:t>
            </a:r>
            <a:r>
              <a:rPr lang="en-GB" i="1" dirty="0"/>
              <a:t>*u</a:t>
            </a:r>
            <a:endParaRPr lang="de-CH" i="1" dirty="0"/>
          </a:p>
        </p:txBody>
      </p:sp>
      <p:sp>
        <p:nvSpPr>
          <p:cNvPr id="3" name="Datumsplatzhalter 3">
            <a:extLst>
              <a:ext uri="{FF2B5EF4-FFF2-40B4-BE49-F238E27FC236}">
                <a16:creationId xmlns:a16="http://schemas.microsoft.com/office/drawing/2014/main" id="{FA30161D-AE18-0748-F89B-F4C746A1F085}"/>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7B0C7447-4AE1-546D-8EFD-2111FED30244}"/>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7541C97A-891C-F2C3-F9A1-A61D94DBE4BE}"/>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D85A9BB3-876F-E9C4-DDC3-8D12FDB177C7}"/>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4" name="Textfeld 3">
            <a:extLst>
              <a:ext uri="{FF2B5EF4-FFF2-40B4-BE49-F238E27FC236}">
                <a16:creationId xmlns:a16="http://schemas.microsoft.com/office/drawing/2014/main" id="{CF143178-0856-262F-FD20-F65901557FF8}"/>
              </a:ext>
            </a:extLst>
          </p:cNvPr>
          <p:cNvSpPr txBox="1"/>
          <p:nvPr/>
        </p:nvSpPr>
        <p:spPr>
          <a:xfrm>
            <a:off x="839416" y="1743672"/>
            <a:ext cx="10137522" cy="1224136"/>
          </a:xfrm>
          <a:prstGeom prst="rect">
            <a:avLst/>
          </a:prstGeom>
          <a:noFill/>
        </p:spPr>
        <p:txBody>
          <a:bodyPr wrap="square" lIns="0" tIns="0" rIns="0" bIns="0" rtlCol="0">
            <a:noAutofit/>
          </a:bodyPr>
          <a:lstStyle/>
          <a:p>
            <a:pPr>
              <a:lnSpc>
                <a:spcPts val="2200"/>
              </a:lnSpc>
            </a:pPr>
            <a:r>
              <a:rPr lang="en-GB" noProof="1"/>
              <a:t>- Current models link ⲓ /i/ and ⲏ /e/ to Proto-Coptic vowels </a:t>
            </a:r>
            <a:r>
              <a:rPr lang="en-GB" i="1" noProof="1"/>
              <a:t>*i</a:t>
            </a:r>
            <a:r>
              <a:rPr lang="en-GB" noProof="1"/>
              <a:t> and </a:t>
            </a:r>
            <a:r>
              <a:rPr lang="en-GB" i="1" noProof="1"/>
              <a:t>*u</a:t>
            </a:r>
            <a:r>
              <a:rPr lang="en-GB" noProof="1"/>
              <a:t>. </a:t>
            </a:r>
          </a:p>
          <a:p>
            <a:pPr>
              <a:lnSpc>
                <a:spcPts val="2200"/>
              </a:lnSpc>
            </a:pPr>
            <a:r>
              <a:rPr lang="en-GB" noProof="1"/>
              <a:t>- Scholars have turned to cuneiform transcriptions and Semitic loanwords to test this idea. </a:t>
            </a:r>
          </a:p>
          <a:p>
            <a:pPr marL="138113" indent="-138113">
              <a:lnSpc>
                <a:spcPts val="2200"/>
              </a:lnSpc>
            </a:pPr>
            <a:r>
              <a:rPr lang="en-GB" noProof="1"/>
              <a:t>- However, the evidence is inconclusive: both Akkdian/Semitic </a:t>
            </a:r>
            <a:r>
              <a:rPr lang="en-GB" i="1" noProof="1"/>
              <a:t>i</a:t>
            </a:r>
            <a:r>
              <a:rPr lang="en-GB" noProof="1"/>
              <a:t> and </a:t>
            </a:r>
            <a:r>
              <a:rPr lang="en-GB" i="1" noProof="1"/>
              <a:t>u</a:t>
            </a:r>
            <a:r>
              <a:rPr lang="en-GB" noProof="1"/>
              <a:t> appear to correspond to both Coptic vowels.</a:t>
            </a:r>
          </a:p>
          <a:p>
            <a:pPr>
              <a:lnSpc>
                <a:spcPts val="2200"/>
              </a:lnSpc>
            </a:pPr>
            <a:endParaRPr lang="en-GB" noProof="1"/>
          </a:p>
        </p:txBody>
      </p:sp>
      <p:sp>
        <p:nvSpPr>
          <p:cNvPr id="7" name="Titel 6">
            <a:extLst>
              <a:ext uri="{FF2B5EF4-FFF2-40B4-BE49-F238E27FC236}">
                <a16:creationId xmlns:a16="http://schemas.microsoft.com/office/drawing/2014/main" id="{A43D7916-5713-17DF-414A-5732F3EEB36D}"/>
              </a:ext>
            </a:extLst>
          </p:cNvPr>
          <p:cNvSpPr txBox="1">
            <a:spLocks/>
          </p:cNvSpPr>
          <p:nvPr/>
        </p:nvSpPr>
        <p:spPr>
          <a:xfrm>
            <a:off x="703796" y="1163655"/>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In open syllables</a:t>
            </a:r>
          </a:p>
        </p:txBody>
      </p:sp>
      <p:sp>
        <p:nvSpPr>
          <p:cNvPr id="12" name="Titel 6">
            <a:extLst>
              <a:ext uri="{FF2B5EF4-FFF2-40B4-BE49-F238E27FC236}">
                <a16:creationId xmlns:a16="http://schemas.microsoft.com/office/drawing/2014/main" id="{7313D174-C05A-6B8D-A967-D29075AE56BC}"/>
              </a:ext>
            </a:extLst>
          </p:cNvPr>
          <p:cNvSpPr txBox="1">
            <a:spLocks/>
          </p:cNvSpPr>
          <p:nvPr/>
        </p:nvSpPr>
        <p:spPr>
          <a:xfrm>
            <a:off x="674331" y="3993153"/>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Suggested solution</a:t>
            </a:r>
          </a:p>
        </p:txBody>
      </p:sp>
      <p:sp>
        <p:nvSpPr>
          <p:cNvPr id="13" name="Rectangle 1">
            <a:extLst>
              <a:ext uri="{FF2B5EF4-FFF2-40B4-BE49-F238E27FC236}">
                <a16:creationId xmlns:a16="http://schemas.microsoft.com/office/drawing/2014/main" id="{0B1F1832-014A-A18C-2B36-2BD1263056DD}"/>
              </a:ext>
            </a:extLst>
          </p:cNvPr>
          <p:cNvSpPr>
            <a:spLocks noChangeArrowheads="1"/>
          </p:cNvSpPr>
          <p:nvPr/>
        </p:nvSpPr>
        <p:spPr bwMode="auto">
          <a:xfrm>
            <a:off x="648466" y="3075930"/>
            <a:ext cx="595173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FontTx/>
              <a:buChar char="•"/>
            </a:pPr>
            <a:r>
              <a:rPr lang="de-DE" altLang="de-DE" dirty="0">
                <a:solidFill>
                  <a:srgbClr val="000000"/>
                </a:solidFill>
                <a:latin typeface="Arial" panose="020B0604020202020204" pitchFamily="34" charset="0"/>
              </a:rPr>
              <a:t> *</a:t>
            </a:r>
            <a:r>
              <a:rPr lang="de-DE" altLang="de-DE" dirty="0" err="1">
                <a:solidFill>
                  <a:srgbClr val="000000"/>
                </a:solidFill>
                <a:latin typeface="Arial" panose="020B0604020202020204" pitchFamily="34" charset="0"/>
              </a:rPr>
              <a:t>u</a:t>
            </a:r>
            <a:r>
              <a:rPr lang="de-DE" altLang="de-DE" dirty="0">
                <a:solidFill>
                  <a:srgbClr val="000000"/>
                </a:solidFill>
                <a:latin typeface="Arial" panose="020B0604020202020204" pitchFamily="34" charset="0"/>
              </a:rPr>
              <a:t> → ⲏ |</a:t>
            </a:r>
            <a:r>
              <a:rPr lang="de-DE" altLang="de-DE" dirty="0" err="1">
                <a:solidFill>
                  <a:srgbClr val="000000"/>
                </a:solidFill>
                <a:latin typeface="Arial" panose="020B0604020202020204" pitchFamily="34" charset="0"/>
              </a:rPr>
              <a:t>e</a:t>
            </a:r>
            <a:r>
              <a:rPr lang="de-DE" altLang="de-DE" dirty="0">
                <a:solidFill>
                  <a:srgbClr val="000000"/>
                </a:solidFill>
                <a:latin typeface="Arial" panose="020B0604020202020204" pitchFamily="34" charset="0"/>
              </a:rPr>
              <a:t>| : e.g. </a:t>
            </a:r>
            <a:r>
              <a:rPr lang="de-DE" altLang="de-DE" dirty="0" err="1">
                <a:solidFill>
                  <a:srgbClr val="000000"/>
                </a:solidFill>
                <a:latin typeface="Arial" panose="020B0604020202020204" pitchFamily="34" charset="0"/>
              </a:rPr>
              <a:t>ϭ</a:t>
            </a:r>
            <a:r>
              <a:rPr lang="de-DE" altLang="de-DE" dirty="0">
                <a:solidFill>
                  <a:srgbClr val="000000"/>
                </a:solidFill>
                <a:latin typeface="Arial" panose="020B0604020202020204" pitchFamily="34" charset="0"/>
              </a:rPr>
              <a:t>ⲓⲛⲏⲣ |</a:t>
            </a:r>
            <a:r>
              <a:rPr lang="de-DE" altLang="de-DE" dirty="0" err="1">
                <a:solidFill>
                  <a:srgbClr val="000000"/>
                </a:solidFill>
                <a:latin typeface="Arial" panose="020B0604020202020204" pitchFamily="34" charset="0"/>
              </a:rPr>
              <a:t>kʲinérə</a:t>
            </a:r>
            <a:r>
              <a:rPr lang="de-DE" altLang="de-DE" dirty="0">
                <a:solidFill>
                  <a:srgbClr val="000000"/>
                </a:solidFill>
                <a:latin typeface="Arial" panose="020B0604020202020204" pitchFamily="34" charset="0"/>
              </a:rPr>
              <a:t>| &lt; Sem. </a:t>
            </a:r>
            <a:r>
              <a:rPr lang="de-DE" altLang="de-DE" i="1" dirty="0">
                <a:solidFill>
                  <a:srgbClr val="000000"/>
                </a:solidFill>
                <a:latin typeface="Arial" panose="020B0604020202020204" pitchFamily="34" charset="0"/>
              </a:rPr>
              <a:t>*</a:t>
            </a:r>
            <a:r>
              <a:rPr lang="de-DE" altLang="de-DE" i="1" dirty="0" err="1">
                <a:solidFill>
                  <a:srgbClr val="000000"/>
                </a:solidFill>
                <a:latin typeface="Arial" panose="020B0604020202020204" pitchFamily="34" charset="0"/>
              </a:rPr>
              <a:t>kinurV</a:t>
            </a:r>
            <a:endParaRPr lang="de-DE" altLang="de-DE" i="1" dirty="0">
              <a:solidFill>
                <a:srgbClr val="000000"/>
              </a:solidFill>
              <a:latin typeface="Arial" panose="020B0604020202020204" pitchFamily="34" charset="0"/>
            </a:endParaRPr>
          </a:p>
          <a:p>
            <a:pPr lvl="0" eaLnBrk="0" fontAlgn="base" hangingPunct="0">
              <a:spcBef>
                <a:spcPct val="0"/>
              </a:spcBef>
              <a:spcAft>
                <a:spcPct val="0"/>
              </a:spcAft>
              <a:buFontTx/>
              <a:buChar char="•"/>
            </a:pPr>
            <a:r>
              <a:rPr lang="de-DE" altLang="de-DE" dirty="0">
                <a:solidFill>
                  <a:srgbClr val="000000"/>
                </a:solidFill>
                <a:latin typeface="Arial" panose="020B0604020202020204" pitchFamily="34" charset="0"/>
              </a:rPr>
              <a:t> *</a:t>
            </a:r>
            <a:r>
              <a:rPr lang="de-DE" altLang="de-DE" dirty="0" err="1">
                <a:solidFill>
                  <a:srgbClr val="000000"/>
                </a:solidFill>
                <a:latin typeface="Arial" panose="020B0604020202020204" pitchFamily="34" charset="0"/>
              </a:rPr>
              <a:t>u</a:t>
            </a:r>
            <a:r>
              <a:rPr lang="de-DE" altLang="de-DE" dirty="0">
                <a:solidFill>
                  <a:srgbClr val="000000"/>
                </a:solidFill>
                <a:latin typeface="Arial" panose="020B0604020202020204" pitchFamily="34" charset="0"/>
              </a:rPr>
              <a:t> → ⲓ |i| : e.</a:t>
            </a:r>
            <a:r>
              <a:rPr kumimoji="0" lang="de-DE" altLang="de-DE" sz="1800" b="0" i="0" u="none" strike="noStrike" cap="none" normalizeH="0" baseline="0" dirty="0">
                <a:ln>
                  <a:noFill/>
                </a:ln>
                <a:solidFill>
                  <a:srgbClr val="000000"/>
                </a:solidFill>
                <a:effectLst/>
                <a:latin typeface="Arial" panose="020B0604020202020204" pitchFamily="34" charset="0"/>
              </a:rPr>
              <a:t>g. ⲧⲣⲓⲣ |</a:t>
            </a:r>
            <a:r>
              <a:rPr kumimoji="0" lang="de-DE" altLang="de-DE" sz="1800" b="0" i="0" u="none" strike="noStrike" cap="none" normalizeH="0" baseline="0" dirty="0" err="1">
                <a:ln>
                  <a:noFill/>
                </a:ln>
                <a:solidFill>
                  <a:srgbClr val="000000"/>
                </a:solidFill>
                <a:effectLst/>
                <a:latin typeface="Arial" panose="020B0604020202020204" pitchFamily="34" charset="0"/>
              </a:rPr>
              <a:t>tᵊrír</a:t>
            </a:r>
            <a:r>
              <a:rPr kumimoji="0" lang="de-DE" altLang="de-DE" sz="1800" b="0" i="0" u="none" strike="noStrike" cap="none" normalizeH="0" baseline="0" dirty="0">
                <a:ln>
                  <a:noFill/>
                </a:ln>
                <a:solidFill>
                  <a:srgbClr val="000000"/>
                </a:solidFill>
                <a:effectLst/>
                <a:latin typeface="Arial" panose="020B0604020202020204" pitchFamily="34" charset="0"/>
              </a:rPr>
              <a:t>| &lt; Sem. </a:t>
            </a:r>
            <a:r>
              <a:rPr kumimoji="0" lang="de-DE" altLang="de-DE" sz="1800" b="0" i="1" u="none" strike="noStrike" cap="none" normalizeH="0" baseline="0" dirty="0">
                <a:ln>
                  <a:noFill/>
                </a:ln>
                <a:solidFill>
                  <a:srgbClr val="000000"/>
                </a:solidFill>
                <a:effectLst/>
                <a:latin typeface="Arial" panose="020B0604020202020204" pitchFamily="34" charset="0"/>
              </a:rPr>
              <a:t>*</a:t>
            </a:r>
            <a:r>
              <a:rPr kumimoji="0" lang="de-DE" altLang="de-DE" sz="1800" b="0" i="1" u="none" strike="noStrike" cap="none" normalizeH="0" baseline="0" dirty="0" err="1">
                <a:ln>
                  <a:noFill/>
                </a:ln>
                <a:solidFill>
                  <a:srgbClr val="000000"/>
                </a:solidFill>
                <a:effectLst/>
                <a:latin typeface="Arial" panose="020B0604020202020204" pitchFamily="34" charset="0"/>
              </a:rPr>
              <a:t>tVrurV</a:t>
            </a:r>
            <a:endParaRPr kumimoji="0" lang="de-DE" altLang="de-DE" sz="1800" b="0" i="1" u="none" strike="noStrike" cap="none" normalizeH="0" baseline="0" dirty="0">
              <a:ln>
                <a:noFill/>
              </a:ln>
              <a:solidFill>
                <a:schemeClr val="tx1"/>
              </a:solidFill>
              <a:effectLst/>
              <a:latin typeface="Arial" panose="020B0604020202020204" pitchFamily="34" charset="0"/>
            </a:endParaRPr>
          </a:p>
        </p:txBody>
      </p:sp>
      <p:sp>
        <p:nvSpPr>
          <p:cNvPr id="15" name="Rectangle 1">
            <a:extLst>
              <a:ext uri="{FF2B5EF4-FFF2-40B4-BE49-F238E27FC236}">
                <a16:creationId xmlns:a16="http://schemas.microsoft.com/office/drawing/2014/main" id="{C929D313-47AD-9D73-5452-5A267046D530}"/>
              </a:ext>
            </a:extLst>
          </p:cNvPr>
          <p:cNvSpPr>
            <a:spLocks noChangeArrowheads="1"/>
          </p:cNvSpPr>
          <p:nvPr/>
        </p:nvSpPr>
        <p:spPr bwMode="auto">
          <a:xfrm>
            <a:off x="6322002" y="3072297"/>
            <a:ext cx="51837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FontTx/>
              <a:buChar char="•"/>
            </a:pPr>
            <a:r>
              <a:rPr lang="de-DE" altLang="de-DE" dirty="0">
                <a:solidFill>
                  <a:srgbClr val="000000"/>
                </a:solidFill>
                <a:latin typeface="Arial" panose="020B0604020202020204" pitchFamily="34" charset="0"/>
              </a:rPr>
              <a:t> *i → ⲓ |i| : e.g. ⲯⲓⲧ |</a:t>
            </a:r>
            <a:r>
              <a:rPr lang="de-DE" altLang="de-DE" dirty="0" err="1">
                <a:solidFill>
                  <a:srgbClr val="000000"/>
                </a:solidFill>
                <a:latin typeface="Arial" panose="020B0604020202020204" pitchFamily="34" charset="0"/>
              </a:rPr>
              <a:t>pᵊsít</a:t>
            </a:r>
            <a:r>
              <a:rPr lang="de-DE" altLang="de-DE" dirty="0">
                <a:solidFill>
                  <a:srgbClr val="000000"/>
                </a:solidFill>
                <a:latin typeface="Arial" panose="020B0604020202020204" pitchFamily="34" charset="0"/>
              </a:rPr>
              <a:t>(ᵊ)| = </a:t>
            </a:r>
            <a:r>
              <a:rPr lang="de-DE" altLang="de-DE" dirty="0" err="1">
                <a:solidFill>
                  <a:srgbClr val="000000"/>
                </a:solidFill>
                <a:latin typeface="Arial" panose="020B0604020202020204" pitchFamily="34" charset="0"/>
              </a:rPr>
              <a:t>cuneiform</a:t>
            </a:r>
            <a:r>
              <a:rPr lang="de-DE" altLang="de-DE" dirty="0">
                <a:solidFill>
                  <a:srgbClr val="000000"/>
                </a:solidFill>
                <a:latin typeface="Arial" panose="020B0604020202020204" pitchFamily="34" charset="0"/>
              </a:rPr>
              <a:t> </a:t>
            </a:r>
            <a:r>
              <a:rPr lang="de-DE" altLang="de-DE" i="1" dirty="0" err="1">
                <a:solidFill>
                  <a:srgbClr val="000000"/>
                </a:solidFill>
                <a:latin typeface="Arial" panose="020B0604020202020204" pitchFamily="34" charset="0"/>
              </a:rPr>
              <a:t>pi</a:t>
            </a:r>
            <a:r>
              <a:rPr lang="de-DE" altLang="de-DE" i="1" dirty="0">
                <a:solidFill>
                  <a:srgbClr val="000000"/>
                </a:solidFill>
                <a:latin typeface="Arial" panose="020B0604020202020204" pitchFamily="34" charset="0"/>
              </a:rPr>
              <a:t>/</a:t>
            </a:r>
            <a:r>
              <a:rPr lang="de-DE" altLang="de-DE" i="1" dirty="0" err="1">
                <a:solidFill>
                  <a:srgbClr val="000000"/>
                </a:solidFill>
                <a:latin typeface="Arial" panose="020B0604020202020204" pitchFamily="34" charset="0"/>
              </a:rPr>
              <a:t>e-ši-iṭ</a:t>
            </a:r>
            <a:endParaRPr lang="de-DE" altLang="de-DE" i="1" dirty="0">
              <a:solidFill>
                <a:srgbClr val="000000"/>
              </a:solidFill>
              <a:latin typeface="Arial" panose="020B0604020202020204" pitchFamily="34" charset="0"/>
            </a:endParaRPr>
          </a:p>
          <a:p>
            <a:pPr lvl="0" eaLnBrk="0" fontAlgn="base" hangingPunct="0">
              <a:spcBef>
                <a:spcPct val="0"/>
              </a:spcBef>
              <a:spcAft>
                <a:spcPct val="0"/>
              </a:spcAft>
              <a:buFontTx/>
              <a:buChar char="•"/>
            </a:pPr>
            <a:r>
              <a:rPr lang="de-DE" altLang="de-DE" dirty="0">
                <a:solidFill>
                  <a:srgbClr val="000000"/>
                </a:solidFill>
                <a:latin typeface="Arial" panose="020B0604020202020204" pitchFamily="34" charset="0"/>
              </a:rPr>
              <a:t> *i → ⲏ |</a:t>
            </a:r>
            <a:r>
              <a:rPr lang="de-DE" altLang="de-DE" dirty="0" err="1">
                <a:solidFill>
                  <a:srgbClr val="000000"/>
                </a:solidFill>
                <a:latin typeface="Arial" panose="020B0604020202020204" pitchFamily="34" charset="0"/>
              </a:rPr>
              <a:t>e</a:t>
            </a:r>
            <a:r>
              <a:rPr lang="de-DE" altLang="de-DE" dirty="0">
                <a:solidFill>
                  <a:srgbClr val="000000"/>
                </a:solidFill>
                <a:latin typeface="Arial" panose="020B0604020202020204" pitchFamily="34" charset="0"/>
              </a:rPr>
              <a:t>| : e.g. ⲣⲏ |</a:t>
            </a:r>
            <a:r>
              <a:rPr lang="de-DE" altLang="de-DE" dirty="0" err="1">
                <a:solidFill>
                  <a:srgbClr val="000000"/>
                </a:solidFill>
                <a:latin typeface="Arial" panose="020B0604020202020204" pitchFamily="34" charset="0"/>
              </a:rPr>
              <a:t>re</a:t>
            </a:r>
            <a:r>
              <a:rPr lang="de-DE" altLang="de-DE" dirty="0">
                <a:solidFill>
                  <a:srgbClr val="000000"/>
                </a:solidFill>
                <a:latin typeface="Arial" panose="020B0604020202020204" pitchFamily="34" charset="0"/>
              </a:rPr>
              <a:t>| = </a:t>
            </a:r>
            <a:r>
              <a:rPr lang="de-DE" altLang="de-DE" dirty="0" err="1">
                <a:solidFill>
                  <a:srgbClr val="000000"/>
                </a:solidFill>
                <a:latin typeface="Arial" panose="020B0604020202020204" pitchFamily="34" charset="0"/>
              </a:rPr>
              <a:t>cuneiform</a:t>
            </a:r>
            <a:r>
              <a:rPr lang="de-DE" altLang="de-DE" dirty="0">
                <a:solidFill>
                  <a:srgbClr val="000000"/>
                </a:solidFill>
                <a:latin typeface="Arial" panose="020B0604020202020204" pitchFamily="34" charset="0"/>
              </a:rPr>
              <a:t> </a:t>
            </a:r>
            <a:r>
              <a:rPr lang="de-DE" altLang="de-DE" i="1" dirty="0">
                <a:solidFill>
                  <a:srgbClr val="000000"/>
                </a:solidFill>
                <a:latin typeface="Arial" panose="020B0604020202020204" pitchFamily="34" charset="0"/>
              </a:rPr>
              <a:t>-</a:t>
            </a:r>
            <a:r>
              <a:rPr lang="de-DE" altLang="de-DE" i="1" dirty="0" err="1">
                <a:solidFill>
                  <a:srgbClr val="000000"/>
                </a:solidFill>
                <a:latin typeface="Arial" panose="020B0604020202020204" pitchFamily="34" charset="0"/>
              </a:rPr>
              <a:t>ri</a:t>
            </a:r>
            <a:r>
              <a:rPr lang="de-DE" altLang="de-DE" i="1" dirty="0">
                <a:solidFill>
                  <a:srgbClr val="000000"/>
                </a:solidFill>
                <a:latin typeface="Arial" panose="020B0604020202020204" pitchFamily="34" charset="0"/>
              </a:rPr>
              <a:t>-a</a:t>
            </a:r>
            <a:endParaRPr lang="de-DE" altLang="de-DE" i="1" dirty="0">
              <a:latin typeface="Arial" panose="020B0604020202020204" pitchFamily="34" charset="0"/>
            </a:endParaRPr>
          </a:p>
        </p:txBody>
      </p:sp>
      <p:sp>
        <p:nvSpPr>
          <p:cNvPr id="17" name="Textfeld 16">
            <a:extLst>
              <a:ext uri="{FF2B5EF4-FFF2-40B4-BE49-F238E27FC236}">
                <a16:creationId xmlns:a16="http://schemas.microsoft.com/office/drawing/2014/main" id="{6B790395-F298-4C22-D9EA-2BE3BBFD0772}"/>
              </a:ext>
            </a:extLst>
          </p:cNvPr>
          <p:cNvSpPr txBox="1"/>
          <p:nvPr/>
        </p:nvSpPr>
        <p:spPr>
          <a:xfrm>
            <a:off x="839416" y="4591127"/>
            <a:ext cx="4824536" cy="1224136"/>
          </a:xfrm>
          <a:prstGeom prst="rect">
            <a:avLst/>
          </a:prstGeom>
          <a:noFill/>
        </p:spPr>
        <p:txBody>
          <a:bodyPr wrap="square" lIns="0" tIns="0" rIns="0" bIns="0" rtlCol="0">
            <a:noAutofit/>
          </a:bodyPr>
          <a:lstStyle/>
          <a:p>
            <a:pPr>
              <a:lnSpc>
                <a:spcPts val="2200"/>
              </a:lnSpc>
            </a:pPr>
            <a:r>
              <a:rPr lang="en-GB" noProof="1"/>
              <a:t>Ad hoc, non-systematic "rules" to explain the exceptions, based on nearby consonants. </a:t>
            </a:r>
          </a:p>
          <a:p>
            <a:pPr>
              <a:lnSpc>
                <a:spcPts val="2200"/>
              </a:lnSpc>
            </a:pPr>
            <a:r>
              <a:rPr lang="en-GB" noProof="1"/>
              <a:t>E.g.:</a:t>
            </a:r>
          </a:p>
          <a:p>
            <a:pPr>
              <a:lnSpc>
                <a:spcPts val="2200"/>
              </a:lnSpc>
            </a:pPr>
            <a:endParaRPr lang="en-GB" noProof="1"/>
          </a:p>
          <a:p>
            <a:pPr>
              <a:lnSpc>
                <a:spcPts val="2200"/>
              </a:lnSpc>
            </a:pPr>
            <a:r>
              <a:rPr lang="de-DE" altLang="de-DE" dirty="0">
                <a:solidFill>
                  <a:srgbClr val="000000"/>
                </a:solidFill>
                <a:latin typeface="Arial" panose="020B0604020202020204" pitchFamily="34" charset="0"/>
              </a:rPr>
              <a:t>*</a:t>
            </a:r>
            <a:r>
              <a:rPr lang="de-DE" altLang="de-DE" dirty="0" err="1">
                <a:solidFill>
                  <a:srgbClr val="000000"/>
                </a:solidFill>
                <a:latin typeface="Arial" panose="020B0604020202020204" pitchFamily="34" charset="0"/>
              </a:rPr>
              <a:t>u</a:t>
            </a:r>
            <a:r>
              <a:rPr lang="de-DE" altLang="de-DE" dirty="0">
                <a:solidFill>
                  <a:srgbClr val="000000"/>
                </a:solidFill>
                <a:latin typeface="Arial" panose="020B0604020202020204" pitchFamily="34" charset="0"/>
              </a:rPr>
              <a:t> → ⲏ but *</a:t>
            </a:r>
            <a:r>
              <a:rPr lang="de-DE" altLang="de-DE" dirty="0" err="1">
                <a:solidFill>
                  <a:srgbClr val="000000"/>
                </a:solidFill>
                <a:latin typeface="Arial" panose="020B0604020202020204" pitchFamily="34" charset="0"/>
              </a:rPr>
              <a:t>u</a:t>
            </a:r>
            <a:r>
              <a:rPr lang="de-DE" altLang="de-DE" dirty="0">
                <a:solidFill>
                  <a:srgbClr val="000000"/>
                </a:solidFill>
                <a:latin typeface="Arial" panose="020B0604020202020204" pitchFamily="34" charset="0"/>
              </a:rPr>
              <a:t> → ⲓ |i| </a:t>
            </a:r>
            <a:r>
              <a:rPr lang="de-DE" altLang="de-DE" dirty="0" err="1">
                <a:solidFill>
                  <a:srgbClr val="000000"/>
                </a:solidFill>
                <a:latin typeface="Arial" panose="020B0604020202020204" pitchFamily="34" charset="0"/>
              </a:rPr>
              <a:t>before</a:t>
            </a:r>
            <a:r>
              <a:rPr lang="de-DE" altLang="de-DE" dirty="0">
                <a:solidFill>
                  <a:srgbClr val="000000"/>
                </a:solidFill>
                <a:latin typeface="Arial" panose="020B0604020202020204" pitchFamily="34" charset="0"/>
              </a:rPr>
              <a:t> </a:t>
            </a:r>
            <a:r>
              <a:rPr lang="de-DE" altLang="de-DE" i="1" dirty="0">
                <a:solidFill>
                  <a:srgbClr val="000000"/>
                </a:solidFill>
                <a:latin typeface="Arial" panose="020B0604020202020204" pitchFamily="34" charset="0"/>
              </a:rPr>
              <a:t>*</a:t>
            </a:r>
            <a:r>
              <a:rPr lang="de-DE" altLang="de-DE" i="1" dirty="0" err="1">
                <a:solidFill>
                  <a:srgbClr val="000000"/>
                </a:solidFill>
                <a:latin typeface="Arial" panose="020B0604020202020204" pitchFamily="34" charset="0"/>
              </a:rPr>
              <a:t>r</a:t>
            </a:r>
            <a:r>
              <a:rPr lang="de-DE" altLang="de-DE" i="1" dirty="0">
                <a:solidFill>
                  <a:srgbClr val="000000"/>
                </a:solidFill>
                <a:latin typeface="Arial" panose="020B0604020202020204" pitchFamily="34" charset="0"/>
              </a:rPr>
              <a:t> </a:t>
            </a:r>
            <a:r>
              <a:rPr lang="de-DE" altLang="de-DE" dirty="0">
                <a:solidFill>
                  <a:srgbClr val="000000"/>
                </a:solidFill>
                <a:latin typeface="Arial" panose="020B0604020202020204" pitchFamily="34" charset="0"/>
              </a:rPr>
              <a:t>(Osing 1976, 19)</a:t>
            </a:r>
            <a:endParaRPr lang="en-GB" noProof="1"/>
          </a:p>
        </p:txBody>
      </p:sp>
      <p:cxnSp>
        <p:nvCxnSpPr>
          <p:cNvPr id="19" name="Gerade Verbindung 18">
            <a:extLst>
              <a:ext uri="{FF2B5EF4-FFF2-40B4-BE49-F238E27FC236}">
                <a16:creationId xmlns:a16="http://schemas.microsoft.com/office/drawing/2014/main" id="{A365FAE2-2728-6876-B549-B97D7006FAC3}"/>
              </a:ext>
            </a:extLst>
          </p:cNvPr>
          <p:cNvCxnSpPr>
            <a:cxnSpLocks/>
          </p:cNvCxnSpPr>
          <p:nvPr/>
        </p:nvCxnSpPr>
        <p:spPr>
          <a:xfrm>
            <a:off x="5807968" y="3993153"/>
            <a:ext cx="0" cy="23401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 Verbindung 21">
            <a:extLst>
              <a:ext uri="{FF2B5EF4-FFF2-40B4-BE49-F238E27FC236}">
                <a16:creationId xmlns:a16="http://schemas.microsoft.com/office/drawing/2014/main" id="{13AE2867-B02A-9662-EFDD-B78308BD551C}"/>
              </a:ext>
            </a:extLst>
          </p:cNvPr>
          <p:cNvCxnSpPr>
            <a:cxnSpLocks/>
          </p:cNvCxnSpPr>
          <p:nvPr/>
        </p:nvCxnSpPr>
        <p:spPr>
          <a:xfrm>
            <a:off x="479376" y="3861048"/>
            <a:ext cx="1137726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itel 6">
            <a:extLst>
              <a:ext uri="{FF2B5EF4-FFF2-40B4-BE49-F238E27FC236}">
                <a16:creationId xmlns:a16="http://schemas.microsoft.com/office/drawing/2014/main" id="{BC47A995-4F48-73D5-0F88-E4C9BFDC1EF9}"/>
              </a:ext>
            </a:extLst>
          </p:cNvPr>
          <p:cNvSpPr txBox="1">
            <a:spLocks/>
          </p:cNvSpPr>
          <p:nvPr/>
        </p:nvSpPr>
        <p:spPr>
          <a:xfrm>
            <a:off x="6095720" y="3988687"/>
            <a:ext cx="4032728"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Issues with these solutions</a:t>
            </a:r>
          </a:p>
        </p:txBody>
      </p:sp>
      <p:sp>
        <p:nvSpPr>
          <p:cNvPr id="27" name="Textfeld 26">
            <a:extLst>
              <a:ext uri="{FF2B5EF4-FFF2-40B4-BE49-F238E27FC236}">
                <a16:creationId xmlns:a16="http://schemas.microsoft.com/office/drawing/2014/main" id="{3CAFFF74-1982-80DE-238B-FD44D3D89349}"/>
              </a:ext>
            </a:extLst>
          </p:cNvPr>
          <p:cNvSpPr txBox="1"/>
          <p:nvPr/>
        </p:nvSpPr>
        <p:spPr>
          <a:xfrm>
            <a:off x="6168007" y="4553230"/>
            <a:ext cx="5496949" cy="1396039"/>
          </a:xfrm>
          <a:prstGeom prst="rect">
            <a:avLst/>
          </a:prstGeom>
          <a:noFill/>
        </p:spPr>
        <p:txBody>
          <a:bodyPr wrap="square" lIns="0" tIns="0" rIns="0" bIns="0" rtlCol="0">
            <a:noAutofit/>
          </a:bodyPr>
          <a:lstStyle/>
          <a:p>
            <a:pPr>
              <a:lnSpc>
                <a:spcPts val="2200"/>
              </a:lnSpc>
            </a:pPr>
            <a:r>
              <a:rPr lang="en-GB" noProof="1"/>
              <a:t>These "rules" are easily disproved by the data, e.g.:</a:t>
            </a:r>
          </a:p>
          <a:p>
            <a:pPr>
              <a:lnSpc>
                <a:spcPts val="2200"/>
              </a:lnSpc>
            </a:pPr>
            <a:endParaRPr lang="en-GB" noProof="1"/>
          </a:p>
          <a:p>
            <a:pPr>
              <a:lnSpc>
                <a:spcPts val="2200"/>
              </a:lnSpc>
            </a:pPr>
            <a:r>
              <a:rPr lang="de-DE" altLang="de-DE" dirty="0" err="1">
                <a:solidFill>
                  <a:srgbClr val="000000"/>
                </a:solidFill>
                <a:latin typeface="Arial" panose="020B0604020202020204" pitchFamily="34" charset="0"/>
              </a:rPr>
              <a:t>ϭ</a:t>
            </a:r>
            <a:r>
              <a:rPr lang="de-DE" altLang="de-DE" dirty="0">
                <a:solidFill>
                  <a:srgbClr val="000000"/>
                </a:solidFill>
                <a:latin typeface="Arial" panose="020B0604020202020204" pitchFamily="34" charset="0"/>
              </a:rPr>
              <a:t>ⲓⲛⲏⲣ |</a:t>
            </a:r>
            <a:r>
              <a:rPr lang="de-DE" altLang="de-DE" dirty="0" err="1">
                <a:solidFill>
                  <a:srgbClr val="000000"/>
                </a:solidFill>
                <a:latin typeface="Arial" panose="020B0604020202020204" pitchFamily="34" charset="0"/>
              </a:rPr>
              <a:t>kʲinérə</a:t>
            </a:r>
            <a:r>
              <a:rPr lang="de-DE" altLang="de-DE" dirty="0">
                <a:solidFill>
                  <a:srgbClr val="000000"/>
                </a:solidFill>
                <a:latin typeface="Arial" panose="020B0604020202020204" pitchFamily="34" charset="0"/>
              </a:rPr>
              <a:t>| &lt; Sem. </a:t>
            </a:r>
            <a:r>
              <a:rPr lang="de-DE" altLang="de-DE" i="1" dirty="0">
                <a:solidFill>
                  <a:srgbClr val="000000"/>
                </a:solidFill>
                <a:latin typeface="Arial" panose="020B0604020202020204" pitchFamily="34" charset="0"/>
              </a:rPr>
              <a:t>*</a:t>
            </a:r>
            <a:r>
              <a:rPr lang="de-DE" altLang="de-DE" i="1" dirty="0" err="1">
                <a:solidFill>
                  <a:srgbClr val="000000"/>
                </a:solidFill>
                <a:latin typeface="Arial" panose="020B0604020202020204" pitchFamily="34" charset="0"/>
              </a:rPr>
              <a:t>kinurV</a:t>
            </a:r>
            <a:endParaRPr lang="de-DE" altLang="de-DE" i="1" dirty="0">
              <a:solidFill>
                <a:srgbClr val="000000"/>
              </a:solidFill>
              <a:latin typeface="Arial" panose="020B0604020202020204" pitchFamily="34" charset="0"/>
            </a:endParaRPr>
          </a:p>
          <a:p>
            <a:pPr>
              <a:lnSpc>
                <a:spcPts val="2200"/>
              </a:lnSpc>
            </a:pPr>
            <a:endParaRPr lang="en-GB" noProof="1"/>
          </a:p>
          <a:p>
            <a:pPr>
              <a:lnSpc>
                <a:spcPts val="2200"/>
              </a:lnSpc>
            </a:pPr>
            <a:r>
              <a:rPr lang="en-GB" noProof="1"/>
              <a:t>Also: pseudopart have always </a:t>
            </a:r>
            <a:r>
              <a:rPr lang="de-DE" altLang="de-DE" dirty="0">
                <a:solidFill>
                  <a:srgbClr val="000000"/>
                </a:solidFill>
                <a:latin typeface="Arial" panose="020B0604020202020204" pitchFamily="34" charset="0"/>
              </a:rPr>
              <a:t>ⲏ - e.g. ⲥⲏⲣ+ |</a:t>
            </a:r>
            <a:r>
              <a:rPr lang="de-DE" altLang="de-DE" dirty="0" err="1">
                <a:solidFill>
                  <a:srgbClr val="000000"/>
                </a:solidFill>
                <a:latin typeface="Arial" panose="020B0604020202020204" pitchFamily="34" charset="0"/>
              </a:rPr>
              <a:t>sér</a:t>
            </a:r>
            <a:r>
              <a:rPr lang="de-DE" altLang="de-DE" dirty="0">
                <a:solidFill>
                  <a:srgbClr val="000000"/>
                </a:solidFill>
                <a:latin typeface="Arial" panose="020B0604020202020204" pitchFamily="34" charset="0"/>
              </a:rPr>
              <a:t>| </a:t>
            </a:r>
            <a:endParaRPr lang="en-GB" noProof="1"/>
          </a:p>
        </p:txBody>
      </p:sp>
    </p:spTree>
    <p:extLst>
      <p:ext uri="{BB962C8B-B14F-4D97-AF65-F5344CB8AC3E}">
        <p14:creationId xmlns:p14="http://schemas.microsoft.com/office/powerpoint/2010/main" val="219722549"/>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B5AC2-7C27-07A2-7ECD-E40160F32E74}"/>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5C40A1E6-77A9-5AFE-EC9B-AEBD833C7C4B}"/>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6667DB4B-3B37-50E1-56B2-01D9C106500E}"/>
              </a:ext>
            </a:extLst>
          </p:cNvPr>
          <p:cNvSpPr>
            <a:spLocks noGrp="1"/>
          </p:cNvSpPr>
          <p:nvPr>
            <p:ph type="sldNum" sz="quarter" idx="12"/>
          </p:nvPr>
        </p:nvSpPr>
        <p:spPr/>
        <p:txBody>
          <a:bodyPr/>
          <a:lstStyle/>
          <a:p>
            <a:fld id="{B3811826-9277-4232-A2B5-17D05DFC7392}" type="slidenum">
              <a:rPr lang="en-GB" smtClean="0"/>
              <a:pPr/>
              <a:t>7</a:t>
            </a:fld>
            <a:endParaRPr lang="en-GB" dirty="0"/>
          </a:p>
        </p:txBody>
      </p:sp>
      <p:cxnSp>
        <p:nvCxnSpPr>
          <p:cNvPr id="9" name="Gerade Verbindung 7">
            <a:extLst>
              <a:ext uri="{FF2B5EF4-FFF2-40B4-BE49-F238E27FC236}">
                <a16:creationId xmlns:a16="http://schemas.microsoft.com/office/drawing/2014/main" id="{51C6F446-5B3F-3E11-FF5C-D9035E279431}"/>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4570EC32-CBAD-624F-F203-013E33D2A84C}"/>
              </a:ext>
            </a:extLst>
          </p:cNvPr>
          <p:cNvSpPr>
            <a:spLocks noGrp="1"/>
          </p:cNvSpPr>
          <p:nvPr>
            <p:ph type="title"/>
          </p:nvPr>
        </p:nvSpPr>
        <p:spPr>
          <a:xfrm>
            <a:off x="334800" y="404813"/>
            <a:ext cx="11521840" cy="755936"/>
          </a:xfrm>
        </p:spPr>
        <p:txBody>
          <a:bodyPr/>
          <a:lstStyle/>
          <a:p>
            <a:r>
              <a:rPr lang="en-GB" dirty="0"/>
              <a:t>Why reconstructing 3 vowels in the first place?</a:t>
            </a:r>
          </a:p>
        </p:txBody>
      </p:sp>
      <p:sp>
        <p:nvSpPr>
          <p:cNvPr id="3" name="Datumsplatzhalter 3">
            <a:extLst>
              <a:ext uri="{FF2B5EF4-FFF2-40B4-BE49-F238E27FC236}">
                <a16:creationId xmlns:a16="http://schemas.microsoft.com/office/drawing/2014/main" id="{14EBD557-69CC-0F47-A22D-707E0B4F6887}"/>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5061DFA9-234A-3CAA-931E-C955A381A244}"/>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93CB978A-FB04-C707-01C3-5B7DEF59AF5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18" name="Textfeld 17">
            <a:extLst>
              <a:ext uri="{FF2B5EF4-FFF2-40B4-BE49-F238E27FC236}">
                <a16:creationId xmlns:a16="http://schemas.microsoft.com/office/drawing/2014/main" id="{37B026E3-7B46-8D1B-B539-BFC744EE5237}"/>
              </a:ext>
            </a:extLst>
          </p:cNvPr>
          <p:cNvSpPr txBox="1"/>
          <p:nvPr/>
        </p:nvSpPr>
        <p:spPr>
          <a:xfrm>
            <a:off x="999038" y="1931905"/>
            <a:ext cx="6393106" cy="1497096"/>
          </a:xfrm>
          <a:prstGeom prst="rect">
            <a:avLst/>
          </a:prstGeom>
          <a:noFill/>
        </p:spPr>
        <p:txBody>
          <a:bodyPr wrap="square" lIns="0" tIns="0" rIns="0" bIns="0" rtlCol="0">
            <a:noAutofit/>
          </a:bodyPr>
          <a:lstStyle/>
          <a:p>
            <a:pPr>
              <a:lnSpc>
                <a:spcPts val="2200"/>
              </a:lnSpc>
            </a:pPr>
            <a:r>
              <a:rPr lang="en-GB" dirty="0"/>
              <a:t>Sethe 1923, in one of the first articles discussing pre-Coptic vowels:</a:t>
            </a:r>
          </a:p>
          <a:p>
            <a:pPr>
              <a:lnSpc>
                <a:spcPts val="2200"/>
              </a:lnSpc>
            </a:pPr>
            <a:endParaRPr lang="en-GB" dirty="0"/>
          </a:p>
          <a:p>
            <a:pPr>
              <a:lnSpc>
                <a:spcPts val="2200"/>
              </a:lnSpc>
            </a:pPr>
            <a:r>
              <a:rPr lang="en-GB" dirty="0"/>
              <a:t>“…auf den </a:t>
            </a:r>
            <a:r>
              <a:rPr lang="en-GB" dirty="0" err="1"/>
              <a:t>Urzustand</a:t>
            </a:r>
            <a:r>
              <a:rPr lang="en-GB" dirty="0"/>
              <a:t> des </a:t>
            </a:r>
            <a:r>
              <a:rPr lang="en-GB" dirty="0" err="1"/>
              <a:t>ägyptischen</a:t>
            </a:r>
            <a:r>
              <a:rPr lang="en-GB" dirty="0"/>
              <a:t> </a:t>
            </a:r>
            <a:r>
              <a:rPr lang="en-GB" dirty="0" err="1"/>
              <a:t>Vokalismus</a:t>
            </a:r>
            <a:r>
              <a:rPr lang="en-GB" dirty="0"/>
              <a:t> </a:t>
            </a:r>
            <a:r>
              <a:rPr lang="en-GB" dirty="0" err="1"/>
              <a:t>gekommen</a:t>
            </a:r>
            <a:r>
              <a:rPr lang="en-GB" dirty="0"/>
              <a:t> </a:t>
            </a:r>
            <a:r>
              <a:rPr lang="en-GB" dirty="0" err="1"/>
              <a:t>sind</a:t>
            </a:r>
            <a:r>
              <a:rPr lang="en-GB" dirty="0"/>
              <a:t>, auf den </a:t>
            </a:r>
            <a:r>
              <a:rPr lang="en-GB" dirty="0" err="1"/>
              <a:t>Zustand</a:t>
            </a:r>
            <a:r>
              <a:rPr lang="en-GB" dirty="0"/>
              <a:t>, </a:t>
            </a:r>
            <a:r>
              <a:rPr lang="en-GB" dirty="0" err="1"/>
              <a:t>wie</a:t>
            </a:r>
            <a:r>
              <a:rPr lang="en-GB" dirty="0"/>
              <a:t> er </a:t>
            </a:r>
            <a:r>
              <a:rPr lang="en-GB" dirty="0" err="1"/>
              <a:t>bei</a:t>
            </a:r>
            <a:r>
              <a:rPr lang="en-GB" dirty="0"/>
              <a:t> der </a:t>
            </a:r>
            <a:r>
              <a:rPr lang="en-GB" dirty="0" err="1"/>
              <a:t>Abzweigung</a:t>
            </a:r>
            <a:r>
              <a:rPr lang="en-GB" dirty="0"/>
              <a:t> des </a:t>
            </a:r>
            <a:r>
              <a:rPr lang="en-GB" dirty="0" err="1"/>
              <a:t>Ägyptischen</a:t>
            </a:r>
            <a:r>
              <a:rPr lang="en-GB" dirty="0"/>
              <a:t> von </a:t>
            </a:r>
            <a:r>
              <a:rPr lang="en-GB" dirty="0" err="1"/>
              <a:t>dem</a:t>
            </a:r>
            <a:r>
              <a:rPr lang="en-GB" dirty="0"/>
              <a:t> </a:t>
            </a:r>
            <a:r>
              <a:rPr lang="en-GB" dirty="0" err="1"/>
              <a:t>semitischen</a:t>
            </a:r>
            <a:r>
              <a:rPr lang="en-GB" dirty="0"/>
              <a:t> </a:t>
            </a:r>
            <a:r>
              <a:rPr lang="en-GB" dirty="0" err="1"/>
              <a:t>Sprachstamm</a:t>
            </a:r>
            <a:r>
              <a:rPr lang="en-GB" dirty="0"/>
              <a:t> </a:t>
            </a:r>
            <a:r>
              <a:rPr lang="en-GB" dirty="0" err="1"/>
              <a:t>herrschte</a:t>
            </a:r>
            <a:r>
              <a:rPr lang="en-GB" dirty="0"/>
              <a:t>,…”</a:t>
            </a:r>
          </a:p>
        </p:txBody>
      </p:sp>
      <p:sp>
        <p:nvSpPr>
          <p:cNvPr id="4" name="Titel 6">
            <a:extLst>
              <a:ext uri="{FF2B5EF4-FFF2-40B4-BE49-F238E27FC236}">
                <a16:creationId xmlns:a16="http://schemas.microsoft.com/office/drawing/2014/main" id="{A0BF0B39-BB32-75A1-0B8F-605CDD71321A}"/>
              </a:ext>
            </a:extLst>
          </p:cNvPr>
          <p:cNvSpPr txBox="1">
            <a:spLocks/>
          </p:cNvSpPr>
          <p:nvPr/>
        </p:nvSpPr>
        <p:spPr>
          <a:xfrm>
            <a:off x="703796" y="1163655"/>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It all goes back to an early 20th century assumption...</a:t>
            </a:r>
          </a:p>
        </p:txBody>
      </p:sp>
      <p:sp>
        <p:nvSpPr>
          <p:cNvPr id="7" name="Textfeld 6">
            <a:extLst>
              <a:ext uri="{FF2B5EF4-FFF2-40B4-BE49-F238E27FC236}">
                <a16:creationId xmlns:a16="http://schemas.microsoft.com/office/drawing/2014/main" id="{D0D32092-3869-5ACD-DF7E-9F62C2E54E78}"/>
              </a:ext>
            </a:extLst>
          </p:cNvPr>
          <p:cNvSpPr txBox="1"/>
          <p:nvPr/>
        </p:nvSpPr>
        <p:spPr>
          <a:xfrm>
            <a:off x="955231" y="3986286"/>
            <a:ext cx="6393106" cy="1497096"/>
          </a:xfrm>
          <a:prstGeom prst="rect">
            <a:avLst/>
          </a:prstGeom>
          <a:noFill/>
        </p:spPr>
        <p:txBody>
          <a:bodyPr wrap="square" lIns="0" tIns="0" rIns="0" bIns="0" rtlCol="0">
            <a:noAutofit/>
          </a:bodyPr>
          <a:lstStyle/>
          <a:p>
            <a:pPr>
              <a:lnSpc>
                <a:spcPts val="2200"/>
              </a:lnSpc>
            </a:pPr>
            <a:r>
              <a:rPr lang="en-GB" dirty="0"/>
              <a:t>• Egyptian is a semitic language</a:t>
            </a:r>
          </a:p>
          <a:p>
            <a:pPr>
              <a:lnSpc>
                <a:spcPts val="2200"/>
              </a:lnSpc>
            </a:pPr>
            <a:r>
              <a:rPr lang="en-GB" dirty="0"/>
              <a:t>• Proto-Semitic is reconstructed with 3 vowels</a:t>
            </a:r>
          </a:p>
          <a:p>
            <a:pPr>
              <a:lnSpc>
                <a:spcPts val="2200"/>
              </a:lnSpc>
            </a:pPr>
            <a:endParaRPr lang="en-GB" dirty="0"/>
          </a:p>
          <a:p>
            <a:pPr>
              <a:lnSpc>
                <a:spcPts val="2200"/>
              </a:lnSpc>
            </a:pPr>
            <a:r>
              <a:rPr lang="en-GB" b="1" dirty="0"/>
              <a:t>➤ </a:t>
            </a:r>
            <a:r>
              <a:rPr lang="en-GB" b="1" i="1" dirty="0"/>
              <a:t>Therefore</a:t>
            </a:r>
            <a:r>
              <a:rPr lang="en-GB" dirty="0"/>
              <a:t> the Egyptian vocalic system must ultimately go back to a Semitic-like 3-vowel system</a:t>
            </a:r>
          </a:p>
        </p:txBody>
      </p:sp>
      <p:sp>
        <p:nvSpPr>
          <p:cNvPr id="8" name="Textfeld 7">
            <a:extLst>
              <a:ext uri="{FF2B5EF4-FFF2-40B4-BE49-F238E27FC236}">
                <a16:creationId xmlns:a16="http://schemas.microsoft.com/office/drawing/2014/main" id="{24F38151-56EA-2313-A1C2-B50ACA7AE382}"/>
              </a:ext>
            </a:extLst>
          </p:cNvPr>
          <p:cNvSpPr txBox="1"/>
          <p:nvPr/>
        </p:nvSpPr>
        <p:spPr>
          <a:xfrm>
            <a:off x="8709500" y="2060848"/>
            <a:ext cx="2160240"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Proto-</a:t>
            </a:r>
            <a:r>
              <a:rPr lang="de-DE" dirty="0" err="1"/>
              <a:t>Semitic</a:t>
            </a:r>
            <a:endParaRPr lang="de-DE" dirty="0"/>
          </a:p>
          <a:p>
            <a:pPr algn="ctr">
              <a:lnSpc>
                <a:spcPts val="2200"/>
              </a:lnSpc>
            </a:pPr>
            <a:r>
              <a:rPr lang="de-DE" dirty="0"/>
              <a:t>3 </a:t>
            </a:r>
            <a:r>
              <a:rPr lang="de-DE" dirty="0" err="1"/>
              <a:t>vowels</a:t>
            </a:r>
            <a:endParaRPr lang="de-DE" dirty="0"/>
          </a:p>
        </p:txBody>
      </p:sp>
      <p:sp>
        <p:nvSpPr>
          <p:cNvPr id="12" name="Textfeld 11">
            <a:extLst>
              <a:ext uri="{FF2B5EF4-FFF2-40B4-BE49-F238E27FC236}">
                <a16:creationId xmlns:a16="http://schemas.microsoft.com/office/drawing/2014/main" id="{4F2B4837-5A0F-9FEF-D1A8-8DC2757A3B39}"/>
              </a:ext>
            </a:extLst>
          </p:cNvPr>
          <p:cNvSpPr txBox="1"/>
          <p:nvPr/>
        </p:nvSpPr>
        <p:spPr>
          <a:xfrm>
            <a:off x="10212375" y="3914278"/>
            <a:ext cx="1614165"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err="1"/>
              <a:t>Semitic</a:t>
            </a:r>
            <a:r>
              <a:rPr lang="de-DE" dirty="0"/>
              <a:t> </a:t>
            </a:r>
          </a:p>
          <a:p>
            <a:pPr algn="ctr">
              <a:lnSpc>
                <a:spcPts val="2200"/>
              </a:lnSpc>
            </a:pPr>
            <a:r>
              <a:rPr lang="de-DE" dirty="0" err="1"/>
              <a:t>Languages</a:t>
            </a:r>
            <a:endParaRPr lang="de-DE" dirty="0"/>
          </a:p>
        </p:txBody>
      </p:sp>
      <p:sp>
        <p:nvSpPr>
          <p:cNvPr id="13" name="Textfeld 12">
            <a:extLst>
              <a:ext uri="{FF2B5EF4-FFF2-40B4-BE49-F238E27FC236}">
                <a16:creationId xmlns:a16="http://schemas.microsoft.com/office/drawing/2014/main" id="{9A8A54DD-46D8-79C2-DD4D-DD7CA475C6DE}"/>
              </a:ext>
            </a:extLst>
          </p:cNvPr>
          <p:cNvSpPr txBox="1"/>
          <p:nvPr/>
        </p:nvSpPr>
        <p:spPr>
          <a:xfrm>
            <a:off x="7974425" y="3914278"/>
            <a:ext cx="1614165"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err="1"/>
              <a:t>Egyptian</a:t>
            </a:r>
            <a:r>
              <a:rPr lang="de-DE" dirty="0"/>
              <a:t> /</a:t>
            </a:r>
          </a:p>
          <a:p>
            <a:pPr algn="ctr">
              <a:lnSpc>
                <a:spcPts val="2200"/>
              </a:lnSpc>
            </a:pPr>
            <a:r>
              <a:rPr lang="de-DE" dirty="0" err="1"/>
              <a:t>Coptic</a:t>
            </a:r>
            <a:endParaRPr lang="de-DE" dirty="0"/>
          </a:p>
        </p:txBody>
      </p:sp>
      <p:cxnSp>
        <p:nvCxnSpPr>
          <p:cNvPr id="15" name="Gerade Verbindung mit Pfeil 14">
            <a:extLst>
              <a:ext uri="{FF2B5EF4-FFF2-40B4-BE49-F238E27FC236}">
                <a16:creationId xmlns:a16="http://schemas.microsoft.com/office/drawing/2014/main" id="{3C8FF234-02AE-78D7-518B-43C7FFEEA286}"/>
              </a:ext>
            </a:extLst>
          </p:cNvPr>
          <p:cNvCxnSpPr>
            <a:stCxn id="8" idx="2"/>
            <a:endCxn id="13" idx="0"/>
          </p:cNvCxnSpPr>
          <p:nvPr/>
        </p:nvCxnSpPr>
        <p:spPr>
          <a:xfrm flipH="1">
            <a:off x="8781508" y="2781076"/>
            <a:ext cx="1008112" cy="11332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F5099ADE-2EEB-3275-DC56-FEBD6161495C}"/>
              </a:ext>
            </a:extLst>
          </p:cNvPr>
          <p:cNvCxnSpPr>
            <a:stCxn id="8" idx="2"/>
            <a:endCxn id="12" idx="0"/>
          </p:cNvCxnSpPr>
          <p:nvPr/>
        </p:nvCxnSpPr>
        <p:spPr>
          <a:xfrm>
            <a:off x="9789620" y="2781076"/>
            <a:ext cx="1229838" cy="11332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20219"/>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E874D-C441-20E0-39B7-341C52A7A7A5}"/>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44316415-B071-1B5E-95E6-8E18334C5201}"/>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A8FDEF89-5F30-8CA7-E3BF-292A44A7D4FF}"/>
              </a:ext>
            </a:extLst>
          </p:cNvPr>
          <p:cNvSpPr>
            <a:spLocks noGrp="1"/>
          </p:cNvSpPr>
          <p:nvPr>
            <p:ph type="sldNum" sz="quarter" idx="12"/>
          </p:nvPr>
        </p:nvSpPr>
        <p:spPr/>
        <p:txBody>
          <a:bodyPr/>
          <a:lstStyle/>
          <a:p>
            <a:fld id="{B3811826-9277-4232-A2B5-17D05DFC7392}" type="slidenum">
              <a:rPr lang="en-GB" smtClean="0"/>
              <a:pPr/>
              <a:t>8</a:t>
            </a:fld>
            <a:endParaRPr lang="en-GB" dirty="0"/>
          </a:p>
        </p:txBody>
      </p:sp>
      <p:cxnSp>
        <p:nvCxnSpPr>
          <p:cNvPr id="9" name="Gerade Verbindung 7">
            <a:extLst>
              <a:ext uri="{FF2B5EF4-FFF2-40B4-BE49-F238E27FC236}">
                <a16:creationId xmlns:a16="http://schemas.microsoft.com/office/drawing/2014/main" id="{7F527E81-5709-D196-40EC-A3C2C7F0FCF2}"/>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C2A093C0-CC33-E74D-16DD-756A5BD85739}"/>
              </a:ext>
            </a:extLst>
          </p:cNvPr>
          <p:cNvSpPr>
            <a:spLocks noGrp="1"/>
          </p:cNvSpPr>
          <p:nvPr>
            <p:ph type="title"/>
          </p:nvPr>
        </p:nvSpPr>
        <p:spPr>
          <a:xfrm>
            <a:off x="334800" y="404813"/>
            <a:ext cx="11521840" cy="755936"/>
          </a:xfrm>
        </p:spPr>
        <p:txBody>
          <a:bodyPr/>
          <a:lstStyle/>
          <a:p>
            <a:r>
              <a:rPr lang="en-GB" dirty="0"/>
              <a:t>Why reconstructing 3 vowels in the first place?</a:t>
            </a:r>
          </a:p>
        </p:txBody>
      </p:sp>
      <p:sp>
        <p:nvSpPr>
          <p:cNvPr id="3" name="Datumsplatzhalter 3">
            <a:extLst>
              <a:ext uri="{FF2B5EF4-FFF2-40B4-BE49-F238E27FC236}">
                <a16:creationId xmlns:a16="http://schemas.microsoft.com/office/drawing/2014/main" id="{ECDDA3D3-2382-8140-94DC-7511A79E6CCC}"/>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A0A76BEE-F72E-D091-B91D-5110767590AA}"/>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0E312A63-3486-6D35-E9DA-F17514787952}"/>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18" name="Textfeld 17">
            <a:extLst>
              <a:ext uri="{FF2B5EF4-FFF2-40B4-BE49-F238E27FC236}">
                <a16:creationId xmlns:a16="http://schemas.microsoft.com/office/drawing/2014/main" id="{ABF9C6C4-3403-D548-246D-C59D919526E2}"/>
              </a:ext>
            </a:extLst>
          </p:cNvPr>
          <p:cNvSpPr txBox="1"/>
          <p:nvPr/>
        </p:nvSpPr>
        <p:spPr>
          <a:xfrm>
            <a:off x="999038" y="1931905"/>
            <a:ext cx="6393106" cy="1497096"/>
          </a:xfrm>
          <a:prstGeom prst="rect">
            <a:avLst/>
          </a:prstGeom>
          <a:noFill/>
        </p:spPr>
        <p:txBody>
          <a:bodyPr wrap="square" lIns="0" tIns="0" rIns="0" bIns="0" rtlCol="0">
            <a:noAutofit/>
          </a:bodyPr>
          <a:lstStyle/>
          <a:p>
            <a:pPr>
              <a:lnSpc>
                <a:spcPts val="2200"/>
              </a:lnSpc>
            </a:pPr>
            <a:r>
              <a:rPr lang="en-GB" dirty="0"/>
              <a:t>Sethe 1923, in the first article discussing pre-Coptic vowels:</a:t>
            </a:r>
          </a:p>
          <a:p>
            <a:pPr>
              <a:lnSpc>
                <a:spcPts val="2200"/>
              </a:lnSpc>
            </a:pPr>
            <a:endParaRPr lang="en-GB" dirty="0"/>
          </a:p>
          <a:p>
            <a:pPr>
              <a:lnSpc>
                <a:spcPts val="2200"/>
              </a:lnSpc>
            </a:pPr>
            <a:r>
              <a:rPr lang="en-GB" dirty="0"/>
              <a:t>“…auf den </a:t>
            </a:r>
            <a:r>
              <a:rPr lang="en-GB" dirty="0" err="1"/>
              <a:t>Urzustand</a:t>
            </a:r>
            <a:r>
              <a:rPr lang="en-GB" dirty="0"/>
              <a:t> des </a:t>
            </a:r>
            <a:r>
              <a:rPr lang="en-GB" dirty="0" err="1"/>
              <a:t>ägyptischen</a:t>
            </a:r>
            <a:r>
              <a:rPr lang="en-GB" dirty="0"/>
              <a:t> </a:t>
            </a:r>
            <a:r>
              <a:rPr lang="en-GB" dirty="0" err="1"/>
              <a:t>Vokalismus</a:t>
            </a:r>
            <a:r>
              <a:rPr lang="en-GB" dirty="0"/>
              <a:t> </a:t>
            </a:r>
            <a:r>
              <a:rPr lang="en-GB" dirty="0" err="1"/>
              <a:t>gekommen</a:t>
            </a:r>
            <a:r>
              <a:rPr lang="en-GB" dirty="0"/>
              <a:t> </a:t>
            </a:r>
            <a:r>
              <a:rPr lang="en-GB" dirty="0" err="1"/>
              <a:t>sind</a:t>
            </a:r>
            <a:r>
              <a:rPr lang="en-GB" dirty="0"/>
              <a:t>, auf den </a:t>
            </a:r>
            <a:r>
              <a:rPr lang="en-GB" dirty="0" err="1"/>
              <a:t>Zustand</a:t>
            </a:r>
            <a:r>
              <a:rPr lang="en-GB" dirty="0"/>
              <a:t>, </a:t>
            </a:r>
            <a:r>
              <a:rPr lang="en-GB" dirty="0" err="1"/>
              <a:t>wie</a:t>
            </a:r>
            <a:r>
              <a:rPr lang="en-GB" dirty="0"/>
              <a:t> er </a:t>
            </a:r>
            <a:r>
              <a:rPr lang="en-GB" dirty="0" err="1"/>
              <a:t>bei</a:t>
            </a:r>
            <a:r>
              <a:rPr lang="en-GB" dirty="0"/>
              <a:t> der </a:t>
            </a:r>
            <a:r>
              <a:rPr lang="en-GB" dirty="0" err="1"/>
              <a:t>Abzweigung</a:t>
            </a:r>
            <a:r>
              <a:rPr lang="en-GB" dirty="0"/>
              <a:t> des </a:t>
            </a:r>
            <a:r>
              <a:rPr lang="en-GB" dirty="0" err="1"/>
              <a:t>Ägyptischen</a:t>
            </a:r>
            <a:r>
              <a:rPr lang="en-GB" dirty="0"/>
              <a:t> von </a:t>
            </a:r>
            <a:r>
              <a:rPr lang="en-GB" dirty="0" err="1"/>
              <a:t>dem</a:t>
            </a:r>
            <a:r>
              <a:rPr lang="en-GB" dirty="0"/>
              <a:t> </a:t>
            </a:r>
            <a:r>
              <a:rPr lang="en-GB" dirty="0" err="1"/>
              <a:t>semitischen</a:t>
            </a:r>
            <a:r>
              <a:rPr lang="en-GB" dirty="0"/>
              <a:t> </a:t>
            </a:r>
            <a:r>
              <a:rPr lang="en-GB" dirty="0" err="1"/>
              <a:t>Sprachstamm</a:t>
            </a:r>
            <a:r>
              <a:rPr lang="en-GB" dirty="0"/>
              <a:t> </a:t>
            </a:r>
            <a:r>
              <a:rPr lang="en-GB" dirty="0" err="1"/>
              <a:t>herrschte</a:t>
            </a:r>
            <a:r>
              <a:rPr lang="en-GB" dirty="0"/>
              <a:t>,…”</a:t>
            </a:r>
          </a:p>
        </p:txBody>
      </p:sp>
      <p:sp>
        <p:nvSpPr>
          <p:cNvPr id="4" name="Titel 6">
            <a:extLst>
              <a:ext uri="{FF2B5EF4-FFF2-40B4-BE49-F238E27FC236}">
                <a16:creationId xmlns:a16="http://schemas.microsoft.com/office/drawing/2014/main" id="{432A25A2-5F3D-E0CA-09E6-2A2B2B3BC689}"/>
              </a:ext>
            </a:extLst>
          </p:cNvPr>
          <p:cNvSpPr txBox="1">
            <a:spLocks/>
          </p:cNvSpPr>
          <p:nvPr/>
        </p:nvSpPr>
        <p:spPr>
          <a:xfrm>
            <a:off x="703796" y="1163655"/>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It all goes back to an early 20th century assumption...</a:t>
            </a:r>
          </a:p>
        </p:txBody>
      </p:sp>
      <p:sp>
        <p:nvSpPr>
          <p:cNvPr id="7" name="Textfeld 6">
            <a:extLst>
              <a:ext uri="{FF2B5EF4-FFF2-40B4-BE49-F238E27FC236}">
                <a16:creationId xmlns:a16="http://schemas.microsoft.com/office/drawing/2014/main" id="{35587D91-C532-13D1-D807-F0CEBD37B759}"/>
              </a:ext>
            </a:extLst>
          </p:cNvPr>
          <p:cNvSpPr txBox="1"/>
          <p:nvPr/>
        </p:nvSpPr>
        <p:spPr>
          <a:xfrm>
            <a:off x="955231" y="3986286"/>
            <a:ext cx="6393106" cy="1497096"/>
          </a:xfrm>
          <a:prstGeom prst="rect">
            <a:avLst/>
          </a:prstGeom>
          <a:noFill/>
        </p:spPr>
        <p:txBody>
          <a:bodyPr wrap="square" lIns="0" tIns="0" rIns="0" bIns="0" rtlCol="0">
            <a:noAutofit/>
          </a:bodyPr>
          <a:lstStyle/>
          <a:p>
            <a:pPr>
              <a:lnSpc>
                <a:spcPts val="2200"/>
              </a:lnSpc>
            </a:pPr>
            <a:r>
              <a:rPr lang="en-GB" dirty="0"/>
              <a:t>• Egyptian is a semitic language</a:t>
            </a:r>
          </a:p>
          <a:p>
            <a:pPr>
              <a:lnSpc>
                <a:spcPts val="2200"/>
              </a:lnSpc>
            </a:pPr>
            <a:r>
              <a:rPr lang="en-GB" dirty="0"/>
              <a:t>• Proto-Semitic is reconstructed with 3 vowels</a:t>
            </a:r>
          </a:p>
          <a:p>
            <a:pPr>
              <a:lnSpc>
                <a:spcPts val="2200"/>
              </a:lnSpc>
            </a:pPr>
            <a:endParaRPr lang="en-GB" dirty="0"/>
          </a:p>
          <a:p>
            <a:pPr>
              <a:lnSpc>
                <a:spcPts val="2200"/>
              </a:lnSpc>
            </a:pPr>
            <a:r>
              <a:rPr lang="en-GB" b="1" dirty="0"/>
              <a:t>➤ </a:t>
            </a:r>
            <a:r>
              <a:rPr lang="en-GB" b="1" i="1" dirty="0"/>
              <a:t>Therefore</a:t>
            </a:r>
            <a:r>
              <a:rPr lang="en-GB" dirty="0"/>
              <a:t> the Egyptian vocalic system must ultimately go back to a Semitic-like 3-vowel system</a:t>
            </a:r>
          </a:p>
        </p:txBody>
      </p:sp>
      <p:sp>
        <p:nvSpPr>
          <p:cNvPr id="8" name="Textfeld 7">
            <a:extLst>
              <a:ext uri="{FF2B5EF4-FFF2-40B4-BE49-F238E27FC236}">
                <a16:creationId xmlns:a16="http://schemas.microsoft.com/office/drawing/2014/main" id="{750F5F5D-AAEC-3438-C5BD-E7EA96BEB2D1}"/>
              </a:ext>
            </a:extLst>
          </p:cNvPr>
          <p:cNvSpPr txBox="1"/>
          <p:nvPr/>
        </p:nvSpPr>
        <p:spPr>
          <a:xfrm>
            <a:off x="8709500" y="2060848"/>
            <a:ext cx="2160240"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Proto-</a:t>
            </a:r>
            <a:r>
              <a:rPr lang="de-DE" dirty="0" err="1"/>
              <a:t>Semitic</a:t>
            </a:r>
            <a:endParaRPr lang="de-DE" dirty="0"/>
          </a:p>
          <a:p>
            <a:pPr algn="ctr">
              <a:lnSpc>
                <a:spcPts val="2200"/>
              </a:lnSpc>
            </a:pPr>
            <a:r>
              <a:rPr lang="de-DE" dirty="0"/>
              <a:t>3 </a:t>
            </a:r>
            <a:r>
              <a:rPr lang="de-DE" dirty="0" err="1"/>
              <a:t>vowels</a:t>
            </a:r>
            <a:endParaRPr lang="de-DE" dirty="0"/>
          </a:p>
        </p:txBody>
      </p:sp>
      <p:sp>
        <p:nvSpPr>
          <p:cNvPr id="12" name="Textfeld 11">
            <a:extLst>
              <a:ext uri="{FF2B5EF4-FFF2-40B4-BE49-F238E27FC236}">
                <a16:creationId xmlns:a16="http://schemas.microsoft.com/office/drawing/2014/main" id="{5A42C3CC-EC83-AA63-193C-66056BF142D6}"/>
              </a:ext>
            </a:extLst>
          </p:cNvPr>
          <p:cNvSpPr txBox="1"/>
          <p:nvPr/>
        </p:nvSpPr>
        <p:spPr>
          <a:xfrm>
            <a:off x="10212375" y="3914278"/>
            <a:ext cx="1614165"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err="1"/>
              <a:t>Semitic</a:t>
            </a:r>
            <a:r>
              <a:rPr lang="de-DE" dirty="0"/>
              <a:t> </a:t>
            </a:r>
          </a:p>
          <a:p>
            <a:pPr algn="ctr">
              <a:lnSpc>
                <a:spcPts val="2200"/>
              </a:lnSpc>
            </a:pPr>
            <a:r>
              <a:rPr lang="de-DE" dirty="0" err="1"/>
              <a:t>Languages</a:t>
            </a:r>
            <a:endParaRPr lang="de-DE" dirty="0"/>
          </a:p>
        </p:txBody>
      </p:sp>
      <p:sp>
        <p:nvSpPr>
          <p:cNvPr id="13" name="Textfeld 12">
            <a:extLst>
              <a:ext uri="{FF2B5EF4-FFF2-40B4-BE49-F238E27FC236}">
                <a16:creationId xmlns:a16="http://schemas.microsoft.com/office/drawing/2014/main" id="{6FC85082-E074-A489-9EE8-3C8778F88CE1}"/>
              </a:ext>
            </a:extLst>
          </p:cNvPr>
          <p:cNvSpPr txBox="1"/>
          <p:nvPr/>
        </p:nvSpPr>
        <p:spPr>
          <a:xfrm>
            <a:off x="7974425" y="3914278"/>
            <a:ext cx="1614165"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err="1"/>
              <a:t>Egyptian</a:t>
            </a:r>
            <a:r>
              <a:rPr lang="de-DE" dirty="0"/>
              <a:t> /</a:t>
            </a:r>
          </a:p>
          <a:p>
            <a:pPr algn="ctr">
              <a:lnSpc>
                <a:spcPts val="2200"/>
              </a:lnSpc>
            </a:pPr>
            <a:r>
              <a:rPr lang="de-DE" dirty="0" err="1"/>
              <a:t>Coptic</a:t>
            </a:r>
            <a:endParaRPr lang="de-DE" dirty="0"/>
          </a:p>
        </p:txBody>
      </p:sp>
      <p:cxnSp>
        <p:nvCxnSpPr>
          <p:cNvPr id="15" name="Gerade Verbindung mit Pfeil 14">
            <a:extLst>
              <a:ext uri="{FF2B5EF4-FFF2-40B4-BE49-F238E27FC236}">
                <a16:creationId xmlns:a16="http://schemas.microsoft.com/office/drawing/2014/main" id="{99E5404E-61FC-45F7-96BA-33242DBB0A1A}"/>
              </a:ext>
            </a:extLst>
          </p:cNvPr>
          <p:cNvCxnSpPr>
            <a:stCxn id="8" idx="2"/>
            <a:endCxn id="13" idx="0"/>
          </p:cNvCxnSpPr>
          <p:nvPr/>
        </p:nvCxnSpPr>
        <p:spPr>
          <a:xfrm flipH="1">
            <a:off x="8781508" y="2781076"/>
            <a:ext cx="1008112" cy="11332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AE173CE6-EC59-9033-4CAD-FEB143E40855}"/>
              </a:ext>
            </a:extLst>
          </p:cNvPr>
          <p:cNvCxnSpPr>
            <a:stCxn id="8" idx="2"/>
            <a:endCxn id="12" idx="0"/>
          </p:cNvCxnSpPr>
          <p:nvPr/>
        </p:nvCxnSpPr>
        <p:spPr>
          <a:xfrm>
            <a:off x="9789620" y="2781076"/>
            <a:ext cx="1229838" cy="11332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Rechteck 1">
            <a:extLst>
              <a:ext uri="{FF2B5EF4-FFF2-40B4-BE49-F238E27FC236}">
                <a16:creationId xmlns:a16="http://schemas.microsoft.com/office/drawing/2014/main" id="{E7EB511D-1744-B45B-B594-A9E297DF07C1}"/>
              </a:ext>
            </a:extLst>
          </p:cNvPr>
          <p:cNvSpPr/>
          <p:nvPr/>
        </p:nvSpPr>
        <p:spPr>
          <a:xfrm rot="19020187">
            <a:off x="7201273" y="3267999"/>
            <a:ext cx="4866444" cy="180000"/>
          </a:xfrm>
          <a:prstGeom prst="rect">
            <a:avLst/>
          </a:prstGeom>
          <a:solidFill>
            <a:srgbClr val="C00000"/>
          </a:solidFill>
          <a:ln>
            <a:solidFill>
              <a:srgbClr val="D205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4" name="Rechteck 13">
            <a:extLst>
              <a:ext uri="{FF2B5EF4-FFF2-40B4-BE49-F238E27FC236}">
                <a16:creationId xmlns:a16="http://schemas.microsoft.com/office/drawing/2014/main" id="{A01A24A0-A005-DC66-BF57-65D5834916B2}"/>
              </a:ext>
            </a:extLst>
          </p:cNvPr>
          <p:cNvSpPr/>
          <p:nvPr/>
        </p:nvSpPr>
        <p:spPr>
          <a:xfrm rot="2404164">
            <a:off x="7407194" y="3257676"/>
            <a:ext cx="4866444" cy="180000"/>
          </a:xfrm>
          <a:prstGeom prst="rect">
            <a:avLst/>
          </a:prstGeom>
          <a:solidFill>
            <a:srgbClr val="C00000"/>
          </a:solidFill>
          <a:ln>
            <a:solidFill>
              <a:srgbClr val="D205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Tree>
    <p:extLst>
      <p:ext uri="{BB962C8B-B14F-4D97-AF65-F5344CB8AC3E}">
        <p14:creationId xmlns:p14="http://schemas.microsoft.com/office/powerpoint/2010/main" val="511177842"/>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13287-4E0D-0BC2-AB01-CDD53A573E24}"/>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AB5C8ABB-3AC9-6F4A-4FD9-34568DD82623}"/>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12502BD2-BA90-86FA-CEEC-8AF10E0F3F9E}"/>
              </a:ext>
            </a:extLst>
          </p:cNvPr>
          <p:cNvSpPr>
            <a:spLocks noGrp="1"/>
          </p:cNvSpPr>
          <p:nvPr>
            <p:ph type="sldNum" sz="quarter" idx="12"/>
          </p:nvPr>
        </p:nvSpPr>
        <p:spPr/>
        <p:txBody>
          <a:bodyPr/>
          <a:lstStyle/>
          <a:p>
            <a:fld id="{B3811826-9277-4232-A2B5-17D05DFC7392}" type="slidenum">
              <a:rPr lang="de-CH" smtClean="0"/>
              <a:pPr/>
              <a:t>9</a:t>
            </a:fld>
            <a:endParaRPr lang="de-CH" dirty="0"/>
          </a:p>
        </p:txBody>
      </p:sp>
      <p:cxnSp>
        <p:nvCxnSpPr>
          <p:cNvPr id="9" name="Gerade Verbindung 7">
            <a:extLst>
              <a:ext uri="{FF2B5EF4-FFF2-40B4-BE49-F238E27FC236}">
                <a16:creationId xmlns:a16="http://schemas.microsoft.com/office/drawing/2014/main" id="{B8ED1B4B-7D99-8DB4-9B2E-EF4345D2DB6B}"/>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BCA18625-7FA6-2947-1A6C-3FD7B2B79783}"/>
              </a:ext>
            </a:extLst>
          </p:cNvPr>
          <p:cNvSpPr>
            <a:spLocks noGrp="1"/>
          </p:cNvSpPr>
          <p:nvPr>
            <p:ph type="title"/>
          </p:nvPr>
        </p:nvSpPr>
        <p:spPr>
          <a:xfrm>
            <a:off x="334800" y="404813"/>
            <a:ext cx="11521840" cy="755936"/>
          </a:xfrm>
        </p:spPr>
        <p:txBody>
          <a:bodyPr/>
          <a:lstStyle/>
          <a:p>
            <a:r>
              <a:rPr lang="en-GB" dirty="0"/>
              <a:t>But Egyptian is not Semitic!</a:t>
            </a:r>
            <a:endParaRPr lang="de-CH" dirty="0"/>
          </a:p>
        </p:txBody>
      </p:sp>
      <p:sp>
        <p:nvSpPr>
          <p:cNvPr id="3" name="Datumsplatzhalter 3">
            <a:extLst>
              <a:ext uri="{FF2B5EF4-FFF2-40B4-BE49-F238E27FC236}">
                <a16:creationId xmlns:a16="http://schemas.microsoft.com/office/drawing/2014/main" id="{C335A585-2A87-84C7-0662-4558B1606DEB}"/>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79C52668-6460-3225-5872-5682E1D80DC8}"/>
              </a:ext>
            </a:extLst>
          </p:cNvPr>
          <p:cNvSpPr txBox="1"/>
          <p:nvPr/>
        </p:nvSpPr>
        <p:spPr>
          <a:xfrm>
            <a:off x="3122094" y="386930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E1341916-1234-A727-C29A-1A7488080B0C}"/>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467DDD0B-BBE9-4A2C-D4AF-3E177D2860AF}"/>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7" name="Textfeld 6">
            <a:extLst>
              <a:ext uri="{FF2B5EF4-FFF2-40B4-BE49-F238E27FC236}">
                <a16:creationId xmlns:a16="http://schemas.microsoft.com/office/drawing/2014/main" id="{B720EBD1-A3CC-7A9A-C1FE-3E92AD34C831}"/>
              </a:ext>
            </a:extLst>
          </p:cNvPr>
          <p:cNvSpPr txBox="1"/>
          <p:nvPr/>
        </p:nvSpPr>
        <p:spPr>
          <a:xfrm>
            <a:off x="1412901" y="4332578"/>
            <a:ext cx="3812025" cy="1795815"/>
          </a:xfrm>
          <a:prstGeom prst="rect">
            <a:avLst/>
          </a:prstGeom>
          <a:noFill/>
        </p:spPr>
        <p:txBody>
          <a:bodyPr wrap="square" lIns="0" tIns="0" rIns="0" bIns="0" rtlCol="0">
            <a:noAutofit/>
          </a:bodyPr>
          <a:lstStyle/>
          <a:p>
            <a:pPr>
              <a:lnSpc>
                <a:spcPts val="2200"/>
              </a:lnSpc>
            </a:pPr>
            <a:r>
              <a:rPr lang="de-DE" dirty="0"/>
              <a:t>Proto-</a:t>
            </a:r>
            <a:r>
              <a:rPr lang="de-DE" dirty="0" err="1"/>
              <a:t>Semitic</a:t>
            </a:r>
            <a:r>
              <a:rPr lang="de-DE" dirty="0"/>
              <a:t> : 3 </a:t>
            </a:r>
            <a:r>
              <a:rPr lang="de-DE" dirty="0" err="1"/>
              <a:t>vowels</a:t>
            </a:r>
            <a:endParaRPr lang="de-DE" dirty="0"/>
          </a:p>
          <a:p>
            <a:pPr>
              <a:lnSpc>
                <a:spcPts val="2200"/>
              </a:lnSpc>
            </a:pPr>
            <a:endParaRPr lang="de-DE" dirty="0"/>
          </a:p>
          <a:p>
            <a:pPr>
              <a:lnSpc>
                <a:spcPts val="2200"/>
              </a:lnSpc>
            </a:pPr>
            <a:endParaRPr lang="de-DE" dirty="0"/>
          </a:p>
          <a:p>
            <a:pPr>
              <a:lnSpc>
                <a:spcPts val="2200"/>
              </a:lnSpc>
            </a:pPr>
            <a:endParaRPr lang="de-DE" dirty="0"/>
          </a:p>
        </p:txBody>
      </p:sp>
      <p:sp>
        <p:nvSpPr>
          <p:cNvPr id="12" name="Textfeld 11">
            <a:extLst>
              <a:ext uri="{FF2B5EF4-FFF2-40B4-BE49-F238E27FC236}">
                <a16:creationId xmlns:a16="http://schemas.microsoft.com/office/drawing/2014/main" id="{8771B56D-49E4-B0D9-C97A-8A6B507613F0}"/>
              </a:ext>
            </a:extLst>
          </p:cNvPr>
          <p:cNvSpPr txBox="1"/>
          <p:nvPr/>
        </p:nvSpPr>
        <p:spPr>
          <a:xfrm>
            <a:off x="2990492" y="3068886"/>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a:t>
            </a:r>
            <a:r>
              <a:rPr lang="de-DE" dirty="0" err="1"/>
              <a:t>Semitic</a:t>
            </a:r>
            <a:endParaRPr lang="de-DE" dirty="0"/>
          </a:p>
        </p:txBody>
      </p:sp>
      <p:sp>
        <p:nvSpPr>
          <p:cNvPr id="13" name="Textfeld 12">
            <a:extLst>
              <a:ext uri="{FF2B5EF4-FFF2-40B4-BE49-F238E27FC236}">
                <a16:creationId xmlns:a16="http://schemas.microsoft.com/office/drawing/2014/main" id="{5FFC1D0A-9FFA-E54F-7EEB-EDA5EC2F3A3C}"/>
              </a:ext>
            </a:extLst>
          </p:cNvPr>
          <p:cNvSpPr txBox="1"/>
          <p:nvPr/>
        </p:nvSpPr>
        <p:spPr>
          <a:xfrm>
            <a:off x="1412901" y="3068886"/>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P-Berber</a:t>
            </a:r>
          </a:p>
        </p:txBody>
      </p:sp>
      <p:sp>
        <p:nvSpPr>
          <p:cNvPr id="14" name="Textfeld 13">
            <a:extLst>
              <a:ext uri="{FF2B5EF4-FFF2-40B4-BE49-F238E27FC236}">
                <a16:creationId xmlns:a16="http://schemas.microsoft.com/office/drawing/2014/main" id="{6622D4A5-117E-29DB-FB03-7FAFCA9906E4}"/>
              </a:ext>
            </a:extLst>
          </p:cNvPr>
          <p:cNvSpPr txBox="1"/>
          <p:nvPr/>
        </p:nvSpPr>
        <p:spPr>
          <a:xfrm>
            <a:off x="4541687" y="3068886"/>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P-Eg-</a:t>
            </a:r>
            <a:r>
              <a:rPr lang="de-DE" dirty="0" err="1"/>
              <a:t>Cpt</a:t>
            </a:r>
            <a:endParaRPr lang="de-DE" dirty="0"/>
          </a:p>
        </p:txBody>
      </p:sp>
      <p:sp>
        <p:nvSpPr>
          <p:cNvPr id="15" name="Textfeld 14">
            <a:extLst>
              <a:ext uri="{FF2B5EF4-FFF2-40B4-BE49-F238E27FC236}">
                <a16:creationId xmlns:a16="http://schemas.microsoft.com/office/drawing/2014/main" id="{2D6DCA3B-016B-A585-8CF2-248AC2D89FEF}"/>
              </a:ext>
            </a:extLst>
          </p:cNvPr>
          <p:cNvSpPr txBox="1"/>
          <p:nvPr/>
        </p:nvSpPr>
        <p:spPr>
          <a:xfrm>
            <a:off x="6092882" y="3068886"/>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a:t>
            </a:r>
            <a:r>
              <a:rPr lang="de-DE" dirty="0" err="1"/>
              <a:t>Chadic</a:t>
            </a:r>
            <a:endParaRPr lang="de-DE" dirty="0"/>
          </a:p>
        </p:txBody>
      </p:sp>
      <p:sp>
        <p:nvSpPr>
          <p:cNvPr id="17" name="Textfeld 16">
            <a:extLst>
              <a:ext uri="{FF2B5EF4-FFF2-40B4-BE49-F238E27FC236}">
                <a16:creationId xmlns:a16="http://schemas.microsoft.com/office/drawing/2014/main" id="{BA58B777-DB03-B32C-F39F-9C6B9BCB6F55}"/>
              </a:ext>
            </a:extLst>
          </p:cNvPr>
          <p:cNvSpPr txBox="1"/>
          <p:nvPr/>
        </p:nvSpPr>
        <p:spPr>
          <a:xfrm>
            <a:off x="7638276" y="3068886"/>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a:t>
            </a:r>
            <a:r>
              <a:rPr lang="de-DE" dirty="0" err="1"/>
              <a:t>Cushitic</a:t>
            </a:r>
            <a:endParaRPr lang="de-DE" dirty="0"/>
          </a:p>
        </p:txBody>
      </p:sp>
      <p:sp>
        <p:nvSpPr>
          <p:cNvPr id="19" name="Textfeld 18">
            <a:extLst>
              <a:ext uri="{FF2B5EF4-FFF2-40B4-BE49-F238E27FC236}">
                <a16:creationId xmlns:a16="http://schemas.microsoft.com/office/drawing/2014/main" id="{41183FB0-8B00-95CD-05DC-D53FC3F4940F}"/>
              </a:ext>
            </a:extLst>
          </p:cNvPr>
          <p:cNvSpPr txBox="1"/>
          <p:nvPr/>
        </p:nvSpPr>
        <p:spPr>
          <a:xfrm>
            <a:off x="9183670" y="3065865"/>
            <a:ext cx="142559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a:t>
            </a:r>
            <a:r>
              <a:rPr lang="de-DE" dirty="0" err="1"/>
              <a:t>Omotic</a:t>
            </a:r>
            <a:endParaRPr lang="de-DE" dirty="0"/>
          </a:p>
        </p:txBody>
      </p:sp>
      <p:sp>
        <p:nvSpPr>
          <p:cNvPr id="20" name="Textfeld 19">
            <a:extLst>
              <a:ext uri="{FF2B5EF4-FFF2-40B4-BE49-F238E27FC236}">
                <a16:creationId xmlns:a16="http://schemas.microsoft.com/office/drawing/2014/main" id="{37AC6753-1C06-434F-4A3A-9C920E900AA5}"/>
              </a:ext>
            </a:extLst>
          </p:cNvPr>
          <p:cNvSpPr txBox="1"/>
          <p:nvPr/>
        </p:nvSpPr>
        <p:spPr>
          <a:xfrm>
            <a:off x="4969336" y="1177978"/>
            <a:ext cx="2137658" cy="720228"/>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lnSpc>
                <a:spcPts val="2200"/>
              </a:lnSpc>
            </a:pPr>
            <a:r>
              <a:rPr lang="de-DE" dirty="0"/>
              <a:t>Proto-Afro-</a:t>
            </a:r>
            <a:r>
              <a:rPr lang="de-DE" dirty="0" err="1"/>
              <a:t>Asiatic</a:t>
            </a:r>
            <a:endParaRPr lang="de-DE" dirty="0"/>
          </a:p>
        </p:txBody>
      </p:sp>
      <p:cxnSp>
        <p:nvCxnSpPr>
          <p:cNvPr id="21" name="Gerade Verbindung mit Pfeil 20">
            <a:extLst>
              <a:ext uri="{FF2B5EF4-FFF2-40B4-BE49-F238E27FC236}">
                <a16:creationId xmlns:a16="http://schemas.microsoft.com/office/drawing/2014/main" id="{726F675A-3A90-4E7F-F9A0-F00D67C5D5F0}"/>
              </a:ext>
            </a:extLst>
          </p:cNvPr>
          <p:cNvCxnSpPr>
            <a:cxnSpLocks/>
            <a:endCxn id="13" idx="0"/>
          </p:cNvCxnSpPr>
          <p:nvPr/>
        </p:nvCxnSpPr>
        <p:spPr>
          <a:xfrm flipH="1">
            <a:off x="2125700" y="1898206"/>
            <a:ext cx="3937082" cy="11706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Gerade Verbindung mit Pfeil 22">
            <a:extLst>
              <a:ext uri="{FF2B5EF4-FFF2-40B4-BE49-F238E27FC236}">
                <a16:creationId xmlns:a16="http://schemas.microsoft.com/office/drawing/2014/main" id="{4CB2B7A4-5DAE-52FC-BEB3-4434DD507260}"/>
              </a:ext>
            </a:extLst>
          </p:cNvPr>
          <p:cNvCxnSpPr>
            <a:cxnSpLocks/>
            <a:stCxn id="20" idx="2"/>
            <a:endCxn id="12" idx="0"/>
          </p:cNvCxnSpPr>
          <p:nvPr/>
        </p:nvCxnSpPr>
        <p:spPr>
          <a:xfrm flipH="1">
            <a:off x="3703291" y="1898206"/>
            <a:ext cx="2334874" cy="11706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5F982D60-FB58-806E-6642-222A8128EFC3}"/>
              </a:ext>
            </a:extLst>
          </p:cNvPr>
          <p:cNvCxnSpPr>
            <a:cxnSpLocks/>
            <a:stCxn id="20" idx="2"/>
            <a:endCxn id="14" idx="0"/>
          </p:cNvCxnSpPr>
          <p:nvPr/>
        </p:nvCxnSpPr>
        <p:spPr>
          <a:xfrm flipH="1">
            <a:off x="5254486" y="1898206"/>
            <a:ext cx="783679" cy="11706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663229EE-2A45-088A-2AEA-500EDF802880}"/>
              </a:ext>
            </a:extLst>
          </p:cNvPr>
          <p:cNvCxnSpPr>
            <a:cxnSpLocks/>
            <a:stCxn id="20" idx="2"/>
            <a:endCxn id="15" idx="0"/>
          </p:cNvCxnSpPr>
          <p:nvPr/>
        </p:nvCxnSpPr>
        <p:spPr>
          <a:xfrm>
            <a:off x="6038165" y="1898206"/>
            <a:ext cx="767516" cy="11706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93992EEC-D655-FE94-0735-D50ACF918846}"/>
              </a:ext>
            </a:extLst>
          </p:cNvPr>
          <p:cNvCxnSpPr>
            <a:cxnSpLocks/>
            <a:stCxn id="20" idx="2"/>
            <a:endCxn id="17" idx="0"/>
          </p:cNvCxnSpPr>
          <p:nvPr/>
        </p:nvCxnSpPr>
        <p:spPr>
          <a:xfrm>
            <a:off x="6038165" y="1898206"/>
            <a:ext cx="2312910" cy="11706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9CD9E495-B735-0E4D-F751-CD5DECE5ACDF}"/>
              </a:ext>
            </a:extLst>
          </p:cNvPr>
          <p:cNvCxnSpPr>
            <a:cxnSpLocks/>
            <a:stCxn id="20" idx="2"/>
            <a:endCxn id="19" idx="0"/>
          </p:cNvCxnSpPr>
          <p:nvPr/>
        </p:nvCxnSpPr>
        <p:spPr>
          <a:xfrm>
            <a:off x="6038165" y="1898206"/>
            <a:ext cx="3858304" cy="116765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C096E52E-EEBC-A879-546B-1EE048DFDD8A}"/>
              </a:ext>
            </a:extLst>
          </p:cNvPr>
          <p:cNvSpPr txBox="1"/>
          <p:nvPr/>
        </p:nvSpPr>
        <p:spPr>
          <a:xfrm>
            <a:off x="6421923" y="4325642"/>
            <a:ext cx="6098582" cy="2049215"/>
          </a:xfrm>
          <a:prstGeom prst="rect">
            <a:avLst/>
          </a:prstGeom>
          <a:noFill/>
        </p:spPr>
        <p:txBody>
          <a:bodyPr wrap="square">
            <a:spAutoFit/>
          </a:bodyPr>
          <a:lstStyle/>
          <a:p>
            <a:pPr>
              <a:lnSpc>
                <a:spcPts val="2200"/>
              </a:lnSpc>
            </a:pPr>
            <a:r>
              <a:rPr lang="de-DE" dirty="0"/>
              <a:t>Proto-</a:t>
            </a:r>
            <a:r>
              <a:rPr lang="de-DE" dirty="0" err="1"/>
              <a:t>Chadic</a:t>
            </a:r>
            <a:r>
              <a:rPr lang="de-DE" dirty="0"/>
              <a:t> : 1 </a:t>
            </a:r>
            <a:r>
              <a:rPr lang="de-DE" dirty="0" err="1"/>
              <a:t>or</a:t>
            </a:r>
            <a:r>
              <a:rPr lang="de-DE" dirty="0"/>
              <a:t> 2 </a:t>
            </a:r>
            <a:r>
              <a:rPr lang="de-DE" dirty="0" err="1"/>
              <a:t>vowels</a:t>
            </a:r>
            <a:endParaRPr lang="de-DE" dirty="0"/>
          </a:p>
          <a:p>
            <a:pPr>
              <a:lnSpc>
                <a:spcPts val="2200"/>
              </a:lnSpc>
            </a:pPr>
            <a:endParaRPr lang="de-DE" dirty="0"/>
          </a:p>
          <a:p>
            <a:pPr>
              <a:lnSpc>
                <a:spcPts val="2200"/>
              </a:lnSpc>
            </a:pPr>
            <a:r>
              <a:rPr lang="de-DE" dirty="0"/>
              <a:t>Proto-Berber : 2 + 3 </a:t>
            </a:r>
            <a:r>
              <a:rPr lang="de-DE" dirty="0" err="1"/>
              <a:t>or</a:t>
            </a:r>
            <a:r>
              <a:rPr lang="de-DE" dirty="0"/>
              <a:t> 4 </a:t>
            </a:r>
            <a:r>
              <a:rPr lang="de-DE" dirty="0" err="1"/>
              <a:t>vowels</a:t>
            </a:r>
            <a:endParaRPr lang="de-DE" dirty="0"/>
          </a:p>
          <a:p>
            <a:pPr>
              <a:lnSpc>
                <a:spcPts val="2200"/>
              </a:lnSpc>
            </a:pPr>
            <a:endParaRPr lang="de-DE" dirty="0"/>
          </a:p>
          <a:p>
            <a:pPr>
              <a:lnSpc>
                <a:spcPts val="2200"/>
              </a:lnSpc>
            </a:pPr>
            <a:r>
              <a:rPr lang="de-DE" dirty="0"/>
              <a:t>Proto-</a:t>
            </a:r>
            <a:r>
              <a:rPr lang="de-DE" dirty="0" err="1"/>
              <a:t>Cushitic</a:t>
            </a:r>
            <a:r>
              <a:rPr lang="de-DE" dirty="0"/>
              <a:t> : 5 </a:t>
            </a:r>
            <a:r>
              <a:rPr lang="de-DE" dirty="0" err="1"/>
              <a:t>to</a:t>
            </a:r>
            <a:r>
              <a:rPr lang="de-DE" dirty="0"/>
              <a:t> 7</a:t>
            </a:r>
          </a:p>
          <a:p>
            <a:pPr>
              <a:lnSpc>
                <a:spcPts val="2200"/>
              </a:lnSpc>
            </a:pPr>
            <a:endParaRPr lang="de-DE" dirty="0"/>
          </a:p>
          <a:p>
            <a:pPr>
              <a:lnSpc>
                <a:spcPts val="2200"/>
              </a:lnSpc>
            </a:pPr>
            <a:r>
              <a:rPr lang="de-DE" dirty="0"/>
              <a:t>Proto-</a:t>
            </a:r>
            <a:r>
              <a:rPr lang="de-DE" dirty="0" err="1"/>
              <a:t>Omotic</a:t>
            </a:r>
            <a:r>
              <a:rPr lang="de-DE" dirty="0"/>
              <a:t> : 5 </a:t>
            </a:r>
            <a:r>
              <a:rPr lang="de-DE" dirty="0" err="1"/>
              <a:t>to</a:t>
            </a:r>
            <a:r>
              <a:rPr lang="de-DE" dirty="0"/>
              <a:t> 7 (?)</a:t>
            </a:r>
          </a:p>
        </p:txBody>
      </p:sp>
    </p:spTree>
    <p:extLst>
      <p:ext uri="{BB962C8B-B14F-4D97-AF65-F5344CB8AC3E}">
        <p14:creationId xmlns:p14="http://schemas.microsoft.com/office/powerpoint/2010/main" val="1935400464"/>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4BFF-51D0-54D8-AA18-8BB20856F172}"/>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5CBADD2-2155-FA14-585A-9C0A1B162405}"/>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B6E9A177-2BA6-133A-BEE6-998FEC5FAE31}"/>
              </a:ext>
            </a:extLst>
          </p:cNvPr>
          <p:cNvSpPr>
            <a:spLocks noGrp="1"/>
          </p:cNvSpPr>
          <p:nvPr>
            <p:ph type="sldNum" sz="quarter" idx="12"/>
          </p:nvPr>
        </p:nvSpPr>
        <p:spPr/>
        <p:txBody>
          <a:bodyPr/>
          <a:lstStyle/>
          <a:p>
            <a:fld id="{B3811826-9277-4232-A2B5-17D05DFC7392}" type="slidenum">
              <a:rPr lang="de-CH" smtClean="0"/>
              <a:pPr/>
              <a:t>10</a:t>
            </a:fld>
            <a:endParaRPr lang="de-CH" dirty="0"/>
          </a:p>
        </p:txBody>
      </p:sp>
      <p:cxnSp>
        <p:nvCxnSpPr>
          <p:cNvPr id="9" name="Gerade Verbindung 7">
            <a:extLst>
              <a:ext uri="{FF2B5EF4-FFF2-40B4-BE49-F238E27FC236}">
                <a16:creationId xmlns:a16="http://schemas.microsoft.com/office/drawing/2014/main" id="{75AE0653-A5CF-77DD-66E4-7D1EC9E19D4D}"/>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D56BE406-2D4A-EDCC-A422-98AE3B0A2DE9}"/>
              </a:ext>
            </a:extLst>
          </p:cNvPr>
          <p:cNvSpPr>
            <a:spLocks noGrp="1"/>
          </p:cNvSpPr>
          <p:nvPr>
            <p:ph type="title"/>
          </p:nvPr>
        </p:nvSpPr>
        <p:spPr>
          <a:xfrm>
            <a:off x="334800" y="404813"/>
            <a:ext cx="11521840" cy="755936"/>
          </a:xfrm>
        </p:spPr>
        <p:txBody>
          <a:bodyPr/>
          <a:lstStyle/>
          <a:p>
            <a:r>
              <a:rPr lang="en-GB" dirty="0"/>
              <a:t>The second problem: Akkadian transcriptions</a:t>
            </a:r>
            <a:endParaRPr lang="de-CH" dirty="0"/>
          </a:p>
        </p:txBody>
      </p:sp>
      <p:sp>
        <p:nvSpPr>
          <p:cNvPr id="3" name="Datumsplatzhalter 3">
            <a:extLst>
              <a:ext uri="{FF2B5EF4-FFF2-40B4-BE49-F238E27FC236}">
                <a16:creationId xmlns:a16="http://schemas.microsoft.com/office/drawing/2014/main" id="{642DAADA-F09D-A554-CA43-D9045AC7A671}"/>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B5D01B26-EB1B-63DB-504E-8BD3E30282B2}"/>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572C1CD6-3EBA-DB7D-B291-D100D56B5B8B}"/>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9FA75F6E-9A36-C273-695F-B149A240BABE}"/>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Textfeld 1">
            <a:extLst>
              <a:ext uri="{FF2B5EF4-FFF2-40B4-BE49-F238E27FC236}">
                <a16:creationId xmlns:a16="http://schemas.microsoft.com/office/drawing/2014/main" id="{E25410E8-BD03-388F-34F5-D033A239A2AC}"/>
              </a:ext>
            </a:extLst>
          </p:cNvPr>
          <p:cNvSpPr txBox="1"/>
          <p:nvPr/>
        </p:nvSpPr>
        <p:spPr>
          <a:xfrm>
            <a:off x="695400" y="1307730"/>
            <a:ext cx="10237620" cy="1224136"/>
          </a:xfrm>
          <a:prstGeom prst="rect">
            <a:avLst/>
          </a:prstGeom>
          <a:noFill/>
        </p:spPr>
        <p:txBody>
          <a:bodyPr wrap="square" lIns="0" tIns="0" rIns="0" bIns="0" rtlCol="0">
            <a:noAutofit/>
          </a:bodyPr>
          <a:lstStyle/>
          <a:p>
            <a:r>
              <a:rPr lang="en-GB" noProof="1">
                <a:cs typeface="Calibri" panose="020F0502020204030204" pitchFamily="34" charset="0"/>
              </a:rPr>
              <a:t>Supporters of the 3-vowel model have often used 2</a:t>
            </a:r>
            <a:r>
              <a:rPr lang="en-GB" baseline="30000" noProof="1">
                <a:cs typeface="Calibri" panose="020F0502020204030204" pitchFamily="34" charset="0"/>
              </a:rPr>
              <a:t>nd</a:t>
            </a:r>
            <a:r>
              <a:rPr lang="en-GB" noProof="1">
                <a:cs typeface="Calibri" panose="020F0502020204030204" pitchFamily="34" charset="0"/>
              </a:rPr>
              <a:t> millennium Akkadian transcriptions of Egyptian words to reconstruct a *i vs *u opposition</a:t>
            </a:r>
          </a:p>
        </p:txBody>
      </p:sp>
      <p:sp>
        <p:nvSpPr>
          <p:cNvPr id="12" name="Textfeld 11">
            <a:extLst>
              <a:ext uri="{FF2B5EF4-FFF2-40B4-BE49-F238E27FC236}">
                <a16:creationId xmlns:a16="http://schemas.microsoft.com/office/drawing/2014/main" id="{395EECEF-769A-0264-8500-E5EEF21E5BF1}"/>
              </a:ext>
            </a:extLst>
          </p:cNvPr>
          <p:cNvSpPr txBox="1"/>
          <p:nvPr/>
        </p:nvSpPr>
        <p:spPr>
          <a:xfrm>
            <a:off x="3239146" y="1317356"/>
            <a:ext cx="0" cy="0"/>
          </a:xfrm>
          <a:prstGeom prst="rect">
            <a:avLst/>
          </a:prstGeom>
          <a:noFill/>
        </p:spPr>
        <p:txBody>
          <a:bodyPr wrap="none" lIns="0" tIns="0" rIns="0" bIns="0" rtlCol="0">
            <a:noAutofit/>
          </a:bodyPr>
          <a:lstStyle/>
          <a:p>
            <a:pPr>
              <a:lnSpc>
                <a:spcPts val="2200"/>
              </a:lnSpc>
            </a:pPr>
            <a:endParaRPr lang="de-DE" dirty="0"/>
          </a:p>
        </p:txBody>
      </p:sp>
      <p:sp>
        <p:nvSpPr>
          <p:cNvPr id="4" name="Titel 6">
            <a:extLst>
              <a:ext uri="{FF2B5EF4-FFF2-40B4-BE49-F238E27FC236}">
                <a16:creationId xmlns:a16="http://schemas.microsoft.com/office/drawing/2014/main" id="{17F50B72-8A76-53E2-9FC9-96468563F125}"/>
              </a:ext>
            </a:extLst>
          </p:cNvPr>
          <p:cNvSpPr txBox="1">
            <a:spLocks/>
          </p:cNvSpPr>
          <p:nvPr/>
        </p:nvSpPr>
        <p:spPr>
          <a:xfrm>
            <a:off x="695400" y="2104189"/>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However, there are two problems:</a:t>
            </a:r>
          </a:p>
        </p:txBody>
      </p:sp>
      <p:sp>
        <p:nvSpPr>
          <p:cNvPr id="8" name="Textfeld 7">
            <a:extLst>
              <a:ext uri="{FF2B5EF4-FFF2-40B4-BE49-F238E27FC236}">
                <a16:creationId xmlns:a16="http://schemas.microsoft.com/office/drawing/2014/main" id="{12A5E22D-63CD-CAB4-4AF2-4ECCA3B64D12}"/>
              </a:ext>
            </a:extLst>
          </p:cNvPr>
          <p:cNvSpPr txBox="1"/>
          <p:nvPr/>
        </p:nvSpPr>
        <p:spPr>
          <a:xfrm>
            <a:off x="1127168" y="2605984"/>
            <a:ext cx="9937104" cy="1693583"/>
          </a:xfrm>
          <a:prstGeom prst="rect">
            <a:avLst/>
          </a:prstGeom>
          <a:noFill/>
        </p:spPr>
        <p:txBody>
          <a:bodyPr wrap="square" lIns="0" tIns="0" rIns="0" bIns="0" rtlCol="0">
            <a:noAutofit/>
          </a:bodyPr>
          <a:lstStyle/>
          <a:p>
            <a:pPr>
              <a:lnSpc>
                <a:spcPts val="2200"/>
              </a:lnSpc>
            </a:pPr>
            <a:r>
              <a:rPr lang="en-GB" sz="2000" dirty="0"/>
              <a:t>➤ Transcriptions of names and words from other known languages (Hebrew, Persian, Ugaritic,...) show that very often cuneiform is not reliable in transcribing foreign vowels</a:t>
            </a:r>
          </a:p>
          <a:p>
            <a:pPr>
              <a:lnSpc>
                <a:spcPts val="2200"/>
              </a:lnSpc>
            </a:pPr>
            <a:endParaRPr lang="en-GB" sz="2000" dirty="0"/>
          </a:p>
          <a:p>
            <a:pPr>
              <a:lnSpc>
                <a:spcPts val="2200"/>
              </a:lnSpc>
            </a:pPr>
            <a:r>
              <a:rPr lang="en-GB" sz="2000" dirty="0"/>
              <a:t>niq2-m</a:t>
            </a:r>
            <a:r>
              <a:rPr lang="en-GB" sz="2000" b="1" i="1" dirty="0"/>
              <a:t>e</a:t>
            </a:r>
            <a:r>
              <a:rPr lang="en-GB" sz="2000" dirty="0"/>
              <a:t>-pa-a </a:t>
            </a:r>
          </a:p>
          <a:p>
            <a:pPr>
              <a:lnSpc>
                <a:spcPts val="2200"/>
              </a:lnSpc>
            </a:pPr>
            <a:r>
              <a:rPr lang="en-GB" sz="2000" dirty="0"/>
              <a:t>niq2-m</a:t>
            </a:r>
            <a:r>
              <a:rPr lang="en-GB" sz="2000" b="1" i="1" dirty="0"/>
              <a:t>u</a:t>
            </a:r>
            <a:r>
              <a:rPr lang="en-GB" sz="2000" dirty="0"/>
              <a:t>-pa </a:t>
            </a:r>
          </a:p>
          <a:p>
            <a:pPr>
              <a:lnSpc>
                <a:spcPts val="2200"/>
              </a:lnSpc>
            </a:pPr>
            <a:r>
              <a:rPr lang="en-GB" sz="2000" dirty="0"/>
              <a:t>niq2-m</a:t>
            </a:r>
            <a:r>
              <a:rPr lang="en-GB" sz="2000" b="1" i="1" dirty="0"/>
              <a:t>a</a:t>
            </a:r>
            <a:r>
              <a:rPr lang="en-GB" sz="2000" dirty="0"/>
              <a:t>-pa-a</a:t>
            </a:r>
          </a:p>
          <a:p>
            <a:pPr>
              <a:lnSpc>
                <a:spcPts val="2200"/>
              </a:lnSpc>
            </a:pPr>
            <a:endParaRPr lang="en-GB" sz="2000" dirty="0"/>
          </a:p>
          <a:p>
            <a:pPr>
              <a:lnSpc>
                <a:spcPts val="2200"/>
              </a:lnSpc>
            </a:pPr>
            <a:r>
              <a:rPr lang="en-GB" sz="2000" dirty="0"/>
              <a:t>➤ In general: transcriptions of foreign words reflect the </a:t>
            </a:r>
            <a:r>
              <a:rPr lang="en-GB" sz="2000" b="1" i="1" dirty="0"/>
              <a:t>perceived</a:t>
            </a:r>
            <a:r>
              <a:rPr lang="en-GB" sz="2000" dirty="0"/>
              <a:t> </a:t>
            </a:r>
            <a:r>
              <a:rPr lang="en-GB" sz="2000" b="1" i="1" dirty="0"/>
              <a:t>phonetic</a:t>
            </a:r>
            <a:r>
              <a:rPr lang="en-GB" sz="2000" dirty="0"/>
              <a:t> reality, not the underlying </a:t>
            </a:r>
            <a:r>
              <a:rPr lang="en-GB" sz="2000" b="1" i="1" dirty="0"/>
              <a:t>phonemic</a:t>
            </a:r>
            <a:r>
              <a:rPr lang="en-GB" sz="2000" dirty="0"/>
              <a:t> reality </a:t>
            </a:r>
          </a:p>
          <a:p>
            <a:pPr>
              <a:lnSpc>
                <a:spcPts val="2200"/>
              </a:lnSpc>
            </a:pPr>
            <a:r>
              <a:rPr lang="en-GB" sz="2000" dirty="0"/>
              <a:t>→ they can (systematically!) misrepresent allophonic realization, can merge distinctions absent in the receiving language, etc.</a:t>
            </a:r>
          </a:p>
          <a:p>
            <a:pPr>
              <a:lnSpc>
                <a:spcPts val="2200"/>
              </a:lnSpc>
            </a:pPr>
            <a:endParaRPr lang="en-GB" sz="2000" dirty="0"/>
          </a:p>
          <a:p>
            <a:pPr>
              <a:lnSpc>
                <a:spcPts val="2200"/>
              </a:lnSpc>
            </a:pPr>
            <a:r>
              <a:rPr lang="en-GB" sz="2000" dirty="0"/>
              <a:t>See e.g. Beirut in European languages, regularly with </a:t>
            </a:r>
            <a:r>
              <a:rPr lang="en-GB" sz="2000" i="1" dirty="0"/>
              <a:t>e</a:t>
            </a:r>
            <a:r>
              <a:rPr lang="en-GB" sz="2000" dirty="0"/>
              <a:t>, although in Arabic /</a:t>
            </a:r>
            <a:r>
              <a:rPr lang="en-GB" sz="2000" dirty="0" err="1"/>
              <a:t>baj.ruːt</a:t>
            </a:r>
            <a:r>
              <a:rPr lang="en-GB" sz="2000" dirty="0"/>
              <a:t>/</a:t>
            </a:r>
          </a:p>
        </p:txBody>
      </p:sp>
      <p:sp>
        <p:nvSpPr>
          <p:cNvPr id="13" name="Textfeld 12">
            <a:extLst>
              <a:ext uri="{FF2B5EF4-FFF2-40B4-BE49-F238E27FC236}">
                <a16:creationId xmlns:a16="http://schemas.microsoft.com/office/drawing/2014/main" id="{88F4BD15-1E1E-C727-9E4A-48B83E53FEBB}"/>
              </a:ext>
            </a:extLst>
          </p:cNvPr>
          <p:cNvSpPr txBox="1"/>
          <p:nvPr/>
        </p:nvSpPr>
        <p:spPr>
          <a:xfrm>
            <a:off x="3719456" y="3714067"/>
            <a:ext cx="1559827" cy="288390"/>
          </a:xfrm>
          <a:prstGeom prst="rect">
            <a:avLst/>
          </a:prstGeom>
          <a:noFill/>
        </p:spPr>
        <p:txBody>
          <a:bodyPr wrap="square" lIns="0" tIns="0" rIns="0" bIns="0" rtlCol="0">
            <a:noAutofit/>
          </a:bodyPr>
          <a:lstStyle/>
          <a:p>
            <a:pPr>
              <a:lnSpc>
                <a:spcPts val="2200"/>
              </a:lnSpc>
            </a:pPr>
            <a:r>
              <a:rPr lang="en-GB" sz="2000" dirty="0"/>
              <a:t>= </a:t>
            </a:r>
            <a:r>
              <a:rPr lang="en-GB" sz="2000" dirty="0" err="1"/>
              <a:t>niqm</a:t>
            </a:r>
            <a:r>
              <a:rPr lang="en-GB" sz="2000" b="1" i="1" dirty="0" err="1"/>
              <a:t>ə</a:t>
            </a:r>
            <a:r>
              <a:rPr lang="en-GB" sz="2000" dirty="0" err="1"/>
              <a:t>pa</a:t>
            </a:r>
            <a:endParaRPr lang="en-GB" sz="2000" dirty="0"/>
          </a:p>
        </p:txBody>
      </p:sp>
      <p:sp>
        <p:nvSpPr>
          <p:cNvPr id="14" name="Geschweifte Klammer rechts 13">
            <a:extLst>
              <a:ext uri="{FF2B5EF4-FFF2-40B4-BE49-F238E27FC236}">
                <a16:creationId xmlns:a16="http://schemas.microsoft.com/office/drawing/2014/main" id="{E971464C-0472-BA6D-4DF6-8A20ED825882}"/>
              </a:ext>
            </a:extLst>
          </p:cNvPr>
          <p:cNvSpPr/>
          <p:nvPr/>
        </p:nvSpPr>
        <p:spPr>
          <a:xfrm>
            <a:off x="2855640" y="3452775"/>
            <a:ext cx="432048" cy="83960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01861906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2A9C-87DD-E8BF-BF2A-67FF77D7658B}"/>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CBF2723E-52B2-F25F-C78D-57512CD943AE}"/>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B6C37A28-0E3E-AAC9-D5C1-C50133889983}"/>
              </a:ext>
            </a:extLst>
          </p:cNvPr>
          <p:cNvSpPr>
            <a:spLocks noGrp="1"/>
          </p:cNvSpPr>
          <p:nvPr>
            <p:ph type="sldNum" sz="quarter" idx="12"/>
          </p:nvPr>
        </p:nvSpPr>
        <p:spPr/>
        <p:txBody>
          <a:bodyPr/>
          <a:lstStyle/>
          <a:p>
            <a:fld id="{B3811826-9277-4232-A2B5-17D05DFC7392}" type="slidenum">
              <a:rPr lang="en-GB" smtClean="0"/>
              <a:pPr/>
              <a:t>11</a:t>
            </a:fld>
            <a:endParaRPr lang="en-GB" dirty="0"/>
          </a:p>
        </p:txBody>
      </p:sp>
      <p:cxnSp>
        <p:nvCxnSpPr>
          <p:cNvPr id="9" name="Gerade Verbindung 7">
            <a:extLst>
              <a:ext uri="{FF2B5EF4-FFF2-40B4-BE49-F238E27FC236}">
                <a16:creationId xmlns:a16="http://schemas.microsoft.com/office/drawing/2014/main" id="{B7C947EF-EE65-9EEA-B637-DD0FED07AC8B}"/>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830BFE0C-3295-AF61-88AC-9242A5162624}"/>
              </a:ext>
            </a:extLst>
          </p:cNvPr>
          <p:cNvSpPr>
            <a:spLocks noGrp="1"/>
          </p:cNvSpPr>
          <p:nvPr>
            <p:ph type="title"/>
          </p:nvPr>
        </p:nvSpPr>
        <p:spPr>
          <a:xfrm>
            <a:off x="334800" y="404813"/>
            <a:ext cx="11521840" cy="755936"/>
          </a:xfrm>
        </p:spPr>
        <p:txBody>
          <a:bodyPr/>
          <a:lstStyle/>
          <a:p>
            <a:r>
              <a:rPr lang="en-GB" dirty="0"/>
              <a:t>Proto-Coptic vowels: a new model </a:t>
            </a:r>
          </a:p>
        </p:txBody>
      </p:sp>
      <p:sp>
        <p:nvSpPr>
          <p:cNvPr id="3" name="Datumsplatzhalter 3">
            <a:extLst>
              <a:ext uri="{FF2B5EF4-FFF2-40B4-BE49-F238E27FC236}">
                <a16:creationId xmlns:a16="http://schemas.microsoft.com/office/drawing/2014/main" id="{079860A9-62DB-4935-143A-543ACC4EB3E9}"/>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921974B3-1141-306D-134B-AFCC802EAE71}"/>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533033B1-F062-02C7-21B0-941E704C65E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28" name="Rechteck 27">
            <a:extLst>
              <a:ext uri="{FF2B5EF4-FFF2-40B4-BE49-F238E27FC236}">
                <a16:creationId xmlns:a16="http://schemas.microsoft.com/office/drawing/2014/main" id="{6E0A6CA6-A722-2049-6164-723537F67A9A}"/>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p>
        </p:txBody>
      </p:sp>
      <p:sp>
        <p:nvSpPr>
          <p:cNvPr id="2" name="Textfeld 1">
            <a:extLst>
              <a:ext uri="{FF2B5EF4-FFF2-40B4-BE49-F238E27FC236}">
                <a16:creationId xmlns:a16="http://schemas.microsoft.com/office/drawing/2014/main" id="{723CE07F-9BF0-6D32-35FC-6B190F0E5B7B}"/>
              </a:ext>
            </a:extLst>
          </p:cNvPr>
          <p:cNvSpPr txBox="1"/>
          <p:nvPr/>
        </p:nvSpPr>
        <p:spPr>
          <a:xfrm>
            <a:off x="976909" y="1738186"/>
            <a:ext cx="10688055" cy="366342"/>
          </a:xfrm>
          <a:prstGeom prst="rect">
            <a:avLst/>
          </a:prstGeom>
          <a:noFill/>
        </p:spPr>
        <p:txBody>
          <a:bodyPr wrap="square" lIns="0" tIns="0" rIns="0" bIns="0" rtlCol="0">
            <a:noAutofit/>
          </a:bodyPr>
          <a:lstStyle/>
          <a:p>
            <a:pPr>
              <a:lnSpc>
                <a:spcPts val="2200"/>
              </a:lnSpc>
            </a:pPr>
            <a:r>
              <a:rPr lang="en-GB" dirty="0"/>
              <a:t>• Data-driven		• No a priori assumptions</a:t>
            </a:r>
          </a:p>
          <a:p>
            <a:pPr>
              <a:lnSpc>
                <a:spcPts val="2200"/>
              </a:lnSpc>
            </a:pPr>
            <a:endParaRPr lang="en-GB" dirty="0"/>
          </a:p>
          <a:p>
            <a:pPr>
              <a:lnSpc>
                <a:spcPct val="150000"/>
              </a:lnSpc>
            </a:pPr>
            <a:r>
              <a:rPr lang="en-GB" dirty="0"/>
              <a:t>• Not: how to derive Coptic vowels from </a:t>
            </a:r>
            <a:r>
              <a:rPr lang="en-GB" i="1" dirty="0"/>
              <a:t>*a *</a:t>
            </a:r>
            <a:r>
              <a:rPr lang="en-GB" i="1" dirty="0" err="1"/>
              <a:t>i</a:t>
            </a:r>
            <a:r>
              <a:rPr lang="en-GB" i="1" dirty="0"/>
              <a:t> *u</a:t>
            </a:r>
          </a:p>
          <a:p>
            <a:pPr>
              <a:lnSpc>
                <a:spcPct val="150000"/>
              </a:lnSpc>
            </a:pPr>
            <a:r>
              <a:rPr lang="en-GB" dirty="0"/>
              <a:t>• But: determining how many Proto-vowels are needed to explain the Coptic evidence</a:t>
            </a:r>
          </a:p>
          <a:p>
            <a:pPr>
              <a:lnSpc>
                <a:spcPct val="150000"/>
              </a:lnSpc>
            </a:pPr>
            <a:endParaRPr lang="en-GB" dirty="0"/>
          </a:p>
          <a:p>
            <a:pPr>
              <a:lnSpc>
                <a:spcPct val="150000"/>
              </a:lnSpc>
            </a:pPr>
            <a:r>
              <a:rPr lang="en-GB" sz="1900" dirty="0"/>
              <a:t>➤ Does the distribution of ⲓ |</a:t>
            </a:r>
            <a:r>
              <a:rPr lang="en-GB" sz="1900" dirty="0" err="1"/>
              <a:t>i</a:t>
            </a:r>
            <a:r>
              <a:rPr lang="en-GB" sz="1900" dirty="0"/>
              <a:t>| and ⲏ |e| require us to assume two proto-vowels, or is one enough?</a:t>
            </a:r>
          </a:p>
          <a:p>
            <a:pPr>
              <a:lnSpc>
                <a:spcPts val="2200"/>
              </a:lnSpc>
            </a:pPr>
            <a:r>
              <a:rPr lang="en-GB" dirty="0"/>
              <a:t>	</a:t>
            </a:r>
          </a:p>
        </p:txBody>
      </p:sp>
      <p:sp>
        <p:nvSpPr>
          <p:cNvPr id="8" name="Titel 6">
            <a:extLst>
              <a:ext uri="{FF2B5EF4-FFF2-40B4-BE49-F238E27FC236}">
                <a16:creationId xmlns:a16="http://schemas.microsoft.com/office/drawing/2014/main" id="{40A38593-DE17-914F-CFAD-194551E28D84}"/>
              </a:ext>
            </a:extLst>
          </p:cNvPr>
          <p:cNvSpPr txBox="1">
            <a:spLocks/>
          </p:cNvSpPr>
          <p:nvPr/>
        </p:nvSpPr>
        <p:spPr>
          <a:xfrm>
            <a:off x="703796" y="1163655"/>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New Approach</a:t>
            </a:r>
          </a:p>
        </p:txBody>
      </p:sp>
      <p:sp>
        <p:nvSpPr>
          <p:cNvPr id="12" name="Titel 6">
            <a:extLst>
              <a:ext uri="{FF2B5EF4-FFF2-40B4-BE49-F238E27FC236}">
                <a16:creationId xmlns:a16="http://schemas.microsoft.com/office/drawing/2014/main" id="{AB7B56B7-BECF-2653-88F6-06CA1EC9DFBB}"/>
              </a:ext>
            </a:extLst>
          </p:cNvPr>
          <p:cNvSpPr txBox="1">
            <a:spLocks/>
          </p:cNvSpPr>
          <p:nvPr/>
        </p:nvSpPr>
        <p:spPr>
          <a:xfrm>
            <a:off x="703796" y="4437802"/>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Two ways to address this question:</a:t>
            </a:r>
          </a:p>
        </p:txBody>
      </p:sp>
      <p:sp>
        <p:nvSpPr>
          <p:cNvPr id="13" name="Textfeld 12">
            <a:extLst>
              <a:ext uri="{FF2B5EF4-FFF2-40B4-BE49-F238E27FC236}">
                <a16:creationId xmlns:a16="http://schemas.microsoft.com/office/drawing/2014/main" id="{99DD2D5A-4C5F-ED8A-7C5E-0EC3F87CBC9F}"/>
              </a:ext>
            </a:extLst>
          </p:cNvPr>
          <p:cNvSpPr txBox="1"/>
          <p:nvPr/>
        </p:nvSpPr>
        <p:spPr>
          <a:xfrm>
            <a:off x="1250584" y="4862858"/>
            <a:ext cx="10237620" cy="366342"/>
          </a:xfrm>
          <a:prstGeom prst="rect">
            <a:avLst/>
          </a:prstGeom>
          <a:noFill/>
        </p:spPr>
        <p:txBody>
          <a:bodyPr wrap="square" lIns="0" tIns="0" rIns="0" bIns="0" rtlCol="0">
            <a:noAutofit/>
          </a:bodyPr>
          <a:lstStyle/>
          <a:p>
            <a:pPr>
              <a:lnSpc>
                <a:spcPct val="150000"/>
              </a:lnSpc>
            </a:pPr>
            <a:r>
              <a:rPr lang="en-GB" dirty="0"/>
              <a:t>We can look for:</a:t>
            </a:r>
          </a:p>
          <a:p>
            <a:pPr>
              <a:lnSpc>
                <a:spcPct val="150000"/>
              </a:lnSpc>
            </a:pPr>
            <a:r>
              <a:rPr lang="en-GB" dirty="0"/>
              <a:t>	• Lexical minimal pairs</a:t>
            </a:r>
          </a:p>
          <a:p>
            <a:pPr>
              <a:lnSpc>
                <a:spcPct val="150000"/>
              </a:lnSpc>
            </a:pPr>
            <a:r>
              <a:rPr lang="en-GB" dirty="0"/>
              <a:t>	• Morphological minimal pairs</a:t>
            </a:r>
          </a:p>
        </p:txBody>
      </p:sp>
      <p:sp>
        <p:nvSpPr>
          <p:cNvPr id="17" name="Rechteck 16">
            <a:extLst>
              <a:ext uri="{FF2B5EF4-FFF2-40B4-BE49-F238E27FC236}">
                <a16:creationId xmlns:a16="http://schemas.microsoft.com/office/drawing/2014/main" id="{F0EC50E4-EA63-EA13-489A-8CFD1FD56769}"/>
              </a:ext>
            </a:extLst>
          </p:cNvPr>
          <p:cNvSpPr/>
          <p:nvPr/>
        </p:nvSpPr>
        <p:spPr>
          <a:xfrm>
            <a:off x="703796" y="3429000"/>
            <a:ext cx="10784408" cy="720080"/>
          </a:xfrm>
          <a:prstGeom prst="rect">
            <a:avLst/>
          </a:prstGeom>
          <a:noFill/>
          <a:ln>
            <a:solidFill>
              <a:srgbClr val="D205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Tree>
    <p:extLst>
      <p:ext uri="{BB962C8B-B14F-4D97-AF65-F5344CB8AC3E}">
        <p14:creationId xmlns:p14="http://schemas.microsoft.com/office/powerpoint/2010/main" val="4061261253"/>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A4233-11D2-0C86-647C-1014035B3F05}"/>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D354C61-5B5F-6EB7-DFFF-13401F0EA862}"/>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933959ED-2EE4-4706-EAC4-6B3B2D40AE17}"/>
              </a:ext>
            </a:extLst>
          </p:cNvPr>
          <p:cNvSpPr>
            <a:spLocks noGrp="1"/>
          </p:cNvSpPr>
          <p:nvPr>
            <p:ph type="sldNum" sz="quarter" idx="12"/>
          </p:nvPr>
        </p:nvSpPr>
        <p:spPr/>
        <p:txBody>
          <a:bodyPr/>
          <a:lstStyle/>
          <a:p>
            <a:fld id="{B3811826-9277-4232-A2B5-17D05DFC7392}" type="slidenum">
              <a:rPr lang="de-CH" smtClean="0"/>
              <a:pPr/>
              <a:t>12</a:t>
            </a:fld>
            <a:endParaRPr lang="de-CH" dirty="0"/>
          </a:p>
        </p:txBody>
      </p:sp>
      <p:cxnSp>
        <p:nvCxnSpPr>
          <p:cNvPr id="9" name="Gerade Verbindung 7">
            <a:extLst>
              <a:ext uri="{FF2B5EF4-FFF2-40B4-BE49-F238E27FC236}">
                <a16:creationId xmlns:a16="http://schemas.microsoft.com/office/drawing/2014/main" id="{016E72BD-899E-4008-5EBC-79FDCE0875C2}"/>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5B5E72BC-8754-932E-7949-EB22965301B3}"/>
              </a:ext>
            </a:extLst>
          </p:cNvPr>
          <p:cNvSpPr>
            <a:spLocks noGrp="1"/>
          </p:cNvSpPr>
          <p:nvPr>
            <p:ph type="title"/>
          </p:nvPr>
        </p:nvSpPr>
        <p:spPr>
          <a:xfrm>
            <a:off x="334800" y="404813"/>
            <a:ext cx="11521840" cy="755936"/>
          </a:xfrm>
        </p:spPr>
        <p:txBody>
          <a:bodyPr/>
          <a:lstStyle/>
          <a:p>
            <a:r>
              <a:rPr lang="en-GB" dirty="0"/>
              <a:t>Lexical minimal pairs... and why they are not an option</a:t>
            </a:r>
            <a:endParaRPr lang="de-CH" dirty="0"/>
          </a:p>
        </p:txBody>
      </p:sp>
      <p:sp>
        <p:nvSpPr>
          <p:cNvPr id="3" name="Datumsplatzhalter 3">
            <a:extLst>
              <a:ext uri="{FF2B5EF4-FFF2-40B4-BE49-F238E27FC236}">
                <a16:creationId xmlns:a16="http://schemas.microsoft.com/office/drawing/2014/main" id="{1D9EEBE2-8E83-BC86-9164-F46205A53B87}"/>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A4DFCF06-ABA0-CB2F-C83E-1F6155A4FCF1}"/>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854D548A-433A-0B20-C238-B687E9909D29}"/>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A1D9CD77-ECC0-8C87-1A5E-1266F506829F}"/>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7" name="Textfeld 6">
            <a:extLst>
              <a:ext uri="{FF2B5EF4-FFF2-40B4-BE49-F238E27FC236}">
                <a16:creationId xmlns:a16="http://schemas.microsoft.com/office/drawing/2014/main" id="{4939EB0A-35EE-9476-C5B1-D76EA111608A}"/>
              </a:ext>
            </a:extLst>
          </p:cNvPr>
          <p:cNvSpPr txBox="1"/>
          <p:nvPr/>
        </p:nvSpPr>
        <p:spPr>
          <a:xfrm>
            <a:off x="551384" y="1325090"/>
            <a:ext cx="11305256" cy="4048126"/>
          </a:xfrm>
          <a:prstGeom prst="rect">
            <a:avLst/>
          </a:prstGeom>
          <a:noFill/>
        </p:spPr>
        <p:txBody>
          <a:bodyPr wrap="square" lIns="0" tIns="0" rIns="0" bIns="0" rtlCol="0">
            <a:noAutofit/>
          </a:bodyPr>
          <a:lstStyle/>
          <a:p>
            <a:pPr>
              <a:lnSpc>
                <a:spcPts val="2200"/>
              </a:lnSpc>
            </a:pPr>
            <a:r>
              <a:rPr lang="en-GB" sz="2000" noProof="1"/>
              <a:t>A </a:t>
            </a:r>
            <a:r>
              <a:rPr lang="en-GB" sz="2000" b="1" noProof="1"/>
              <a:t>lexical minimal pair</a:t>
            </a:r>
            <a:r>
              <a:rPr lang="en-GB" sz="2000" noProof="1"/>
              <a:t> is a pair of words that have different meanings but differ in only one sound.</a:t>
            </a:r>
          </a:p>
          <a:p>
            <a:pPr>
              <a:lnSpc>
                <a:spcPts val="2200"/>
              </a:lnSpc>
            </a:pPr>
            <a:endParaRPr lang="en-GB" sz="2000" noProof="1"/>
          </a:p>
          <a:p>
            <a:pPr>
              <a:lnSpc>
                <a:spcPts val="2200"/>
              </a:lnSpc>
            </a:pPr>
            <a:r>
              <a:rPr lang="en-GB" sz="2000" noProof="1"/>
              <a:t>This shows that the two sounds must be different phonemes in the language.</a:t>
            </a:r>
          </a:p>
          <a:p>
            <a:pPr>
              <a:lnSpc>
                <a:spcPts val="2200"/>
              </a:lnSpc>
            </a:pPr>
            <a:endParaRPr lang="en-GB" sz="2000" noProof="1"/>
          </a:p>
          <a:p>
            <a:pPr>
              <a:lnSpc>
                <a:spcPts val="2200"/>
              </a:lnSpc>
            </a:pPr>
            <a:r>
              <a:rPr lang="en-GB" sz="2000" noProof="1"/>
              <a:t>English </a:t>
            </a:r>
            <a:r>
              <a:rPr lang="en-GB" sz="2000" i="1" noProof="1"/>
              <a:t>bit</a:t>
            </a:r>
            <a:r>
              <a:rPr lang="en-GB" sz="2000" noProof="1"/>
              <a:t> /bɪt/ vs. </a:t>
            </a:r>
            <a:r>
              <a:rPr lang="en-GB" sz="2000" i="1" noProof="1"/>
              <a:t>bet</a:t>
            </a:r>
            <a:r>
              <a:rPr lang="en-GB" sz="2000" noProof="1"/>
              <a:t> /bɛt/ → /ɪ/ and /ɛ/ are separate phonemes</a:t>
            </a:r>
          </a:p>
          <a:p>
            <a:pPr>
              <a:lnSpc>
                <a:spcPts val="2200"/>
              </a:lnSpc>
            </a:pPr>
            <a:endParaRPr lang="en-GB" sz="2000" noProof="1"/>
          </a:p>
          <a:p>
            <a:pPr>
              <a:lnSpc>
                <a:spcPts val="2200"/>
              </a:lnSpc>
            </a:pPr>
            <a:endParaRPr lang="en-GB" sz="2000" noProof="1"/>
          </a:p>
          <a:p>
            <a:pPr>
              <a:lnSpc>
                <a:spcPts val="2200"/>
              </a:lnSpc>
            </a:pPr>
            <a:r>
              <a:rPr lang="en-GB" sz="2000" b="1" noProof="1"/>
              <a:t>Coptic has lexical minimal pairs </a:t>
            </a:r>
            <a:r>
              <a:rPr lang="en-GB" sz="2000" noProof="1"/>
              <a:t>for  ⲓ |i| and ⲏ |e| , e.g.:</a:t>
            </a:r>
          </a:p>
          <a:p>
            <a:pPr>
              <a:lnSpc>
                <a:spcPts val="2200"/>
              </a:lnSpc>
            </a:pPr>
            <a:endParaRPr lang="en-GB" sz="2000" noProof="1"/>
          </a:p>
          <a:p>
            <a:pPr>
              <a:lnSpc>
                <a:spcPts val="2200"/>
              </a:lnSpc>
            </a:pPr>
            <a:endParaRPr lang="en-GB" sz="2000" noProof="1"/>
          </a:p>
          <a:p>
            <a:pPr algn="ctr">
              <a:lnSpc>
                <a:spcPts val="2200"/>
              </a:lnSpc>
            </a:pPr>
            <a:r>
              <a:rPr lang="en-GB" sz="2000" noProof="1">
                <a:latin typeface="Calibri" panose="020F0502020204030204" pitchFamily="34" charset="0"/>
                <a:cs typeface="Calibri" panose="020F0502020204030204" pitchFamily="34" charset="0"/>
              </a:rPr>
              <a:t>ⲥⲓϥⲉ</a:t>
            </a:r>
            <a:r>
              <a:rPr lang="en-GB" sz="2000" noProof="1"/>
              <a:t> |sífə| ‘tar (tree), cedar’ </a:t>
            </a:r>
          </a:p>
          <a:p>
            <a:pPr algn="ctr">
              <a:lnSpc>
                <a:spcPts val="2200"/>
              </a:lnSpc>
            </a:pPr>
            <a:endParaRPr lang="en-GB" sz="2000" noProof="1"/>
          </a:p>
          <a:p>
            <a:pPr algn="ctr">
              <a:lnSpc>
                <a:spcPts val="2200"/>
              </a:lnSpc>
            </a:pPr>
            <a:r>
              <a:rPr lang="en-GB" sz="2000" noProof="1">
                <a:latin typeface="Calibri" panose="020F0502020204030204" pitchFamily="34" charset="0"/>
                <a:cs typeface="Calibri" panose="020F0502020204030204" pitchFamily="34" charset="0"/>
              </a:rPr>
              <a:t>ⲥⲏϥⲉ</a:t>
            </a:r>
            <a:r>
              <a:rPr lang="en-GB" sz="2000" noProof="1"/>
              <a:t> |séfə| ‘sword, knife’</a:t>
            </a:r>
          </a:p>
        </p:txBody>
      </p:sp>
      <p:sp>
        <p:nvSpPr>
          <p:cNvPr id="12" name="Rechteck 11">
            <a:extLst>
              <a:ext uri="{FF2B5EF4-FFF2-40B4-BE49-F238E27FC236}">
                <a16:creationId xmlns:a16="http://schemas.microsoft.com/office/drawing/2014/main" id="{FA9866A5-2B8A-F037-AA38-426033C20089}"/>
              </a:ext>
            </a:extLst>
          </p:cNvPr>
          <p:cNvSpPr/>
          <p:nvPr/>
        </p:nvSpPr>
        <p:spPr>
          <a:xfrm>
            <a:off x="4367808" y="3934500"/>
            <a:ext cx="3672408" cy="1224136"/>
          </a:xfrm>
          <a:prstGeom prst="rect">
            <a:avLst/>
          </a:prstGeom>
          <a:noFill/>
          <a:ln>
            <a:solidFill>
              <a:srgbClr val="006E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3" name="Titel 6">
            <a:extLst>
              <a:ext uri="{FF2B5EF4-FFF2-40B4-BE49-F238E27FC236}">
                <a16:creationId xmlns:a16="http://schemas.microsoft.com/office/drawing/2014/main" id="{4F00839A-1A07-B322-285F-C57C51227E35}"/>
              </a:ext>
            </a:extLst>
          </p:cNvPr>
          <p:cNvSpPr txBox="1">
            <a:spLocks/>
          </p:cNvSpPr>
          <p:nvPr/>
        </p:nvSpPr>
        <p:spPr>
          <a:xfrm>
            <a:off x="591586" y="5517232"/>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However...</a:t>
            </a:r>
          </a:p>
        </p:txBody>
      </p:sp>
      <p:cxnSp>
        <p:nvCxnSpPr>
          <p:cNvPr id="15" name="Gerade Verbindung 14">
            <a:extLst>
              <a:ext uri="{FF2B5EF4-FFF2-40B4-BE49-F238E27FC236}">
                <a16:creationId xmlns:a16="http://schemas.microsoft.com/office/drawing/2014/main" id="{51C5D8C3-E3FA-C574-915C-C55E8032595F}"/>
              </a:ext>
            </a:extLst>
          </p:cNvPr>
          <p:cNvCxnSpPr>
            <a:cxnSpLocks/>
          </p:cNvCxnSpPr>
          <p:nvPr/>
        </p:nvCxnSpPr>
        <p:spPr>
          <a:xfrm>
            <a:off x="479376" y="5878716"/>
            <a:ext cx="147610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981612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F918B-D73B-DB67-EF57-B7D5F65B73D4}"/>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080A244-246F-B39F-B1EA-DCEEE835CDFE}"/>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45C4FF33-A9D7-8758-F7B5-C3B117AF5B96}"/>
              </a:ext>
            </a:extLst>
          </p:cNvPr>
          <p:cNvSpPr>
            <a:spLocks noGrp="1"/>
          </p:cNvSpPr>
          <p:nvPr>
            <p:ph type="sldNum" sz="quarter" idx="12"/>
          </p:nvPr>
        </p:nvSpPr>
        <p:spPr/>
        <p:txBody>
          <a:bodyPr/>
          <a:lstStyle/>
          <a:p>
            <a:fld id="{B3811826-9277-4232-A2B5-17D05DFC7392}" type="slidenum">
              <a:rPr lang="de-CH" smtClean="0"/>
              <a:pPr/>
              <a:t>13</a:t>
            </a:fld>
            <a:endParaRPr lang="de-CH" dirty="0"/>
          </a:p>
        </p:txBody>
      </p:sp>
      <p:cxnSp>
        <p:nvCxnSpPr>
          <p:cNvPr id="9" name="Gerade Verbindung 7">
            <a:extLst>
              <a:ext uri="{FF2B5EF4-FFF2-40B4-BE49-F238E27FC236}">
                <a16:creationId xmlns:a16="http://schemas.microsoft.com/office/drawing/2014/main" id="{79C68375-EABC-D46F-F545-F6DEC35A04F6}"/>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6BB4F334-6092-220B-5CC5-C8DC7F366C68}"/>
              </a:ext>
            </a:extLst>
          </p:cNvPr>
          <p:cNvSpPr>
            <a:spLocks noGrp="1"/>
          </p:cNvSpPr>
          <p:nvPr>
            <p:ph type="title"/>
          </p:nvPr>
        </p:nvSpPr>
        <p:spPr>
          <a:xfrm>
            <a:off x="334800" y="404813"/>
            <a:ext cx="11521840" cy="755936"/>
          </a:xfrm>
        </p:spPr>
        <p:txBody>
          <a:bodyPr/>
          <a:lstStyle/>
          <a:p>
            <a:r>
              <a:rPr lang="en-GB" dirty="0"/>
              <a:t>Lexical minimal pairs... and why they are not an option</a:t>
            </a:r>
            <a:endParaRPr lang="de-CH" dirty="0"/>
          </a:p>
        </p:txBody>
      </p:sp>
      <p:sp>
        <p:nvSpPr>
          <p:cNvPr id="3" name="Datumsplatzhalter 3">
            <a:extLst>
              <a:ext uri="{FF2B5EF4-FFF2-40B4-BE49-F238E27FC236}">
                <a16:creationId xmlns:a16="http://schemas.microsoft.com/office/drawing/2014/main" id="{0ABBA82C-0D5B-29DD-304A-8C732DA29102}"/>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780F83EB-3179-BA1E-35F1-414F07092FD8}"/>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2184AA28-66DE-ADCF-1D69-0CC5D7AB1BCE}"/>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7E6DD22E-2ECB-339C-8DF3-61343F35AAF9}"/>
              </a:ext>
            </a:extLst>
          </p:cNvPr>
          <p:cNvSpPr/>
          <p:nvPr/>
        </p:nvSpPr>
        <p:spPr>
          <a:xfrm>
            <a:off x="7392144" y="5229200"/>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7" name="Textfeld 6">
            <a:extLst>
              <a:ext uri="{FF2B5EF4-FFF2-40B4-BE49-F238E27FC236}">
                <a16:creationId xmlns:a16="http://schemas.microsoft.com/office/drawing/2014/main" id="{31C6C737-F39F-FF0C-DA6E-048204E019C2}"/>
              </a:ext>
            </a:extLst>
          </p:cNvPr>
          <p:cNvSpPr txBox="1"/>
          <p:nvPr/>
        </p:nvSpPr>
        <p:spPr>
          <a:xfrm>
            <a:off x="551384" y="1325090"/>
            <a:ext cx="5976664" cy="4048126"/>
          </a:xfrm>
          <a:prstGeom prst="rect">
            <a:avLst/>
          </a:prstGeom>
          <a:noFill/>
        </p:spPr>
        <p:txBody>
          <a:bodyPr wrap="square" lIns="0" tIns="0" rIns="0" bIns="0" rtlCol="0">
            <a:noAutofit/>
          </a:bodyPr>
          <a:lstStyle/>
          <a:p>
            <a:pPr>
              <a:lnSpc>
                <a:spcPts val="2200"/>
              </a:lnSpc>
            </a:pPr>
            <a:r>
              <a:rPr lang="en-GB" sz="2000" noProof="1"/>
              <a:t>Our goal is </a:t>
            </a:r>
            <a:r>
              <a:rPr lang="en-GB" sz="2000" b="1" noProof="1"/>
              <a:t>Proto-Coptic</a:t>
            </a:r>
            <a:r>
              <a:rPr lang="en-GB" sz="2000" noProof="1"/>
              <a:t>, not just </a:t>
            </a:r>
            <a:r>
              <a:rPr lang="en-GB" sz="2000" b="1" noProof="1"/>
              <a:t>Coptic</a:t>
            </a:r>
          </a:p>
          <a:p>
            <a:pPr>
              <a:lnSpc>
                <a:spcPts val="2200"/>
              </a:lnSpc>
            </a:pPr>
            <a:endParaRPr lang="en-GB" sz="2000" b="1" noProof="1"/>
          </a:p>
          <a:p>
            <a:pPr>
              <a:lnSpc>
                <a:spcPts val="2200"/>
              </a:lnSpc>
            </a:pPr>
            <a:r>
              <a:rPr lang="en-GB" sz="2000" b="1" noProof="1"/>
              <a:t>Main problem:</a:t>
            </a:r>
          </a:p>
          <a:p>
            <a:pPr>
              <a:lnSpc>
                <a:spcPts val="2200"/>
              </a:lnSpc>
            </a:pPr>
            <a:endParaRPr lang="en-GB" sz="2000" b="1" noProof="1"/>
          </a:p>
          <a:p>
            <a:pPr>
              <a:lnSpc>
                <a:spcPts val="2200"/>
              </a:lnSpc>
            </a:pPr>
            <a:r>
              <a:rPr lang="en-GB" sz="2000" noProof="1"/>
              <a:t>Same form in Coptic ≠ same form in Proto-Coptic</a:t>
            </a:r>
          </a:p>
          <a:p>
            <a:pPr>
              <a:lnSpc>
                <a:spcPts val="2200"/>
              </a:lnSpc>
            </a:pPr>
            <a:endParaRPr lang="en-GB" sz="2000" noProof="1"/>
          </a:p>
          <a:p>
            <a:pPr>
              <a:lnSpc>
                <a:spcPts val="2200"/>
              </a:lnSpc>
            </a:pPr>
            <a:r>
              <a:rPr lang="en-GB" sz="2000" noProof="1"/>
              <a:t>Differences may have been lost:</a:t>
            </a:r>
          </a:p>
          <a:p>
            <a:pPr>
              <a:lnSpc>
                <a:spcPts val="2200"/>
              </a:lnSpc>
            </a:pPr>
            <a:endParaRPr lang="en-GB" sz="2000" noProof="1"/>
          </a:p>
          <a:p>
            <a:pPr>
              <a:lnSpc>
                <a:spcPts val="2200"/>
              </a:lnSpc>
            </a:pPr>
            <a:r>
              <a:rPr lang="en-GB" sz="2000" dirty="0"/>
              <a:t>• </a:t>
            </a:r>
            <a:r>
              <a:rPr lang="en-GB" sz="2000" noProof="1"/>
              <a:t>Consonants, including lost "weak" consonants</a:t>
            </a:r>
          </a:p>
          <a:p>
            <a:pPr>
              <a:lnSpc>
                <a:spcPts val="2200"/>
              </a:lnSpc>
            </a:pPr>
            <a:r>
              <a:rPr lang="en-GB" sz="2000" dirty="0"/>
              <a:t>• U</a:t>
            </a:r>
            <a:r>
              <a:rPr lang="en-GB" sz="2000" noProof="1"/>
              <a:t>nstressed vowels</a:t>
            </a:r>
          </a:p>
          <a:p>
            <a:pPr>
              <a:lnSpc>
                <a:spcPts val="2200"/>
              </a:lnSpc>
            </a:pPr>
            <a:r>
              <a:rPr lang="en-GB" sz="2000" dirty="0"/>
              <a:t>• S</a:t>
            </a:r>
            <a:r>
              <a:rPr lang="en-GB" sz="2000" noProof="1"/>
              <a:t>tructural features (e.g. gemination)</a:t>
            </a:r>
          </a:p>
          <a:p>
            <a:pPr>
              <a:lnSpc>
                <a:spcPts val="2200"/>
              </a:lnSpc>
            </a:pPr>
            <a:r>
              <a:rPr lang="en-GB" sz="2000" dirty="0"/>
              <a:t>• Possibly differences in the phonemic length of the stressed vowel</a:t>
            </a:r>
          </a:p>
          <a:p>
            <a:pPr>
              <a:lnSpc>
                <a:spcPts val="2200"/>
              </a:lnSpc>
            </a:pPr>
            <a:r>
              <a:rPr lang="en-GB" sz="2000" dirty="0"/>
              <a:t>• etc.</a:t>
            </a:r>
            <a:endParaRPr lang="en-GB" sz="2000" noProof="1"/>
          </a:p>
          <a:p>
            <a:pPr>
              <a:lnSpc>
                <a:spcPts val="2200"/>
              </a:lnSpc>
            </a:pPr>
            <a:endParaRPr lang="en-GB" sz="2000" noProof="1"/>
          </a:p>
          <a:p>
            <a:pPr>
              <a:lnSpc>
                <a:spcPts val="2200"/>
              </a:lnSpc>
            </a:pPr>
            <a:r>
              <a:rPr lang="en-GB" sz="2000" noProof="1"/>
              <a:t>These potential differences may have conditioned </a:t>
            </a:r>
          </a:p>
          <a:p>
            <a:pPr>
              <a:lnSpc>
                <a:spcPts val="2200"/>
              </a:lnSpc>
            </a:pPr>
            <a:r>
              <a:rPr lang="en-GB" sz="2000" noProof="1"/>
              <a:t>the realization of the vowels</a:t>
            </a:r>
          </a:p>
        </p:txBody>
      </p:sp>
      <p:sp>
        <p:nvSpPr>
          <p:cNvPr id="4" name="Textfeld 3">
            <a:extLst>
              <a:ext uri="{FF2B5EF4-FFF2-40B4-BE49-F238E27FC236}">
                <a16:creationId xmlns:a16="http://schemas.microsoft.com/office/drawing/2014/main" id="{FDE72223-B092-0F19-A5F6-CB8A530F0B13}"/>
              </a:ext>
            </a:extLst>
          </p:cNvPr>
          <p:cNvSpPr txBox="1"/>
          <p:nvPr/>
        </p:nvSpPr>
        <p:spPr>
          <a:xfrm>
            <a:off x="7413070" y="1596453"/>
            <a:ext cx="3622772" cy="4324261"/>
          </a:xfrm>
          <a:prstGeom prst="rect">
            <a:avLst/>
          </a:prstGeom>
          <a:noFill/>
        </p:spPr>
        <p:txBody>
          <a:bodyPr wrap="square">
            <a:spAutoFit/>
          </a:bodyPr>
          <a:lstStyle/>
          <a:p>
            <a:pPr>
              <a:lnSpc>
                <a:spcPts val="2200"/>
              </a:lnSpc>
            </a:pPr>
            <a:r>
              <a:rPr lang="en-GB" sz="2000" noProof="1">
                <a:latin typeface="Calibri" panose="020F0502020204030204" pitchFamily="34" charset="0"/>
                <a:cs typeface="Calibri" panose="020F0502020204030204" pitchFamily="34" charset="0"/>
              </a:rPr>
              <a:t>ⲥⲓϥⲉ</a:t>
            </a:r>
            <a:r>
              <a:rPr lang="en-GB" sz="2000" noProof="1"/>
              <a:t> |sífə| ‘tar (tree), cedar’ </a:t>
            </a:r>
          </a:p>
          <a:p>
            <a:pPr>
              <a:lnSpc>
                <a:spcPts val="2200"/>
              </a:lnSpc>
            </a:pPr>
            <a:endParaRPr lang="en-GB" sz="2000" noProof="1"/>
          </a:p>
          <a:p>
            <a:pPr>
              <a:lnSpc>
                <a:spcPts val="2200"/>
              </a:lnSpc>
            </a:pPr>
            <a:r>
              <a:rPr lang="en-GB" sz="2000" noProof="1"/>
              <a:t>	&lt; </a:t>
            </a:r>
            <a:r>
              <a:rPr lang="en-GB" sz="2000" b="1" i="1" noProof="1"/>
              <a:t>s</a:t>
            </a:r>
            <a:r>
              <a:rPr lang="en-GB" sz="2000" i="1" noProof="1"/>
              <a:t>-f-</a:t>
            </a:r>
            <a:r>
              <a:rPr lang="en-GB" sz="2000" b="1" i="1" noProof="1"/>
              <a:t>ṯ</a:t>
            </a:r>
            <a:r>
              <a:rPr lang="en-GB" sz="2000" noProof="1"/>
              <a:t> </a:t>
            </a:r>
          </a:p>
          <a:p>
            <a:pPr algn="ctr">
              <a:lnSpc>
                <a:spcPts val="2200"/>
              </a:lnSpc>
            </a:pPr>
            <a:endParaRPr lang="en-GB" sz="2000" noProof="1"/>
          </a:p>
          <a:p>
            <a:pPr>
              <a:lnSpc>
                <a:spcPts val="2200"/>
              </a:lnSpc>
            </a:pPr>
            <a:r>
              <a:rPr lang="en-GB" sz="2000" noProof="1">
                <a:latin typeface="Calibri" panose="020F0502020204030204" pitchFamily="34" charset="0"/>
                <a:cs typeface="Calibri" panose="020F0502020204030204" pitchFamily="34" charset="0"/>
              </a:rPr>
              <a:t>ⲥⲏϥⲉ</a:t>
            </a:r>
            <a:r>
              <a:rPr lang="en-GB" sz="2000" noProof="1"/>
              <a:t> |séfə| ‘sword, knife’</a:t>
            </a:r>
          </a:p>
          <a:p>
            <a:pPr>
              <a:lnSpc>
                <a:spcPts val="2200"/>
              </a:lnSpc>
            </a:pPr>
            <a:endParaRPr lang="en-GB" sz="2000" noProof="1"/>
          </a:p>
          <a:p>
            <a:pPr>
              <a:lnSpc>
                <a:spcPts val="2200"/>
              </a:lnSpc>
            </a:pPr>
            <a:r>
              <a:rPr lang="en-GB" sz="2000" noProof="1"/>
              <a:t>	 &lt; </a:t>
            </a:r>
            <a:r>
              <a:rPr lang="en-GB" sz="2000" b="1" i="1" noProof="1"/>
              <a:t>z</a:t>
            </a:r>
            <a:r>
              <a:rPr lang="en-GB" sz="2000" i="1" noProof="1"/>
              <a:t>-f-t</a:t>
            </a:r>
            <a:r>
              <a:rPr lang="en-GB" sz="2000" noProof="1"/>
              <a:t> </a:t>
            </a:r>
          </a:p>
          <a:p>
            <a:pPr>
              <a:lnSpc>
                <a:spcPts val="2200"/>
              </a:lnSpc>
            </a:pPr>
            <a:endParaRPr lang="en-GB" sz="2000" noProof="1"/>
          </a:p>
          <a:p>
            <a:pPr>
              <a:lnSpc>
                <a:spcPts val="2200"/>
              </a:lnSpc>
            </a:pPr>
            <a:r>
              <a:rPr lang="en-GB" sz="2000" noProof="1"/>
              <a:t>-</a:t>
            </a:r>
            <a:r>
              <a:rPr lang="en-GB" sz="2000" noProof="1">
                <a:latin typeface="Calibri" panose="020F0502020204030204" pitchFamily="34" charset="0"/>
                <a:cs typeface="Calibri" panose="020F0502020204030204" pitchFamily="34" charset="0"/>
              </a:rPr>
              <a:t>ⲉ &lt; ? which vowel?</a:t>
            </a:r>
          </a:p>
          <a:p>
            <a:pPr>
              <a:lnSpc>
                <a:spcPts val="2200"/>
              </a:lnSpc>
            </a:pPr>
            <a:endParaRPr lang="en-GB" sz="2000" noProof="1">
              <a:latin typeface="Calibri" panose="020F0502020204030204" pitchFamily="34" charset="0"/>
              <a:cs typeface="Calibri" panose="020F0502020204030204" pitchFamily="34" charset="0"/>
            </a:endParaRPr>
          </a:p>
          <a:p>
            <a:pPr>
              <a:lnSpc>
                <a:spcPts val="2200"/>
              </a:lnSpc>
            </a:pPr>
            <a:r>
              <a:rPr lang="en-GB" sz="2000" noProof="1">
                <a:latin typeface="Calibri" panose="020F0502020204030204" pitchFamily="34" charset="0"/>
                <a:cs typeface="Calibri" panose="020F0502020204030204" pitchFamily="34" charset="0"/>
              </a:rPr>
              <a:t>Which underlying pattern? </a:t>
            </a:r>
          </a:p>
          <a:p>
            <a:pPr>
              <a:lnSpc>
                <a:spcPts val="2200"/>
              </a:lnSpc>
            </a:pPr>
            <a:endParaRPr lang="en-GB" sz="2000" noProof="1">
              <a:latin typeface="Calibri" panose="020F0502020204030204" pitchFamily="34" charset="0"/>
              <a:cs typeface="Calibri" panose="020F0502020204030204" pitchFamily="34" charset="0"/>
            </a:endParaRPr>
          </a:p>
          <a:p>
            <a:pPr marL="342900" indent="-342900">
              <a:lnSpc>
                <a:spcPts val="2200"/>
              </a:lnSpc>
              <a:buFontTx/>
              <a:buChar char="-"/>
            </a:pPr>
            <a:r>
              <a:rPr lang="en-GB" sz="2000" noProof="1">
                <a:latin typeface="Calibri" panose="020F0502020204030204" pitchFamily="34" charset="0"/>
                <a:cs typeface="Calibri" panose="020F0502020204030204" pitchFamily="34" charset="0"/>
              </a:rPr>
              <a:t>CVCVC ?	CV:CVC ?</a:t>
            </a:r>
          </a:p>
          <a:p>
            <a:pPr marL="342900" indent="-342900">
              <a:lnSpc>
                <a:spcPts val="2200"/>
              </a:lnSpc>
              <a:buFontTx/>
              <a:buChar char="-"/>
            </a:pPr>
            <a:r>
              <a:rPr lang="en-GB" sz="2000" noProof="1">
                <a:latin typeface="Calibri" panose="020F0502020204030204" pitchFamily="34" charset="0"/>
                <a:cs typeface="Calibri" panose="020F0502020204030204" pitchFamily="34" charset="0"/>
              </a:rPr>
              <a:t>CVC:VC ?	CV:C:VC ?</a:t>
            </a:r>
            <a:endParaRPr lang="en-GB" sz="2000" noProof="1"/>
          </a:p>
          <a:p>
            <a:pPr marL="342900" indent="-342900">
              <a:lnSpc>
                <a:spcPts val="2200"/>
              </a:lnSpc>
              <a:buFontTx/>
              <a:buChar char="-"/>
            </a:pPr>
            <a:endParaRPr lang="en-GB" sz="2000" noProof="1"/>
          </a:p>
        </p:txBody>
      </p:sp>
      <p:cxnSp>
        <p:nvCxnSpPr>
          <p:cNvPr id="8" name="Gerade Verbindung 7">
            <a:extLst>
              <a:ext uri="{FF2B5EF4-FFF2-40B4-BE49-F238E27FC236}">
                <a16:creationId xmlns:a16="http://schemas.microsoft.com/office/drawing/2014/main" id="{815E6887-A144-9DB9-6AAA-A2DA71069178}"/>
              </a:ext>
            </a:extLst>
          </p:cNvPr>
          <p:cNvCxnSpPr>
            <a:cxnSpLocks/>
          </p:cNvCxnSpPr>
          <p:nvPr/>
        </p:nvCxnSpPr>
        <p:spPr>
          <a:xfrm>
            <a:off x="6672064" y="1916832"/>
            <a:ext cx="0" cy="410445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532123"/>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9BB61-03A2-F87B-80ED-08B1FFEC9190}"/>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7616D899-AB37-90E6-C4B8-775965CF9E50}"/>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1A24320E-68B1-C4BD-66E8-55E05DEEF839}"/>
              </a:ext>
            </a:extLst>
          </p:cNvPr>
          <p:cNvSpPr>
            <a:spLocks noGrp="1"/>
          </p:cNvSpPr>
          <p:nvPr>
            <p:ph type="sldNum" sz="quarter" idx="12"/>
          </p:nvPr>
        </p:nvSpPr>
        <p:spPr/>
        <p:txBody>
          <a:bodyPr/>
          <a:lstStyle/>
          <a:p>
            <a:fld id="{B3811826-9277-4232-A2B5-17D05DFC7392}" type="slidenum">
              <a:rPr lang="de-CH" smtClean="0"/>
              <a:pPr/>
              <a:t>14</a:t>
            </a:fld>
            <a:endParaRPr lang="de-CH" dirty="0"/>
          </a:p>
        </p:txBody>
      </p:sp>
      <p:cxnSp>
        <p:nvCxnSpPr>
          <p:cNvPr id="9" name="Gerade Verbindung 7">
            <a:extLst>
              <a:ext uri="{FF2B5EF4-FFF2-40B4-BE49-F238E27FC236}">
                <a16:creationId xmlns:a16="http://schemas.microsoft.com/office/drawing/2014/main" id="{A073C296-BE9D-053A-6632-C34912620D23}"/>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3A6CB12E-7D80-9420-8BFD-21EB5DCCF680}"/>
              </a:ext>
            </a:extLst>
          </p:cNvPr>
          <p:cNvSpPr>
            <a:spLocks noGrp="1"/>
          </p:cNvSpPr>
          <p:nvPr>
            <p:ph type="title"/>
          </p:nvPr>
        </p:nvSpPr>
        <p:spPr>
          <a:xfrm>
            <a:off x="334800" y="404813"/>
            <a:ext cx="11521840" cy="755936"/>
          </a:xfrm>
        </p:spPr>
        <p:txBody>
          <a:bodyPr/>
          <a:lstStyle/>
          <a:p>
            <a:r>
              <a:rPr lang="en-GB" dirty="0"/>
              <a:t>Morphological minimal pairs</a:t>
            </a:r>
            <a:endParaRPr lang="de-CH" dirty="0"/>
          </a:p>
        </p:txBody>
      </p:sp>
      <p:sp>
        <p:nvSpPr>
          <p:cNvPr id="3" name="Datumsplatzhalter 3">
            <a:extLst>
              <a:ext uri="{FF2B5EF4-FFF2-40B4-BE49-F238E27FC236}">
                <a16:creationId xmlns:a16="http://schemas.microsoft.com/office/drawing/2014/main" id="{FFA08455-29FD-1ECD-5477-57D40FB2C596}"/>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76B7A8FD-5208-26CD-5D70-CA9556C55A13}"/>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F4F79CF2-705C-55CA-E7E7-CF0CECB1AAEB}"/>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2FD32920-2993-A356-D2C6-739CC795B5BE}"/>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8" name="Textfeld 7">
            <a:extLst>
              <a:ext uri="{FF2B5EF4-FFF2-40B4-BE49-F238E27FC236}">
                <a16:creationId xmlns:a16="http://schemas.microsoft.com/office/drawing/2014/main" id="{583E9D57-35A3-E638-B24D-C42FA1C09508}"/>
              </a:ext>
            </a:extLst>
          </p:cNvPr>
          <p:cNvSpPr txBox="1"/>
          <p:nvPr/>
        </p:nvSpPr>
        <p:spPr>
          <a:xfrm>
            <a:off x="551384" y="1181074"/>
            <a:ext cx="11305256" cy="4048126"/>
          </a:xfrm>
          <a:prstGeom prst="rect">
            <a:avLst/>
          </a:prstGeom>
          <a:noFill/>
        </p:spPr>
        <p:txBody>
          <a:bodyPr wrap="square" lIns="0" tIns="0" rIns="0" bIns="0" rtlCol="0">
            <a:noAutofit/>
          </a:bodyPr>
          <a:lstStyle/>
          <a:p>
            <a:pPr>
              <a:lnSpc>
                <a:spcPct val="150000"/>
              </a:lnSpc>
            </a:pPr>
            <a:r>
              <a:rPr lang="en-GB" sz="2000" noProof="1"/>
              <a:t>A </a:t>
            </a:r>
            <a:r>
              <a:rPr lang="en-GB" sz="2000" b="1" noProof="1"/>
              <a:t>morphological minimal pair</a:t>
            </a:r>
            <a:r>
              <a:rPr lang="en-GB" sz="2000" noProof="1"/>
              <a:t> is a pair of forms that differ in only one morphological element (like a suffix, prefix, etc.) and have different grammatical meanings. E.g. in Proto-Semitic:</a:t>
            </a:r>
          </a:p>
          <a:p>
            <a:pPr>
              <a:lnSpc>
                <a:spcPts val="2200"/>
              </a:lnSpc>
            </a:pPr>
            <a:endParaRPr lang="en-GB" sz="2000" noProof="1"/>
          </a:p>
          <a:p>
            <a:pPr>
              <a:lnSpc>
                <a:spcPts val="2200"/>
              </a:lnSpc>
            </a:pPr>
            <a:endParaRPr lang="en-GB" sz="2000" noProof="1"/>
          </a:p>
          <a:p>
            <a:pPr>
              <a:lnSpc>
                <a:spcPts val="2200"/>
              </a:lnSpc>
            </a:pPr>
            <a:endParaRPr lang="en-GB" sz="2000" noProof="1"/>
          </a:p>
        </p:txBody>
      </p:sp>
      <p:graphicFrame>
        <p:nvGraphicFramePr>
          <p:cNvPr id="12" name="Tabelle 11">
            <a:extLst>
              <a:ext uri="{FF2B5EF4-FFF2-40B4-BE49-F238E27FC236}">
                <a16:creationId xmlns:a16="http://schemas.microsoft.com/office/drawing/2014/main" id="{A8424974-0D9C-013B-34E5-A7E2FE4411DA}"/>
              </a:ext>
            </a:extLst>
          </p:cNvPr>
          <p:cNvGraphicFramePr>
            <a:graphicFrameLocks noGrp="1"/>
          </p:cNvGraphicFramePr>
          <p:nvPr>
            <p:extLst>
              <p:ext uri="{D42A27DB-BD31-4B8C-83A1-F6EECF244321}">
                <p14:modId xmlns:p14="http://schemas.microsoft.com/office/powerpoint/2010/main" val="3775350594"/>
              </p:ext>
            </p:extLst>
          </p:nvPr>
        </p:nvGraphicFramePr>
        <p:xfrm>
          <a:off x="1451203" y="2632255"/>
          <a:ext cx="9289033" cy="2288588"/>
        </p:xfrm>
        <a:graphic>
          <a:graphicData uri="http://schemas.openxmlformats.org/drawingml/2006/table">
            <a:tbl>
              <a:tblPr firstRow="1" firstCol="1" bandRow="1">
                <a:tableStyleId>{ED083AE6-46FA-4A59-8FB0-9F97EB10719F}</a:tableStyleId>
              </a:tblPr>
              <a:tblGrid>
                <a:gridCol w="2208882">
                  <a:extLst>
                    <a:ext uri="{9D8B030D-6E8A-4147-A177-3AD203B41FA5}">
                      <a16:colId xmlns:a16="http://schemas.microsoft.com/office/drawing/2014/main" val="2357103371"/>
                    </a:ext>
                  </a:extLst>
                </a:gridCol>
                <a:gridCol w="2771854">
                  <a:extLst>
                    <a:ext uri="{9D8B030D-6E8A-4147-A177-3AD203B41FA5}">
                      <a16:colId xmlns:a16="http://schemas.microsoft.com/office/drawing/2014/main" val="3959739406"/>
                    </a:ext>
                  </a:extLst>
                </a:gridCol>
                <a:gridCol w="4308297">
                  <a:extLst>
                    <a:ext uri="{9D8B030D-6E8A-4147-A177-3AD203B41FA5}">
                      <a16:colId xmlns:a16="http://schemas.microsoft.com/office/drawing/2014/main" val="2013010553"/>
                    </a:ext>
                  </a:extLst>
                </a:gridCol>
              </a:tblGrid>
              <a:tr h="572147">
                <a:tc>
                  <a:txBody>
                    <a:bodyPr/>
                    <a:lstStyle/>
                    <a:p>
                      <a:pPr>
                        <a:buNone/>
                      </a:pPr>
                      <a:r>
                        <a:rPr lang="en-GB" sz="2000" b="0" cap="none" spc="0" dirty="0">
                          <a:ln w="0"/>
                          <a:solidFill>
                            <a:schemeClr val="tx1"/>
                          </a:solidFill>
                          <a:effectLst>
                            <a:outerShdw blurRad="38100" dist="19050" dir="2700000" algn="tl" rotWithShape="0">
                              <a:schemeClr val="dk1">
                                <a:alpha val="40000"/>
                              </a:schemeClr>
                            </a:outerShdw>
                          </a:effectLst>
                        </a:rPr>
                        <a:t> </a:t>
                      </a:r>
                      <a:endParaRPr lang="de-CH"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cap="none" spc="0" dirty="0">
                          <a:ln w="0"/>
                          <a:solidFill>
                            <a:schemeClr val="tx1"/>
                          </a:solidFill>
                          <a:effectLst>
                            <a:outerShdw blurRad="38100" dist="19050" dir="2700000" algn="tl" rotWithShape="0">
                              <a:schemeClr val="dk1">
                                <a:alpha val="40000"/>
                              </a:schemeClr>
                            </a:outerShdw>
                          </a:effectLst>
                        </a:rPr>
                        <a:t>Case</a:t>
                      </a:r>
                      <a:endParaRPr lang="de-CH"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cap="none" spc="0" dirty="0">
                          <a:ln w="0"/>
                          <a:solidFill>
                            <a:schemeClr val="tx1"/>
                          </a:solidFill>
                          <a:effectLst>
                            <a:outerShdw blurRad="38100" dist="19050" dir="2700000" algn="tl" rotWithShape="0">
                              <a:schemeClr val="dk1">
                                <a:alpha val="40000"/>
                              </a:schemeClr>
                            </a:outerShdw>
                          </a:effectLst>
                        </a:rPr>
                        <a:t>Example</a:t>
                      </a:r>
                      <a:endParaRPr lang="de-CH"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76467297"/>
                  </a:ext>
                </a:extLst>
              </a:tr>
              <a:tr h="572147">
                <a:tc>
                  <a:txBody>
                    <a:bodyPr/>
                    <a:lstStyle/>
                    <a:p>
                      <a:pPr>
                        <a:buNone/>
                      </a:pPr>
                      <a:r>
                        <a:rPr lang="en-GB" sz="2000" b="0" cap="none" spc="0">
                          <a:ln w="0"/>
                          <a:solidFill>
                            <a:schemeClr val="tx1"/>
                          </a:solidFill>
                          <a:effectLst>
                            <a:outerShdw blurRad="38100" dist="19050" dir="2700000" algn="tl" rotWithShape="0">
                              <a:schemeClr val="dk1">
                                <a:alpha val="40000"/>
                              </a:schemeClr>
                            </a:outerShdw>
                          </a:effectLst>
                        </a:rPr>
                        <a:t>Sg. Nom.</a:t>
                      </a:r>
                      <a:endParaRPr lang="de-CH" sz="2000" b="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*-u</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a:t>
                      </a:r>
                      <a:r>
                        <a:rPr lang="en-GB" sz="2000" b="0" i="1" cap="none" spc="0" dirty="0" err="1">
                          <a:ln w="0"/>
                          <a:solidFill>
                            <a:schemeClr val="tx1"/>
                          </a:solidFill>
                          <a:effectLst>
                            <a:outerShdw blurRad="38100" dist="19050" dir="2700000" algn="tl" rotWithShape="0">
                              <a:schemeClr val="dk1">
                                <a:alpha val="40000"/>
                              </a:schemeClr>
                            </a:outerShdw>
                          </a:effectLst>
                        </a:rPr>
                        <a:t>t’aːb-</a:t>
                      </a:r>
                      <a:r>
                        <a:rPr lang="en-GB" sz="2000" b="1" i="1" cap="none" spc="0" dirty="0" err="1">
                          <a:ln w="0"/>
                          <a:solidFill>
                            <a:schemeClr val="tx1"/>
                          </a:solidFill>
                          <a:effectLst>
                            <a:outerShdw blurRad="38100" dist="19050" dir="2700000" algn="tl" rotWithShape="0">
                              <a:schemeClr val="dk1">
                                <a:alpha val="40000"/>
                              </a:schemeClr>
                            </a:outerShdw>
                          </a:effectLst>
                        </a:rPr>
                        <a:t>u</a:t>
                      </a:r>
                      <a:r>
                        <a:rPr lang="en-GB" sz="2000" b="0" i="1" cap="none" spc="0" dirty="0" err="1">
                          <a:ln w="0"/>
                          <a:solidFill>
                            <a:schemeClr val="tx1"/>
                          </a:solidFill>
                          <a:effectLst>
                            <a:outerShdw blurRad="38100" dist="19050" dir="2700000" algn="tl" rotWithShape="0">
                              <a:schemeClr val="dk1">
                                <a:alpha val="40000"/>
                              </a:schemeClr>
                            </a:outerShdw>
                          </a:effectLst>
                        </a:rPr>
                        <a:t>-m</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08361261"/>
                  </a:ext>
                </a:extLst>
              </a:tr>
              <a:tr h="572147">
                <a:tc>
                  <a:txBody>
                    <a:bodyPr/>
                    <a:lstStyle/>
                    <a:p>
                      <a:pPr>
                        <a:buNone/>
                      </a:pPr>
                      <a:r>
                        <a:rPr lang="en-GB" sz="2000" b="0" cap="none" spc="0">
                          <a:ln w="0"/>
                          <a:solidFill>
                            <a:schemeClr val="tx1"/>
                          </a:solidFill>
                          <a:effectLst>
                            <a:outerShdw blurRad="38100" dist="19050" dir="2700000" algn="tl" rotWithShape="0">
                              <a:schemeClr val="dk1">
                                <a:alpha val="40000"/>
                              </a:schemeClr>
                            </a:outerShdw>
                          </a:effectLst>
                        </a:rPr>
                        <a:t>Sg. Gen.</a:t>
                      </a:r>
                      <a:endParaRPr lang="de-CH" sz="2000" b="0" cap="none" spc="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a:t>
                      </a:r>
                      <a:r>
                        <a:rPr lang="en-GB" sz="2000" b="0" i="1" cap="none" spc="0" dirty="0" err="1">
                          <a:ln w="0"/>
                          <a:solidFill>
                            <a:schemeClr val="tx1"/>
                          </a:solidFill>
                          <a:effectLst>
                            <a:outerShdw blurRad="38100" dist="19050" dir="2700000" algn="tl" rotWithShape="0">
                              <a:schemeClr val="dk1">
                                <a:alpha val="40000"/>
                              </a:schemeClr>
                            </a:outerShdw>
                          </a:effectLst>
                        </a:rPr>
                        <a:t>i</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a:t>
                      </a:r>
                      <a:r>
                        <a:rPr lang="en-GB" sz="2000" b="0" i="1" cap="none" spc="0" dirty="0" err="1">
                          <a:ln w="0"/>
                          <a:solidFill>
                            <a:schemeClr val="tx1"/>
                          </a:solidFill>
                          <a:effectLst>
                            <a:outerShdw blurRad="38100" dist="19050" dir="2700000" algn="tl" rotWithShape="0">
                              <a:schemeClr val="dk1">
                                <a:alpha val="40000"/>
                              </a:schemeClr>
                            </a:outerShdw>
                          </a:effectLst>
                        </a:rPr>
                        <a:t>t’aːb-</a:t>
                      </a:r>
                      <a:r>
                        <a:rPr lang="en-GB" sz="2000" b="1" i="1" cap="none" spc="0" dirty="0" err="1">
                          <a:ln w="0"/>
                          <a:solidFill>
                            <a:schemeClr val="tx1"/>
                          </a:solidFill>
                          <a:effectLst>
                            <a:outerShdw blurRad="38100" dist="19050" dir="2700000" algn="tl" rotWithShape="0">
                              <a:schemeClr val="dk1">
                                <a:alpha val="40000"/>
                              </a:schemeClr>
                            </a:outerShdw>
                          </a:effectLst>
                        </a:rPr>
                        <a:t>i</a:t>
                      </a:r>
                      <a:r>
                        <a:rPr lang="en-GB" sz="2000" b="0" i="1" cap="none" spc="0" dirty="0" err="1">
                          <a:ln w="0"/>
                          <a:solidFill>
                            <a:schemeClr val="tx1"/>
                          </a:solidFill>
                          <a:effectLst>
                            <a:outerShdw blurRad="38100" dist="19050" dir="2700000" algn="tl" rotWithShape="0">
                              <a:schemeClr val="dk1">
                                <a:alpha val="40000"/>
                              </a:schemeClr>
                            </a:outerShdw>
                          </a:effectLst>
                        </a:rPr>
                        <a:t>-m</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75660596"/>
                  </a:ext>
                </a:extLst>
              </a:tr>
              <a:tr h="572147">
                <a:tc>
                  <a:txBody>
                    <a:bodyPr/>
                    <a:lstStyle/>
                    <a:p>
                      <a:pPr>
                        <a:buNone/>
                      </a:pPr>
                      <a:r>
                        <a:rPr lang="en-GB" sz="2000" b="0" cap="none" spc="0" dirty="0">
                          <a:ln w="0"/>
                          <a:solidFill>
                            <a:schemeClr val="tx1"/>
                          </a:solidFill>
                          <a:effectLst>
                            <a:outerShdw blurRad="38100" dist="19050" dir="2700000" algn="tl" rotWithShape="0">
                              <a:schemeClr val="dk1">
                                <a:alpha val="40000"/>
                              </a:schemeClr>
                            </a:outerShdw>
                          </a:effectLst>
                        </a:rPr>
                        <a:t>Sg. </a:t>
                      </a:r>
                      <a:r>
                        <a:rPr lang="en-GB" sz="2000" b="0" cap="none" spc="0" dirty="0" err="1">
                          <a:ln w="0"/>
                          <a:solidFill>
                            <a:schemeClr val="tx1"/>
                          </a:solidFill>
                          <a:effectLst>
                            <a:outerShdw blurRad="38100" dist="19050" dir="2700000" algn="tl" rotWithShape="0">
                              <a:schemeClr val="dk1">
                                <a:alpha val="40000"/>
                              </a:schemeClr>
                            </a:outerShdw>
                          </a:effectLst>
                        </a:rPr>
                        <a:t>Acc</a:t>
                      </a:r>
                      <a:endParaRPr lang="de-CH"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*-a</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GB" sz="2000" b="0" i="1" cap="none" spc="0" dirty="0">
                          <a:ln w="0"/>
                          <a:solidFill>
                            <a:schemeClr val="tx1"/>
                          </a:solidFill>
                          <a:effectLst>
                            <a:outerShdw blurRad="38100" dist="19050" dir="2700000" algn="tl" rotWithShape="0">
                              <a:schemeClr val="dk1">
                                <a:alpha val="40000"/>
                              </a:schemeClr>
                            </a:outerShdw>
                          </a:effectLst>
                        </a:rPr>
                        <a:t>*</a:t>
                      </a:r>
                      <a:r>
                        <a:rPr lang="en-GB" sz="2000" b="0" i="1" cap="none" spc="0" dirty="0" err="1">
                          <a:ln w="0"/>
                          <a:solidFill>
                            <a:schemeClr val="tx1"/>
                          </a:solidFill>
                          <a:effectLst>
                            <a:outerShdw blurRad="38100" dist="19050" dir="2700000" algn="tl" rotWithShape="0">
                              <a:schemeClr val="dk1">
                                <a:alpha val="40000"/>
                              </a:schemeClr>
                            </a:outerShdw>
                          </a:effectLst>
                        </a:rPr>
                        <a:t>t’aːb-</a:t>
                      </a:r>
                      <a:r>
                        <a:rPr lang="en-GB" sz="2000" b="1" i="1" cap="none" spc="0" dirty="0" err="1">
                          <a:ln w="0"/>
                          <a:solidFill>
                            <a:schemeClr val="tx1"/>
                          </a:solidFill>
                          <a:effectLst>
                            <a:outerShdw blurRad="38100" dist="19050" dir="2700000" algn="tl" rotWithShape="0">
                              <a:schemeClr val="dk1">
                                <a:alpha val="40000"/>
                              </a:schemeClr>
                            </a:outerShdw>
                          </a:effectLst>
                        </a:rPr>
                        <a:t>a</a:t>
                      </a:r>
                      <a:r>
                        <a:rPr lang="en-GB" sz="2000" b="0" i="1" cap="none" spc="0" dirty="0" err="1">
                          <a:ln w="0"/>
                          <a:solidFill>
                            <a:schemeClr val="tx1"/>
                          </a:solidFill>
                          <a:effectLst>
                            <a:outerShdw blurRad="38100" dist="19050" dir="2700000" algn="tl" rotWithShape="0">
                              <a:schemeClr val="dk1">
                                <a:alpha val="40000"/>
                              </a:schemeClr>
                            </a:outerShdw>
                          </a:effectLst>
                        </a:rPr>
                        <a:t>-m</a:t>
                      </a:r>
                      <a:endParaRPr lang="de-CH" sz="2000" b="0" i="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65670309"/>
                  </a:ext>
                </a:extLst>
              </a:tr>
            </a:tbl>
          </a:graphicData>
        </a:graphic>
      </p:graphicFrame>
    </p:spTree>
    <p:extLst>
      <p:ext uri="{BB962C8B-B14F-4D97-AF65-F5344CB8AC3E}">
        <p14:creationId xmlns:p14="http://schemas.microsoft.com/office/powerpoint/2010/main" val="2629099527"/>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920A8-99EB-1464-B87C-D9FFF91C9E42}"/>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49C7D634-E514-6679-4970-8EBA85700F43}"/>
              </a:ext>
            </a:extLst>
          </p:cNvPr>
          <p:cNvSpPr>
            <a:spLocks noGrp="1"/>
          </p:cNvSpPr>
          <p:nvPr>
            <p:ph type="ftr" sz="quarter" idx="11"/>
          </p:nvPr>
        </p:nvSpPr>
        <p:spPr/>
        <p:txBody>
          <a:bodyPr/>
          <a:lstStyle/>
          <a:p>
            <a:pPr algn="r"/>
            <a:r>
              <a:rPr lang="en-GB" noProof="1"/>
              <a:t>University of Basel</a:t>
            </a:r>
          </a:p>
        </p:txBody>
      </p:sp>
      <p:sp>
        <p:nvSpPr>
          <p:cNvPr id="6" name="Foliennummernplatzhalter 5">
            <a:extLst>
              <a:ext uri="{FF2B5EF4-FFF2-40B4-BE49-F238E27FC236}">
                <a16:creationId xmlns:a16="http://schemas.microsoft.com/office/drawing/2014/main" id="{F54AF557-97B0-557B-757D-657F426796F3}"/>
              </a:ext>
            </a:extLst>
          </p:cNvPr>
          <p:cNvSpPr>
            <a:spLocks noGrp="1"/>
          </p:cNvSpPr>
          <p:nvPr>
            <p:ph type="sldNum" sz="quarter" idx="12"/>
          </p:nvPr>
        </p:nvSpPr>
        <p:spPr/>
        <p:txBody>
          <a:bodyPr/>
          <a:lstStyle/>
          <a:p>
            <a:fld id="{B3811826-9277-4232-A2B5-17D05DFC7392}" type="slidenum">
              <a:rPr lang="en-GB" noProof="1" smtClean="0"/>
              <a:pPr/>
              <a:t>15</a:t>
            </a:fld>
            <a:endParaRPr lang="en-GB" noProof="1"/>
          </a:p>
        </p:txBody>
      </p:sp>
      <p:cxnSp>
        <p:nvCxnSpPr>
          <p:cNvPr id="9" name="Gerade Verbindung 7">
            <a:extLst>
              <a:ext uri="{FF2B5EF4-FFF2-40B4-BE49-F238E27FC236}">
                <a16:creationId xmlns:a16="http://schemas.microsoft.com/office/drawing/2014/main" id="{547AE09F-2B07-296B-D0D1-960FB7F5F8A7}"/>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AE252869-DB4A-5D6C-F2EF-09A03DB0E70D}"/>
              </a:ext>
            </a:extLst>
          </p:cNvPr>
          <p:cNvSpPr>
            <a:spLocks noGrp="1"/>
          </p:cNvSpPr>
          <p:nvPr>
            <p:ph type="title"/>
          </p:nvPr>
        </p:nvSpPr>
        <p:spPr>
          <a:xfrm>
            <a:off x="334800" y="404813"/>
            <a:ext cx="11521840" cy="755936"/>
          </a:xfrm>
        </p:spPr>
        <p:txBody>
          <a:bodyPr/>
          <a:lstStyle/>
          <a:p>
            <a:r>
              <a:rPr lang="en-GB" noProof="1"/>
              <a:t>Morphological minimal pairs</a:t>
            </a:r>
          </a:p>
        </p:txBody>
      </p:sp>
      <p:sp>
        <p:nvSpPr>
          <p:cNvPr id="3" name="Datumsplatzhalter 3">
            <a:extLst>
              <a:ext uri="{FF2B5EF4-FFF2-40B4-BE49-F238E27FC236}">
                <a16:creationId xmlns:a16="http://schemas.microsoft.com/office/drawing/2014/main" id="{F388F11C-1218-7817-9F8D-90B0ED6D64AB}"/>
              </a:ext>
            </a:extLst>
          </p:cNvPr>
          <p:cNvSpPr>
            <a:spLocks noGrp="1"/>
          </p:cNvSpPr>
          <p:nvPr>
            <p:ph type="dt" sz="half" idx="10"/>
          </p:nvPr>
        </p:nvSpPr>
        <p:spPr>
          <a:xfrm>
            <a:off x="334800" y="6524626"/>
            <a:ext cx="3816984" cy="180000"/>
          </a:xfrm>
        </p:spPr>
        <p:txBody>
          <a:bodyPr/>
          <a:lstStyle/>
          <a:p>
            <a:r>
              <a:rPr lang="en-GB" noProof="1"/>
              <a:t>The Emergence of Ancient Egyptian</a:t>
            </a:r>
          </a:p>
        </p:txBody>
      </p:sp>
      <p:sp>
        <p:nvSpPr>
          <p:cNvPr id="16" name="Textfeld 15">
            <a:extLst>
              <a:ext uri="{FF2B5EF4-FFF2-40B4-BE49-F238E27FC236}">
                <a16:creationId xmlns:a16="http://schemas.microsoft.com/office/drawing/2014/main" id="{A32A40E4-1D32-C769-8683-90671C7EF960}"/>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noProof="1"/>
          </a:p>
        </p:txBody>
      </p:sp>
      <p:sp>
        <p:nvSpPr>
          <p:cNvPr id="11" name="Textfeld 10">
            <a:extLst>
              <a:ext uri="{FF2B5EF4-FFF2-40B4-BE49-F238E27FC236}">
                <a16:creationId xmlns:a16="http://schemas.microsoft.com/office/drawing/2014/main" id="{04B59007-2155-0B8B-578E-DC3ADC8B0846}"/>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noProof="1"/>
          </a:p>
        </p:txBody>
      </p:sp>
      <p:sp>
        <p:nvSpPr>
          <p:cNvPr id="28" name="Rechteck 27">
            <a:extLst>
              <a:ext uri="{FF2B5EF4-FFF2-40B4-BE49-F238E27FC236}">
                <a16:creationId xmlns:a16="http://schemas.microsoft.com/office/drawing/2014/main" id="{279F7C13-0269-F62E-79A0-192005155CA1}"/>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2" name="Textfeld 1">
            <a:extLst>
              <a:ext uri="{FF2B5EF4-FFF2-40B4-BE49-F238E27FC236}">
                <a16:creationId xmlns:a16="http://schemas.microsoft.com/office/drawing/2014/main" id="{5DC93972-1D64-C18C-72B3-9B5828015BDA}"/>
              </a:ext>
            </a:extLst>
          </p:cNvPr>
          <p:cNvSpPr txBox="1"/>
          <p:nvPr/>
        </p:nvSpPr>
        <p:spPr>
          <a:xfrm>
            <a:off x="857454" y="1412776"/>
            <a:ext cx="10237620" cy="1224136"/>
          </a:xfrm>
          <a:prstGeom prst="rect">
            <a:avLst/>
          </a:prstGeom>
          <a:noFill/>
        </p:spPr>
        <p:txBody>
          <a:bodyPr wrap="square" lIns="0" tIns="0" rIns="0" bIns="0" rtlCol="0">
            <a:noAutofit/>
          </a:bodyPr>
          <a:lstStyle/>
          <a:p>
            <a:pPr>
              <a:lnSpc>
                <a:spcPts val="3000"/>
              </a:lnSpc>
            </a:pPr>
            <a:r>
              <a:rPr lang="en-GB" sz="2000" noProof="1"/>
              <a:t>Coptic shows </a:t>
            </a:r>
            <a:r>
              <a:rPr lang="en-GB" sz="2000" b="1" noProof="1"/>
              <a:t>various morphological oppositions </a:t>
            </a:r>
            <a:r>
              <a:rPr lang="en-GB" sz="2000" noProof="1"/>
              <a:t>marked only by vowel differences, which can be projected back to the Proto-Coptic level. </a:t>
            </a:r>
          </a:p>
          <a:p>
            <a:pPr>
              <a:lnSpc>
                <a:spcPts val="3000"/>
              </a:lnSpc>
            </a:pPr>
            <a:endParaRPr lang="en-GB" sz="2000" noProof="1"/>
          </a:p>
          <a:p>
            <a:pPr>
              <a:lnSpc>
                <a:spcPts val="3000"/>
              </a:lnSpc>
            </a:pPr>
            <a:r>
              <a:rPr lang="en-GB" sz="2000" noProof="1"/>
              <a:t>Some occur within the same root, others as patterns across different roots. </a:t>
            </a:r>
          </a:p>
          <a:p>
            <a:pPr>
              <a:lnSpc>
                <a:spcPts val="3000"/>
              </a:lnSpc>
            </a:pPr>
            <a:r>
              <a:rPr lang="en-GB" sz="2000" noProof="1"/>
              <a:t>These contrasts are found in </a:t>
            </a:r>
            <a:r>
              <a:rPr lang="en-GB" sz="2000" b="1" noProof="1"/>
              <a:t>both nominal and verbal forms</a:t>
            </a:r>
            <a:r>
              <a:rPr lang="en-GB" sz="2000" noProof="1"/>
              <a:t>.</a:t>
            </a:r>
          </a:p>
        </p:txBody>
      </p:sp>
      <p:sp>
        <p:nvSpPr>
          <p:cNvPr id="8" name="Textfeld 7">
            <a:extLst>
              <a:ext uri="{FF2B5EF4-FFF2-40B4-BE49-F238E27FC236}">
                <a16:creationId xmlns:a16="http://schemas.microsoft.com/office/drawing/2014/main" id="{0CE282AB-6B64-03F6-755E-D962A31BF6DF}"/>
              </a:ext>
            </a:extLst>
          </p:cNvPr>
          <p:cNvSpPr txBox="1"/>
          <p:nvPr/>
        </p:nvSpPr>
        <p:spPr>
          <a:xfrm>
            <a:off x="857454" y="4149080"/>
            <a:ext cx="10237620" cy="1224136"/>
          </a:xfrm>
          <a:prstGeom prst="rect">
            <a:avLst/>
          </a:prstGeom>
          <a:noFill/>
        </p:spPr>
        <p:txBody>
          <a:bodyPr wrap="square" lIns="0" tIns="0" rIns="0" bIns="0" rtlCol="0">
            <a:noAutofit/>
          </a:bodyPr>
          <a:lstStyle/>
          <a:p>
            <a:pPr>
              <a:lnSpc>
                <a:spcPts val="3000"/>
              </a:lnSpc>
            </a:pPr>
            <a:r>
              <a:rPr lang="en-GB" sz="2000" noProof="1"/>
              <a:t>Yet, there is </a:t>
            </a:r>
            <a:r>
              <a:rPr lang="en-GB" sz="2000" b="1" noProof="1"/>
              <a:t>no evidence</a:t>
            </a:r>
            <a:r>
              <a:rPr lang="en-GB" sz="2000" noProof="1"/>
              <a:t> for a three-way </a:t>
            </a:r>
            <a:r>
              <a:rPr lang="en-GB" sz="2000" i="1" noProof="1"/>
              <a:t>*a</a:t>
            </a:r>
            <a:r>
              <a:rPr lang="en-GB" sz="2000" noProof="1"/>
              <a:t> vs ⲓ vs ⲏ system</a:t>
            </a:r>
          </a:p>
          <a:p>
            <a:pPr>
              <a:lnSpc>
                <a:spcPts val="3000"/>
              </a:lnSpc>
            </a:pPr>
            <a:endParaRPr lang="en-GB" sz="2000" noProof="1"/>
          </a:p>
          <a:p>
            <a:pPr>
              <a:lnSpc>
                <a:spcPts val="3000"/>
              </a:lnSpc>
            </a:pPr>
            <a:r>
              <a:rPr lang="en-GB" sz="2000" b="1" noProof="1"/>
              <a:t>Only binary </a:t>
            </a:r>
            <a:r>
              <a:rPr lang="en-GB" sz="2000" noProof="1"/>
              <a:t>contrasts are attested, and they are primarily *a vs ⲏ |e|</a:t>
            </a:r>
          </a:p>
          <a:p>
            <a:pPr>
              <a:lnSpc>
                <a:spcPts val="3000"/>
              </a:lnSpc>
            </a:pPr>
            <a:endParaRPr lang="en-GB" sz="2000" noProof="1"/>
          </a:p>
        </p:txBody>
      </p:sp>
      <p:cxnSp>
        <p:nvCxnSpPr>
          <p:cNvPr id="13" name="Gerade Verbindung 12">
            <a:extLst>
              <a:ext uri="{FF2B5EF4-FFF2-40B4-BE49-F238E27FC236}">
                <a16:creationId xmlns:a16="http://schemas.microsoft.com/office/drawing/2014/main" id="{8B5B68F8-45FB-C01B-3D2B-640052A07A46}"/>
              </a:ext>
            </a:extLst>
          </p:cNvPr>
          <p:cNvCxnSpPr>
            <a:cxnSpLocks/>
          </p:cNvCxnSpPr>
          <p:nvPr/>
        </p:nvCxnSpPr>
        <p:spPr>
          <a:xfrm>
            <a:off x="2279576" y="4558266"/>
            <a:ext cx="1476106" cy="0"/>
          </a:xfrm>
          <a:prstGeom prst="line">
            <a:avLst/>
          </a:prstGeom>
          <a:ln w="571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021227"/>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CA5A-FC11-A4FF-FE57-0FBB891FBF09}"/>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0897DA66-4F0B-3F15-F6BD-9FB4D1A00E2B}"/>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8D104003-4439-3353-91E4-6B5B5A4E275C}"/>
              </a:ext>
            </a:extLst>
          </p:cNvPr>
          <p:cNvSpPr>
            <a:spLocks noGrp="1"/>
          </p:cNvSpPr>
          <p:nvPr>
            <p:ph type="sldNum" sz="quarter" idx="12"/>
          </p:nvPr>
        </p:nvSpPr>
        <p:spPr/>
        <p:txBody>
          <a:bodyPr/>
          <a:lstStyle/>
          <a:p>
            <a:fld id="{B3811826-9277-4232-A2B5-17D05DFC7392}" type="slidenum">
              <a:rPr lang="de-CH" smtClean="0"/>
              <a:pPr/>
              <a:t>16</a:t>
            </a:fld>
            <a:endParaRPr lang="de-CH" dirty="0"/>
          </a:p>
        </p:txBody>
      </p:sp>
      <p:cxnSp>
        <p:nvCxnSpPr>
          <p:cNvPr id="9" name="Gerade Verbindung 7">
            <a:extLst>
              <a:ext uri="{FF2B5EF4-FFF2-40B4-BE49-F238E27FC236}">
                <a16:creationId xmlns:a16="http://schemas.microsoft.com/office/drawing/2014/main" id="{4E01B656-C54C-66B7-7AFC-7729C25C63C1}"/>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C237B743-9E00-9274-668A-386E989EB763}"/>
              </a:ext>
            </a:extLst>
          </p:cNvPr>
          <p:cNvSpPr>
            <a:spLocks noGrp="1"/>
          </p:cNvSpPr>
          <p:nvPr>
            <p:ph type="title"/>
          </p:nvPr>
        </p:nvSpPr>
        <p:spPr>
          <a:xfrm>
            <a:off x="334800" y="404813"/>
            <a:ext cx="11521840" cy="755936"/>
          </a:xfrm>
        </p:spPr>
        <p:txBody>
          <a:bodyPr/>
          <a:lstStyle/>
          <a:p>
            <a:r>
              <a:rPr lang="en-GB" noProof="1"/>
              <a:t>Morphological minimal pairs : in plurals</a:t>
            </a:r>
            <a:endParaRPr lang="de-CH" dirty="0"/>
          </a:p>
        </p:txBody>
      </p:sp>
      <p:sp>
        <p:nvSpPr>
          <p:cNvPr id="3" name="Datumsplatzhalter 3">
            <a:extLst>
              <a:ext uri="{FF2B5EF4-FFF2-40B4-BE49-F238E27FC236}">
                <a16:creationId xmlns:a16="http://schemas.microsoft.com/office/drawing/2014/main" id="{53FF10E8-3B26-81AB-F703-4D956E0A3556}"/>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F9DE8EB8-6ECC-E9E3-5917-D4A4C922237A}"/>
              </a:ext>
            </a:extLst>
          </p:cNvPr>
          <p:cNvSpPr txBox="1"/>
          <p:nvPr/>
        </p:nvSpPr>
        <p:spPr>
          <a:xfrm>
            <a:off x="1921684" y="352507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CC0F7DAE-36F3-A8C1-C501-117C20F601AF}"/>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15" name="Textfeld 14">
            <a:extLst>
              <a:ext uri="{FF2B5EF4-FFF2-40B4-BE49-F238E27FC236}">
                <a16:creationId xmlns:a16="http://schemas.microsoft.com/office/drawing/2014/main" id="{D2860CD0-00FD-C399-903F-31A275B2375E}"/>
              </a:ext>
            </a:extLst>
          </p:cNvPr>
          <p:cNvSpPr txBox="1"/>
          <p:nvPr/>
        </p:nvSpPr>
        <p:spPr>
          <a:xfrm>
            <a:off x="681042" y="5510121"/>
            <a:ext cx="10599534" cy="844398"/>
          </a:xfrm>
          <a:prstGeom prst="rect">
            <a:avLst/>
          </a:prstGeom>
          <a:noFill/>
        </p:spPr>
        <p:txBody>
          <a:bodyPr wrap="square">
            <a:spAutoFit/>
          </a:bodyPr>
          <a:lstStyle/>
          <a:p>
            <a:pPr>
              <a:lnSpc>
                <a:spcPts val="3000"/>
              </a:lnSpc>
            </a:pPr>
            <a:r>
              <a:rPr lang="en-GB" sz="2300" noProof="1">
                <a:latin typeface="Calibri" panose="020F0502020204030204" pitchFamily="34" charset="0"/>
                <a:cs typeface="Calibri" panose="020F0502020204030204" pitchFamily="34" charset="0"/>
              </a:rPr>
              <a:t>In general, Coptic plurals display either a stressed vowel &lt; *a, or a stressed vowel </a:t>
            </a:r>
            <a:r>
              <a:rPr lang="en-GB" sz="2300" dirty="0">
                <a:latin typeface="Calibri" panose="020F0502020204030204" pitchFamily="34" charset="0"/>
                <a:cs typeface="Calibri" panose="020F0502020204030204" pitchFamily="34" charset="0"/>
              </a:rPr>
              <a:t>ⲏ . Never </a:t>
            </a:r>
            <a:r>
              <a:rPr lang="en-GB" sz="2300" noProof="1">
                <a:latin typeface="Calibri" panose="020F0502020204030204" pitchFamily="34" charset="0"/>
                <a:cs typeface="Calibri" panose="020F0502020204030204" pitchFamily="34" charset="0"/>
              </a:rPr>
              <a:t>ⲓ .</a:t>
            </a:r>
          </a:p>
        </p:txBody>
      </p:sp>
      <p:sp>
        <p:nvSpPr>
          <p:cNvPr id="2" name="Textfeld 1">
            <a:extLst>
              <a:ext uri="{FF2B5EF4-FFF2-40B4-BE49-F238E27FC236}">
                <a16:creationId xmlns:a16="http://schemas.microsoft.com/office/drawing/2014/main" id="{E6C41A41-FAE2-652A-A4F3-925A4518AD84}"/>
              </a:ext>
            </a:extLst>
          </p:cNvPr>
          <p:cNvSpPr txBox="1"/>
          <p:nvPr/>
        </p:nvSpPr>
        <p:spPr>
          <a:xfrm>
            <a:off x="599918" y="1265922"/>
            <a:ext cx="10829356" cy="3911071"/>
          </a:xfrm>
          <a:prstGeom prst="rect">
            <a:avLst/>
          </a:prstGeom>
          <a:noFill/>
        </p:spPr>
        <p:txBody>
          <a:bodyPr wrap="square">
            <a:spAutoFit/>
          </a:bodyPr>
          <a:lstStyle/>
          <a:p>
            <a:pPr>
              <a:lnSpc>
                <a:spcPts val="3000"/>
              </a:lnSpc>
            </a:pPr>
            <a:r>
              <a:rPr lang="en-GB" sz="2300" noProof="1">
                <a:latin typeface="Calibri" panose="020F0502020204030204" pitchFamily="34" charset="0"/>
                <a:cs typeface="Calibri" panose="020F0502020204030204" pitchFamily="34" charset="0"/>
              </a:rPr>
              <a:t>From sg. [S] ⲉϩⲉ |əhɛ́| : 'cow'</a:t>
            </a:r>
          </a:p>
          <a:p>
            <a:pPr>
              <a:lnSpc>
                <a:spcPts val="3000"/>
              </a:lnSpc>
            </a:pP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Plural 1: </a:t>
            </a:r>
            <a:r>
              <a:rPr lang="en-GB" sz="2300" dirty="0">
                <a:latin typeface="Calibri" panose="020F0502020204030204" pitchFamily="34" charset="0"/>
                <a:cs typeface="Calibri" panose="020F0502020204030204" pitchFamily="34" charset="0"/>
              </a:rPr>
              <a:t>[S] ⲉ</a:t>
            </a:r>
            <a:r>
              <a:rPr lang="en-GB" sz="2300" dirty="0" err="1">
                <a:latin typeface="Calibri" panose="020F0502020204030204" pitchFamily="34" charset="0"/>
                <a:cs typeface="Calibri" panose="020F0502020204030204" pitchFamily="34" charset="0"/>
              </a:rPr>
              <a:t>ϩ</a:t>
            </a:r>
            <a:r>
              <a:rPr lang="en-GB" sz="2300" dirty="0">
                <a:latin typeface="Calibri" panose="020F0502020204030204" pitchFamily="34" charset="0"/>
                <a:cs typeface="Calibri" panose="020F0502020204030204" pitchFamily="34" charset="0"/>
              </a:rPr>
              <a:t>ⲟⲟⲩ |</a:t>
            </a:r>
            <a:r>
              <a:rPr lang="en-GB" sz="2300" dirty="0" err="1">
                <a:latin typeface="Calibri" panose="020F0502020204030204" pitchFamily="34" charset="0"/>
                <a:cs typeface="Calibri" panose="020F0502020204030204" pitchFamily="34" charset="0"/>
              </a:rPr>
              <a:t>əhɔ́w</a:t>
            </a:r>
            <a:r>
              <a:rPr lang="en-GB" sz="2300" dirty="0">
                <a:latin typeface="Calibri" panose="020F0502020204030204" pitchFamily="34" charset="0"/>
                <a:cs typeface="Calibri" panose="020F0502020204030204" pitchFamily="34" charset="0"/>
              </a:rPr>
              <a:t>(ᵊ)|</a:t>
            </a: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Plural 2: </a:t>
            </a:r>
            <a:r>
              <a:rPr lang="en-GB" sz="2300" dirty="0">
                <a:latin typeface="Calibri" panose="020F0502020204030204" pitchFamily="34" charset="0"/>
                <a:cs typeface="Calibri" panose="020F0502020204030204" pitchFamily="34" charset="0"/>
              </a:rPr>
              <a:t>[S] ⲉ</a:t>
            </a:r>
            <a:r>
              <a:rPr lang="en-GB" sz="2300" dirty="0" err="1">
                <a:latin typeface="Calibri" panose="020F0502020204030204" pitchFamily="34" charset="0"/>
                <a:cs typeface="Calibri" panose="020F0502020204030204" pitchFamily="34" charset="0"/>
              </a:rPr>
              <a:t>ϩ</a:t>
            </a:r>
            <a:r>
              <a:rPr lang="en-GB" sz="2300" dirty="0">
                <a:latin typeface="Calibri" panose="020F0502020204030204" pitchFamily="34" charset="0"/>
                <a:cs typeface="Calibri" panose="020F0502020204030204" pitchFamily="34" charset="0"/>
              </a:rPr>
              <a:t>ⲏⲩ |</a:t>
            </a:r>
            <a:r>
              <a:rPr lang="en-GB" sz="2300" dirty="0" err="1">
                <a:latin typeface="Calibri" panose="020F0502020204030204" pitchFamily="34" charset="0"/>
                <a:cs typeface="Calibri" panose="020F0502020204030204" pitchFamily="34" charset="0"/>
              </a:rPr>
              <a:t>əhéw</a:t>
            </a:r>
            <a:r>
              <a:rPr lang="en-GB" sz="2300" dirty="0">
                <a:latin typeface="Calibri" panose="020F0502020204030204" pitchFamily="34" charset="0"/>
                <a:cs typeface="Calibri" panose="020F0502020204030204" pitchFamily="34" charset="0"/>
              </a:rPr>
              <a:t>(ᵊ)|</a:t>
            </a: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From </a:t>
            </a:r>
            <a:r>
              <a:rPr lang="de-CH" sz="2300" dirty="0" err="1">
                <a:latin typeface="Calibri" panose="020F0502020204030204" pitchFamily="34" charset="0"/>
                <a:ea typeface="Times New Roman" panose="02020603050405020304" pitchFamily="18" charset="0"/>
                <a:cs typeface="Calibri" panose="020F0502020204030204" pitchFamily="34" charset="0"/>
              </a:rPr>
              <a:t>sg</a:t>
            </a:r>
            <a:r>
              <a:rPr lang="de-CH" sz="2300" dirty="0">
                <a:latin typeface="Calibri" panose="020F0502020204030204" pitchFamily="34" charset="0"/>
                <a:ea typeface="Times New Roman" panose="02020603050405020304" pitchFamily="18" charset="0"/>
                <a:cs typeface="Calibri" panose="020F0502020204030204" pitchFamily="34" charset="0"/>
              </a:rPr>
              <a:t>. [S] ⲁⲡⲟⲧ |</a:t>
            </a:r>
            <a:r>
              <a:rPr lang="de-CH" sz="2300" dirty="0" err="1">
                <a:latin typeface="Calibri" panose="020F0502020204030204" pitchFamily="34" charset="0"/>
                <a:ea typeface="Times New Roman" panose="02020603050405020304" pitchFamily="18" charset="0"/>
                <a:cs typeface="Calibri" panose="020F0502020204030204" pitchFamily="34" charset="0"/>
              </a:rPr>
              <a:t>apɔ́t</a:t>
            </a:r>
            <a:r>
              <a:rPr lang="de-CH" sz="2300" dirty="0">
                <a:latin typeface="Calibri" panose="020F0502020204030204" pitchFamily="34" charset="0"/>
                <a:ea typeface="Times New Roman" panose="02020603050405020304" pitchFamily="18" charset="0"/>
                <a:cs typeface="Calibri" panose="020F0502020204030204" pitchFamily="34" charset="0"/>
              </a:rPr>
              <a:t>| : '</a:t>
            </a:r>
            <a:r>
              <a:rPr lang="de-CH" sz="2300" dirty="0" err="1">
                <a:latin typeface="Calibri" panose="020F0502020204030204" pitchFamily="34" charset="0"/>
                <a:ea typeface="Times New Roman" panose="02020603050405020304" pitchFamily="18" charset="0"/>
                <a:cs typeface="Calibri" panose="020F0502020204030204" pitchFamily="34" charset="0"/>
              </a:rPr>
              <a:t>cup</a:t>
            </a:r>
            <a:r>
              <a:rPr lang="de-CH" sz="2300" dirty="0">
                <a:latin typeface="Calibri" panose="020F0502020204030204" pitchFamily="34" charset="0"/>
                <a:ea typeface="Times New Roman" panose="02020603050405020304" pitchFamily="18" charset="0"/>
                <a:cs typeface="Calibri" panose="020F0502020204030204" pitchFamily="34" charset="0"/>
              </a:rPr>
              <a:t>'</a:t>
            </a:r>
          </a:p>
          <a:p>
            <a:pPr>
              <a:lnSpc>
                <a:spcPts val="3000"/>
              </a:lnSpc>
            </a:pPr>
            <a:endParaRPr lang="de-CH" sz="2300" dirty="0">
              <a:latin typeface="Calibri" panose="020F0502020204030204" pitchFamily="34" charset="0"/>
              <a:ea typeface="Times New Roman" panose="02020603050405020304" pitchFamily="18"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Plural 1: </a:t>
            </a:r>
            <a:r>
              <a:rPr lang="en-GB" sz="2300" dirty="0">
                <a:latin typeface="Calibri" panose="020F0502020204030204" pitchFamily="34" charset="0"/>
                <a:cs typeface="Calibri" panose="020F0502020204030204" pitchFamily="34" charset="0"/>
              </a:rPr>
              <a:t>[S] ⲁⲡⲱⲧ |</a:t>
            </a:r>
            <a:r>
              <a:rPr lang="en-GB" sz="2300" dirty="0" err="1">
                <a:latin typeface="Calibri" panose="020F0502020204030204" pitchFamily="34" charset="0"/>
                <a:cs typeface="Calibri" panose="020F0502020204030204" pitchFamily="34" charset="0"/>
              </a:rPr>
              <a:t>apót</a:t>
            </a:r>
            <a:r>
              <a:rPr lang="en-GB" sz="2300" dirty="0">
                <a:latin typeface="Calibri" panose="020F0502020204030204" pitchFamily="34" charset="0"/>
                <a:cs typeface="Calibri" panose="020F0502020204030204" pitchFamily="34" charset="0"/>
              </a:rPr>
              <a:t>(ᵊ)|</a:t>
            </a: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Plural 2: </a:t>
            </a:r>
            <a:r>
              <a:rPr lang="en-GB" sz="2300" dirty="0">
                <a:latin typeface="Calibri" panose="020F0502020204030204" pitchFamily="34" charset="0"/>
                <a:cs typeface="Calibri" panose="020F0502020204030204" pitchFamily="34" charset="0"/>
              </a:rPr>
              <a:t>[S] ⲁⲡⲏⲧ |</a:t>
            </a:r>
            <a:r>
              <a:rPr lang="en-GB" sz="2300" dirty="0" err="1">
                <a:latin typeface="Calibri" panose="020F0502020204030204" pitchFamily="34" charset="0"/>
                <a:cs typeface="Calibri" panose="020F0502020204030204" pitchFamily="34" charset="0"/>
              </a:rPr>
              <a:t>apét</a:t>
            </a:r>
            <a:r>
              <a:rPr lang="en-GB" sz="2300" dirty="0">
                <a:latin typeface="Calibri" panose="020F0502020204030204" pitchFamily="34" charset="0"/>
                <a:cs typeface="Calibri" panose="020F0502020204030204" pitchFamily="34" charset="0"/>
              </a:rPr>
              <a:t>(ᵊ)|</a:t>
            </a:r>
            <a:endParaRPr lang="en-GB" sz="2300" noProof="1">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0316590"/>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29F8D-2092-02C3-8FE0-00355BD6EA23}"/>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0B70610E-DD8B-FEC1-6A6F-722B26B0B17E}"/>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C961340A-F61C-1CB6-7DD8-0D2ACF930DBF}"/>
              </a:ext>
            </a:extLst>
          </p:cNvPr>
          <p:cNvSpPr>
            <a:spLocks noGrp="1"/>
          </p:cNvSpPr>
          <p:nvPr>
            <p:ph type="sldNum" sz="quarter" idx="12"/>
          </p:nvPr>
        </p:nvSpPr>
        <p:spPr/>
        <p:txBody>
          <a:bodyPr/>
          <a:lstStyle/>
          <a:p>
            <a:fld id="{B3811826-9277-4232-A2B5-17D05DFC7392}" type="slidenum">
              <a:rPr lang="de-CH" smtClean="0"/>
              <a:pPr/>
              <a:t>17</a:t>
            </a:fld>
            <a:endParaRPr lang="de-CH" dirty="0"/>
          </a:p>
        </p:txBody>
      </p:sp>
      <p:cxnSp>
        <p:nvCxnSpPr>
          <p:cNvPr id="9" name="Gerade Verbindung 7">
            <a:extLst>
              <a:ext uri="{FF2B5EF4-FFF2-40B4-BE49-F238E27FC236}">
                <a16:creationId xmlns:a16="http://schemas.microsoft.com/office/drawing/2014/main" id="{693CCFA6-D27C-27FF-D0A5-7D0B6B16DA4D}"/>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1E8A3231-CC12-6E25-1862-CDC79AD561B0}"/>
              </a:ext>
            </a:extLst>
          </p:cNvPr>
          <p:cNvSpPr>
            <a:spLocks noGrp="1"/>
          </p:cNvSpPr>
          <p:nvPr>
            <p:ph type="title"/>
          </p:nvPr>
        </p:nvSpPr>
        <p:spPr>
          <a:xfrm>
            <a:off x="334800" y="404813"/>
            <a:ext cx="11521840" cy="755936"/>
          </a:xfrm>
        </p:spPr>
        <p:txBody>
          <a:bodyPr/>
          <a:lstStyle/>
          <a:p>
            <a:r>
              <a:rPr lang="en-GB" noProof="1"/>
              <a:t>Morphological minimal pairs : in pseudoparticiples</a:t>
            </a:r>
            <a:endParaRPr lang="de-CH" dirty="0"/>
          </a:p>
        </p:txBody>
      </p:sp>
      <p:sp>
        <p:nvSpPr>
          <p:cNvPr id="3" name="Datumsplatzhalter 3">
            <a:extLst>
              <a:ext uri="{FF2B5EF4-FFF2-40B4-BE49-F238E27FC236}">
                <a16:creationId xmlns:a16="http://schemas.microsoft.com/office/drawing/2014/main" id="{F9541A63-928A-028F-BD44-EEB541E2454B}"/>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5DB0ED37-7D3E-F168-D30E-5A98985B37F4}"/>
              </a:ext>
            </a:extLst>
          </p:cNvPr>
          <p:cNvSpPr txBox="1"/>
          <p:nvPr/>
        </p:nvSpPr>
        <p:spPr>
          <a:xfrm>
            <a:off x="1921684" y="352507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2DD56C00-C5FB-878D-D5EC-012C423C0B80}"/>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 name="Textfeld 1">
            <a:extLst>
              <a:ext uri="{FF2B5EF4-FFF2-40B4-BE49-F238E27FC236}">
                <a16:creationId xmlns:a16="http://schemas.microsoft.com/office/drawing/2014/main" id="{941EE645-B784-F91E-C01E-0E4150029203}"/>
              </a:ext>
            </a:extLst>
          </p:cNvPr>
          <p:cNvSpPr txBox="1"/>
          <p:nvPr/>
        </p:nvSpPr>
        <p:spPr>
          <a:xfrm>
            <a:off x="959775" y="1160749"/>
            <a:ext cx="9433048" cy="4678460"/>
          </a:xfrm>
          <a:prstGeom prst="rect">
            <a:avLst/>
          </a:prstGeom>
          <a:noFill/>
        </p:spPr>
        <p:txBody>
          <a:bodyPr wrap="square">
            <a:spAutoFit/>
          </a:bodyPr>
          <a:lstStyle/>
          <a:p>
            <a:pPr>
              <a:lnSpc>
                <a:spcPts val="3000"/>
              </a:lnSpc>
              <a:spcAft>
                <a:spcPts val="1000"/>
              </a:spcAft>
            </a:pPr>
            <a:r>
              <a:rPr lang="en-GB" sz="2300" noProof="1">
                <a:latin typeface="Calibri" panose="020F0502020204030204" pitchFamily="34" charset="0"/>
                <a:cs typeface="Calibri" panose="020F0502020204030204" pitchFamily="34" charset="0"/>
              </a:rPr>
              <a:t>From the verb 'to dwell'</a:t>
            </a:r>
          </a:p>
          <a:p>
            <a:pPr>
              <a:lnSpc>
                <a:spcPts val="3000"/>
              </a:lnSpc>
            </a:pPr>
            <a:r>
              <a:rPr lang="en-GB" sz="2300" noProof="1">
                <a:latin typeface="Calibri" panose="020F0502020204030204" pitchFamily="34" charset="0"/>
                <a:cs typeface="Calibri" panose="020F0502020204030204" pitchFamily="34" charset="0"/>
              </a:rPr>
              <a:t>	➤ Pseudoparticiple 1: </a:t>
            </a:r>
            <a:r>
              <a:rPr lang="en-GB" sz="2300" dirty="0">
                <a:latin typeface="Calibri" panose="020F0502020204030204" pitchFamily="34" charset="0"/>
                <a:cs typeface="Calibri" panose="020F0502020204030204" pitchFamily="34" charset="0"/>
              </a:rPr>
              <a:t>[S] </a:t>
            </a:r>
            <a:r>
              <a:rPr lang="en-GB" sz="2300" dirty="0" err="1">
                <a:latin typeface="Calibri" panose="020F0502020204030204" pitchFamily="34" charset="0"/>
                <a:cs typeface="Calibri" panose="020F0502020204030204" pitchFamily="34" charset="0"/>
              </a:rPr>
              <a:t>ϭ</a:t>
            </a:r>
            <a:r>
              <a:rPr lang="en-GB" sz="2300" dirty="0">
                <a:latin typeface="Calibri" panose="020F0502020204030204" pitchFamily="34" charset="0"/>
                <a:cs typeface="Calibri" panose="020F0502020204030204" pitchFamily="34" charset="0"/>
              </a:rPr>
              <a:t>ⲁⲗⲏⲩ+ |</a:t>
            </a:r>
            <a:r>
              <a:rPr lang="en-GB" sz="2300" dirty="0" err="1">
                <a:latin typeface="Calibri" panose="020F0502020204030204" pitchFamily="34" charset="0"/>
                <a:cs typeface="Calibri" panose="020F0502020204030204" pitchFamily="34" charset="0"/>
              </a:rPr>
              <a:t>kʲaléw</a:t>
            </a:r>
            <a:r>
              <a:rPr lang="en-GB" sz="2300" dirty="0">
                <a:latin typeface="Calibri" panose="020F0502020204030204" pitchFamily="34" charset="0"/>
                <a:cs typeface="Calibri" panose="020F0502020204030204" pitchFamily="34" charset="0"/>
              </a:rPr>
              <a:t>(ᵊ)|</a:t>
            </a: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Pseudoparticiple 2: [S] ϭⲁⲗⲱⲟⲩ+ |kʲalów(ᵊ)|</a:t>
            </a: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spcAft>
                <a:spcPts val="1000"/>
              </a:spcAft>
            </a:pPr>
            <a:r>
              <a:rPr lang="en-GB" sz="2300" noProof="1">
                <a:latin typeface="Calibri" panose="020F0502020204030204" pitchFamily="34" charset="0"/>
                <a:cs typeface="Calibri" panose="020F0502020204030204" pitchFamily="34" charset="0"/>
              </a:rPr>
              <a:t>From </a:t>
            </a:r>
            <a:r>
              <a:rPr lang="de-CH" sz="2300" dirty="0" err="1">
                <a:latin typeface="Calibri" panose="020F0502020204030204" pitchFamily="34" charset="0"/>
                <a:ea typeface="Times New Roman" panose="02020603050405020304" pitchFamily="18" charset="0"/>
                <a:cs typeface="Calibri" panose="020F0502020204030204" pitchFamily="34" charset="0"/>
              </a:rPr>
              <a:t>the</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verb</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to</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be</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twisted</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to</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be</a:t>
            </a:r>
            <a:r>
              <a:rPr lang="de-CH" sz="2300" dirty="0">
                <a:latin typeface="Calibri" panose="020F0502020204030204" pitchFamily="34" charset="0"/>
                <a:ea typeface="Times New Roman" panose="02020603050405020304" pitchFamily="18" charset="0"/>
                <a:cs typeface="Calibri" panose="020F0502020204030204" pitchFamily="34" charset="0"/>
              </a:rPr>
              <a:t> </a:t>
            </a:r>
            <a:r>
              <a:rPr lang="de-CH" sz="2300" dirty="0" err="1">
                <a:latin typeface="Calibri" panose="020F0502020204030204" pitchFamily="34" charset="0"/>
                <a:ea typeface="Times New Roman" panose="02020603050405020304" pitchFamily="18" charset="0"/>
                <a:cs typeface="Calibri" panose="020F0502020204030204" pitchFamily="34" charset="0"/>
              </a:rPr>
              <a:t>implicated</a:t>
            </a:r>
            <a:r>
              <a:rPr lang="de-CH" sz="2300" dirty="0">
                <a:latin typeface="Calibri" panose="020F0502020204030204" pitchFamily="34" charset="0"/>
                <a:ea typeface="Times New Roman" panose="02020603050405020304" pitchFamily="18" charset="0"/>
                <a:cs typeface="Calibri" panose="020F0502020204030204" pitchFamily="34" charset="0"/>
              </a:rPr>
              <a:t>’</a:t>
            </a: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Pseudoparticiple 1: </a:t>
            </a:r>
            <a:r>
              <a:rPr lang="en-GB" sz="2300" dirty="0">
                <a:latin typeface="Calibri" panose="020F0502020204030204" pitchFamily="34" charset="0"/>
                <a:cs typeface="Calibri" panose="020F0502020204030204" pitchFamily="34" charset="0"/>
              </a:rPr>
              <a:t>[S] ⲗⲙⲗⲏⲙ+ |</a:t>
            </a:r>
            <a:r>
              <a:rPr lang="en-GB" sz="2300" dirty="0" err="1">
                <a:latin typeface="Calibri" panose="020F0502020204030204" pitchFamily="34" charset="0"/>
                <a:cs typeface="Calibri" panose="020F0502020204030204" pitchFamily="34" charset="0"/>
              </a:rPr>
              <a:t>lᵊmlém</a:t>
            </a:r>
            <a:r>
              <a:rPr lang="en-GB" sz="2300" dirty="0">
                <a:latin typeface="Calibri" panose="020F0502020204030204" pitchFamily="34" charset="0"/>
                <a:cs typeface="Calibri" panose="020F0502020204030204" pitchFamily="34" charset="0"/>
              </a:rPr>
              <a:t>(ᵊ)|</a:t>
            </a: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Pseudoparticiple 2: [S] (ϭ)ⲗⲙⲗⲱⲙ+ |(kʲᵊ)lᵊmlóm(ᵊ)|</a:t>
            </a:r>
          </a:p>
          <a:p>
            <a:pPr>
              <a:lnSpc>
                <a:spcPts val="3000"/>
              </a:lnSpc>
            </a:pPr>
            <a:endParaRPr lang="en-GB" sz="2300" noProof="1">
              <a:latin typeface="Calibri" panose="020F0502020204030204" pitchFamily="34" charset="0"/>
              <a:cs typeface="Calibri" panose="020F0502020204030204" pitchFamily="34" charset="0"/>
            </a:endParaRPr>
          </a:p>
          <a:p>
            <a:pPr>
              <a:lnSpc>
                <a:spcPts val="3000"/>
              </a:lnSpc>
              <a:spcAft>
                <a:spcPts val="1000"/>
              </a:spcAft>
            </a:pPr>
            <a:r>
              <a:rPr lang="en-GB" sz="2300" noProof="1">
                <a:latin typeface="Calibri" panose="020F0502020204030204" pitchFamily="34" charset="0"/>
                <a:cs typeface="Calibri" panose="020F0502020204030204" pitchFamily="34" charset="0"/>
              </a:rPr>
              <a:t>From the verb ‘to dig’</a:t>
            </a:r>
          </a:p>
          <a:p>
            <a:pPr>
              <a:lnSpc>
                <a:spcPts val="3000"/>
              </a:lnSpc>
            </a:pPr>
            <a:r>
              <a:rPr lang="en-GB" sz="2300" noProof="1">
                <a:latin typeface="Calibri" panose="020F0502020204030204" pitchFamily="34" charset="0"/>
                <a:cs typeface="Calibri" panose="020F0502020204030204" pitchFamily="34" charset="0"/>
              </a:rPr>
              <a:t>	➤ Pseudoparticiple 1: [S] ϣⲏⲕ+ |šék|</a:t>
            </a:r>
          </a:p>
          <a:p>
            <a:pPr>
              <a:lnSpc>
                <a:spcPts val="3000"/>
              </a:lnSpc>
            </a:pPr>
            <a:r>
              <a:rPr lang="en-GB" sz="2300" noProof="1">
                <a:latin typeface="Calibri" panose="020F0502020204030204" pitchFamily="34" charset="0"/>
                <a:cs typeface="Calibri" panose="020F0502020204030204" pitchFamily="34" charset="0"/>
              </a:rPr>
              <a:t>	➤ Pseudoparticiple 2: [S] ϣⲟⲕⲉ+ |šɔ́rə|</a:t>
            </a:r>
          </a:p>
        </p:txBody>
      </p:sp>
    </p:spTree>
    <p:extLst>
      <p:ext uri="{BB962C8B-B14F-4D97-AF65-F5344CB8AC3E}">
        <p14:creationId xmlns:p14="http://schemas.microsoft.com/office/powerpoint/2010/main" val="2845172058"/>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7189-E177-52CE-698D-9B974BA5119F}"/>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AB2396B8-1DC0-1365-86A4-8FE3AF731F96}"/>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6A0F11BF-8CD5-B307-8125-37F6BEEB67A9}"/>
              </a:ext>
            </a:extLst>
          </p:cNvPr>
          <p:cNvSpPr>
            <a:spLocks noGrp="1"/>
          </p:cNvSpPr>
          <p:nvPr>
            <p:ph type="sldNum" sz="quarter" idx="12"/>
          </p:nvPr>
        </p:nvSpPr>
        <p:spPr/>
        <p:txBody>
          <a:bodyPr/>
          <a:lstStyle/>
          <a:p>
            <a:fld id="{B3811826-9277-4232-A2B5-17D05DFC7392}" type="slidenum">
              <a:rPr lang="de-CH" smtClean="0"/>
              <a:pPr/>
              <a:t>18</a:t>
            </a:fld>
            <a:endParaRPr lang="de-CH" dirty="0"/>
          </a:p>
        </p:txBody>
      </p:sp>
      <p:cxnSp>
        <p:nvCxnSpPr>
          <p:cNvPr id="9" name="Gerade Verbindung 7">
            <a:extLst>
              <a:ext uri="{FF2B5EF4-FFF2-40B4-BE49-F238E27FC236}">
                <a16:creationId xmlns:a16="http://schemas.microsoft.com/office/drawing/2014/main" id="{DEA464EB-FA47-AF44-0792-14924C7F20F2}"/>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17201088-3FC8-FFD3-1EA5-49C0F757DC25}"/>
              </a:ext>
            </a:extLst>
          </p:cNvPr>
          <p:cNvSpPr>
            <a:spLocks noGrp="1"/>
          </p:cNvSpPr>
          <p:nvPr>
            <p:ph type="title"/>
          </p:nvPr>
        </p:nvSpPr>
        <p:spPr>
          <a:xfrm>
            <a:off x="334800" y="404813"/>
            <a:ext cx="11521840" cy="755936"/>
          </a:xfrm>
        </p:spPr>
        <p:txBody>
          <a:bodyPr/>
          <a:lstStyle/>
          <a:p>
            <a:r>
              <a:rPr lang="en-GB" noProof="1"/>
              <a:t>Morphological minimal pairs : </a:t>
            </a:r>
            <a:r>
              <a:rPr lang="en-GB" dirty="0">
                <a:latin typeface="Calibri" panose="020F0502020204030204" pitchFamily="34" charset="0"/>
                <a:cs typeface="Calibri" panose="020F0502020204030204" pitchFamily="34" charset="0"/>
              </a:rPr>
              <a:t>ⲏ</a:t>
            </a:r>
            <a:r>
              <a:rPr lang="en-GB" noProof="1"/>
              <a:t> vs </a:t>
            </a:r>
            <a:r>
              <a:rPr lang="en-GB" noProof="1">
                <a:latin typeface="Calibri" panose="020F0502020204030204" pitchFamily="34" charset="0"/>
                <a:cs typeface="Calibri" panose="020F0502020204030204" pitchFamily="34" charset="0"/>
              </a:rPr>
              <a:t>ⲓ </a:t>
            </a:r>
            <a:r>
              <a:rPr lang="en-GB" noProof="1"/>
              <a:t>?</a:t>
            </a:r>
            <a:endParaRPr lang="de-CH" dirty="0"/>
          </a:p>
        </p:txBody>
      </p:sp>
      <p:sp>
        <p:nvSpPr>
          <p:cNvPr id="3" name="Datumsplatzhalter 3">
            <a:extLst>
              <a:ext uri="{FF2B5EF4-FFF2-40B4-BE49-F238E27FC236}">
                <a16:creationId xmlns:a16="http://schemas.microsoft.com/office/drawing/2014/main" id="{F5E63CCC-BACB-2C3B-56FA-FDDFB293BADF}"/>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F617F162-ABEC-3961-6A55-8BC00B550B4A}"/>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4BD09E4A-889B-4E33-17F7-D3F4FDA72378}"/>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3F0F0C79-6830-5011-95B3-B00946A860E0}"/>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8" name="Titel 6">
            <a:extLst>
              <a:ext uri="{FF2B5EF4-FFF2-40B4-BE49-F238E27FC236}">
                <a16:creationId xmlns:a16="http://schemas.microsoft.com/office/drawing/2014/main" id="{3D8D7C5A-A66B-2950-31DE-A19DC2082F4A}"/>
              </a:ext>
            </a:extLst>
          </p:cNvPr>
          <p:cNvSpPr txBox="1">
            <a:spLocks/>
          </p:cNvSpPr>
          <p:nvPr/>
        </p:nvSpPr>
        <p:spPr>
          <a:xfrm>
            <a:off x="703796" y="1367333"/>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Oppsition between </a:t>
            </a:r>
            <a:r>
              <a:rPr lang="en-GB" dirty="0">
                <a:latin typeface="Calibri" panose="020F0502020204030204" pitchFamily="34" charset="0"/>
                <a:cs typeface="Calibri" panose="020F0502020204030204" pitchFamily="34" charset="0"/>
              </a:rPr>
              <a:t>ⲏ and ⲓ in the same form? </a:t>
            </a:r>
            <a:r>
              <a:rPr lang="en-GB" noProof="1">
                <a:latin typeface="Calibri" panose="020F0502020204030204" pitchFamily="34" charset="0"/>
                <a:cs typeface="Calibri" panose="020F0502020204030204" pitchFamily="34" charset="0"/>
              </a:rPr>
              <a:t> </a:t>
            </a:r>
          </a:p>
        </p:txBody>
      </p:sp>
      <p:sp>
        <p:nvSpPr>
          <p:cNvPr id="15" name="Textfeld 14">
            <a:extLst>
              <a:ext uri="{FF2B5EF4-FFF2-40B4-BE49-F238E27FC236}">
                <a16:creationId xmlns:a16="http://schemas.microsoft.com/office/drawing/2014/main" id="{4EC9DA34-F344-99C3-DEFB-28CAC00E3A7E}"/>
              </a:ext>
            </a:extLst>
          </p:cNvPr>
          <p:cNvSpPr txBox="1"/>
          <p:nvPr/>
        </p:nvSpPr>
        <p:spPr>
          <a:xfrm>
            <a:off x="959775" y="2330569"/>
            <a:ext cx="9433048" cy="4434163"/>
          </a:xfrm>
          <a:prstGeom prst="rect">
            <a:avLst/>
          </a:prstGeom>
          <a:noFill/>
        </p:spPr>
        <p:txBody>
          <a:bodyPr wrap="square">
            <a:spAutoFit/>
          </a:bodyPr>
          <a:lstStyle/>
          <a:p>
            <a:pPr>
              <a:lnSpc>
                <a:spcPts val="3000"/>
              </a:lnSpc>
              <a:spcAft>
                <a:spcPts val="1000"/>
              </a:spcAft>
            </a:pPr>
            <a:r>
              <a:rPr lang="en-GB" sz="2300" noProof="1">
                <a:latin typeface="Calibri" panose="020F0502020204030204" pitchFamily="34" charset="0"/>
                <a:cs typeface="Calibri" panose="020F0502020204030204" pitchFamily="34" charset="0"/>
              </a:rPr>
              <a:t>NO:</a:t>
            </a:r>
          </a:p>
          <a:p>
            <a:pPr>
              <a:lnSpc>
                <a:spcPts val="3000"/>
              </a:lnSpc>
              <a:spcAft>
                <a:spcPts val="1000"/>
              </a:spcAft>
            </a:pPr>
            <a:r>
              <a:rPr lang="en-GB" sz="2300" noProof="1">
                <a:latin typeface="Calibri" panose="020F0502020204030204" pitchFamily="34" charset="0"/>
                <a:cs typeface="Calibri" panose="020F0502020204030204" pitchFamily="34" charset="0"/>
              </a:rPr>
              <a:t>➤ Either only </a:t>
            </a:r>
            <a:r>
              <a:rPr lang="en-GB" sz="2300" dirty="0">
                <a:latin typeface="Calibri" panose="020F0502020204030204" pitchFamily="34" charset="0"/>
                <a:cs typeface="Calibri" panose="020F0502020204030204" pitchFamily="34" charset="0"/>
              </a:rPr>
              <a:t>ⲏ</a:t>
            </a:r>
            <a:r>
              <a:rPr lang="en-GB" sz="2300" noProof="1">
                <a:latin typeface="Calibri" panose="020F0502020204030204" pitchFamily="34" charset="0"/>
                <a:cs typeface="Calibri" panose="020F0502020204030204" pitchFamily="34" charset="0"/>
              </a:rPr>
              <a:t> like in the Pseudoparticiples or only ⲓ , e.g.:</a:t>
            </a:r>
          </a:p>
          <a:p>
            <a:pPr>
              <a:lnSpc>
                <a:spcPts val="3000"/>
              </a:lnSpc>
              <a:spcAft>
                <a:spcPts val="1000"/>
              </a:spcAft>
            </a:pPr>
            <a:r>
              <a:rPr lang="en-GB" sz="2300" noProof="1">
                <a:latin typeface="Calibri" panose="020F0502020204030204" pitchFamily="34" charset="0"/>
                <a:cs typeface="Calibri" panose="020F0502020204030204" pitchFamily="34" charset="0"/>
              </a:rPr>
              <a:t>	C</a:t>
            </a:r>
            <a:r>
              <a:rPr lang="en-GB" sz="2400" dirty="0"/>
              <a:t>ⲓ</a:t>
            </a:r>
            <a:r>
              <a:rPr lang="en-GB" sz="2400" noProof="1">
                <a:latin typeface="Calibri" panose="020F0502020204030204" pitchFamily="34" charset="0"/>
                <a:cs typeface="Calibri" panose="020F0502020204030204" pitchFamily="34" charset="0"/>
              </a:rPr>
              <a:t>C</a:t>
            </a:r>
            <a:r>
              <a:rPr lang="en-GB" sz="2400" dirty="0"/>
              <a:t>ⲉ</a:t>
            </a:r>
            <a:r>
              <a:rPr lang="en-GB" sz="2300" noProof="1">
                <a:latin typeface="Calibri" panose="020F0502020204030204" pitchFamily="34" charset="0"/>
                <a:cs typeface="Calibri" panose="020F0502020204030204" pitchFamily="34" charset="0"/>
              </a:rPr>
              <a:t> action nouns: [S] ⲡⲓⲥⲉ |písə| : ‘to boil, cook’, ‘to be cooked’</a:t>
            </a:r>
          </a:p>
          <a:p>
            <a:pPr>
              <a:lnSpc>
                <a:spcPts val="3000"/>
              </a:lnSpc>
              <a:spcAft>
                <a:spcPts val="1000"/>
              </a:spcAft>
            </a:pPr>
            <a:r>
              <a:rPr lang="en-GB" sz="2300" noProof="1">
                <a:latin typeface="Calibri" panose="020F0502020204030204" pitchFamily="34" charset="0"/>
                <a:cs typeface="Calibri" panose="020F0502020204030204" pitchFamily="34" charset="0"/>
              </a:rPr>
              <a:t>	-C</a:t>
            </a:r>
            <a:r>
              <a:rPr lang="en-GB" sz="2400" dirty="0"/>
              <a:t>ⲓ</a:t>
            </a:r>
            <a:r>
              <a:rPr lang="en-GB" sz="2400" noProof="1">
                <a:latin typeface="Calibri" panose="020F0502020204030204" pitchFamily="34" charset="0"/>
                <a:cs typeface="Calibri" panose="020F0502020204030204" pitchFamily="34" charset="0"/>
              </a:rPr>
              <a:t>ⲧ=</a:t>
            </a:r>
            <a:r>
              <a:rPr lang="en-GB" sz="2300" noProof="1">
                <a:latin typeface="Calibri" panose="020F0502020204030204" pitchFamily="34" charset="0"/>
                <a:cs typeface="Calibri" panose="020F0502020204030204" pitchFamily="34" charset="0"/>
              </a:rPr>
              <a:t> imperatives: [B] ⲁⲣⲓⲧ= |arít=| : ‘act!’, ‘make!’, ‘do!’</a:t>
            </a:r>
          </a:p>
          <a:p>
            <a:pPr>
              <a:lnSpc>
                <a:spcPts val="3000"/>
              </a:lnSpc>
              <a:spcAft>
                <a:spcPts val="1000"/>
              </a:spcAft>
            </a:pPr>
            <a:r>
              <a:rPr lang="en-GB" sz="2300" noProof="1">
                <a:latin typeface="Calibri" panose="020F0502020204030204" pitchFamily="34" charset="0"/>
                <a:cs typeface="Calibri" panose="020F0502020204030204" pitchFamily="34" charset="0"/>
              </a:rPr>
              <a:t>	Nisba like [S] ⲙϩⲓⲧ |mᵊhít(ᵊ)| : 'north' &lt; [L] ⲙϩⲏ |mᵊhé| : 'north wind'</a:t>
            </a:r>
          </a:p>
          <a:p>
            <a:pPr>
              <a:lnSpc>
                <a:spcPts val="3000"/>
              </a:lnSpc>
              <a:spcAft>
                <a:spcPts val="1000"/>
              </a:spcAft>
            </a:pPr>
            <a:endParaRPr lang="en-GB" sz="2300" noProof="1">
              <a:latin typeface="Calibri" panose="020F0502020204030204" pitchFamily="34" charset="0"/>
              <a:cs typeface="Calibri" panose="020F0502020204030204" pitchFamily="34" charset="0"/>
            </a:endParaRPr>
          </a:p>
          <a:p>
            <a:pPr>
              <a:lnSpc>
                <a:spcPts val="3000"/>
              </a:lnSpc>
              <a:spcAft>
                <a:spcPts val="1000"/>
              </a:spcAft>
            </a:pPr>
            <a:r>
              <a:rPr lang="en-GB" sz="2300" b="1" noProof="1">
                <a:latin typeface="Calibri" panose="020F0502020204030204" pitchFamily="34" charset="0"/>
                <a:cs typeface="Calibri" panose="020F0502020204030204" pitchFamily="34" charset="0"/>
              </a:rPr>
              <a:t>NOTE: </a:t>
            </a:r>
            <a:r>
              <a:rPr lang="en-GB" sz="2300" noProof="1">
                <a:latin typeface="Calibri" panose="020F0502020204030204" pitchFamily="34" charset="0"/>
                <a:cs typeface="Calibri" panose="020F0502020204030204" pitchFamily="34" charset="0"/>
              </a:rPr>
              <a:t>ⲙϩⲏ &gt; ⲙϩⲓⲧ - the same vowel appears as ⲏ in the source noun, but as ⲓ in the nisba!</a:t>
            </a:r>
            <a:endParaRPr lang="en-GB" sz="2300" b="1" noProof="1">
              <a:latin typeface="Calibri" panose="020F0502020204030204" pitchFamily="34" charset="0"/>
              <a:cs typeface="Calibri" panose="020F0502020204030204" pitchFamily="34" charset="0"/>
            </a:endParaRPr>
          </a:p>
          <a:p>
            <a:pPr>
              <a:lnSpc>
                <a:spcPts val="3000"/>
              </a:lnSpc>
              <a:spcAft>
                <a:spcPts val="1000"/>
              </a:spcAft>
            </a:pPr>
            <a:endParaRPr lang="en-GB"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1056006"/>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9085-111D-CD99-462F-C67B454E99CA}"/>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847A9BE4-5EC8-3A6F-849B-CD6FFBD061F5}"/>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88F220BE-8DD5-6524-165A-5758E37A357C}"/>
              </a:ext>
            </a:extLst>
          </p:cNvPr>
          <p:cNvSpPr>
            <a:spLocks noGrp="1"/>
          </p:cNvSpPr>
          <p:nvPr>
            <p:ph type="sldNum" sz="quarter" idx="12"/>
          </p:nvPr>
        </p:nvSpPr>
        <p:spPr/>
        <p:txBody>
          <a:bodyPr/>
          <a:lstStyle/>
          <a:p>
            <a:fld id="{B3811826-9277-4232-A2B5-17D05DFC7392}" type="slidenum">
              <a:rPr lang="de-CH" smtClean="0"/>
              <a:pPr/>
              <a:t>19</a:t>
            </a:fld>
            <a:endParaRPr lang="de-CH" dirty="0"/>
          </a:p>
        </p:txBody>
      </p:sp>
      <p:cxnSp>
        <p:nvCxnSpPr>
          <p:cNvPr id="9" name="Gerade Verbindung 7">
            <a:extLst>
              <a:ext uri="{FF2B5EF4-FFF2-40B4-BE49-F238E27FC236}">
                <a16:creationId xmlns:a16="http://schemas.microsoft.com/office/drawing/2014/main" id="{5F29B8D7-A796-317F-0D6D-D52CB73A6FAF}"/>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9EB55CC9-16B0-F772-A383-85DC5CF83EAE}"/>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18809AF8-8FE4-AE08-7C28-1918761AFFCF}"/>
              </a:ext>
            </a:extLst>
          </p:cNvPr>
          <p:cNvSpPr txBox="1"/>
          <p:nvPr/>
        </p:nvSpPr>
        <p:spPr>
          <a:xfrm>
            <a:off x="1921684" y="352507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D20EF410-76E5-1C0F-F341-F78D18340178}"/>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 name="Textfeld 1">
            <a:extLst>
              <a:ext uri="{FF2B5EF4-FFF2-40B4-BE49-F238E27FC236}">
                <a16:creationId xmlns:a16="http://schemas.microsoft.com/office/drawing/2014/main" id="{995FEBCF-B09F-C526-2495-09B76B390577}"/>
              </a:ext>
            </a:extLst>
          </p:cNvPr>
          <p:cNvSpPr txBox="1"/>
          <p:nvPr/>
        </p:nvSpPr>
        <p:spPr>
          <a:xfrm>
            <a:off x="835609" y="1276039"/>
            <a:ext cx="10829356" cy="4305922"/>
          </a:xfrm>
          <a:prstGeom prst="rect">
            <a:avLst/>
          </a:prstGeom>
          <a:noFill/>
        </p:spPr>
        <p:txBody>
          <a:bodyPr wrap="square">
            <a:spAutoFit/>
          </a:bodyPr>
          <a:lstStyle/>
          <a:p>
            <a:pPr>
              <a:lnSpc>
                <a:spcPts val="3000"/>
              </a:lnSpc>
            </a:pPr>
            <a:r>
              <a:rPr lang="en-GB" sz="2300" noProof="1">
                <a:latin typeface="Calibri" panose="020F0502020204030204" pitchFamily="34" charset="0"/>
                <a:cs typeface="Calibri" panose="020F0502020204030204" pitchFamily="34" charset="0"/>
              </a:rPr>
              <a:t>Verbs with three strong consonants:</a:t>
            </a:r>
          </a:p>
          <a:p>
            <a:pPr>
              <a:lnSpc>
                <a:spcPts val="3000"/>
              </a:lnSpc>
            </a:pP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a:t>
            </a:r>
            <a:r>
              <a:rPr lang="en-GB" sz="2300" dirty="0">
                <a:latin typeface="Calibri" panose="020F0502020204030204" pitchFamily="34" charset="0"/>
                <a:cs typeface="Calibri" panose="020F0502020204030204" pitchFamily="34" charset="0"/>
              </a:rPr>
              <a:t>[S] </a:t>
            </a:r>
            <a:r>
              <a:rPr lang="en-GB" sz="2300" dirty="0" err="1">
                <a:latin typeface="Calibri" panose="020F0502020204030204" pitchFamily="34" charset="0"/>
                <a:cs typeface="Calibri" panose="020F0502020204030204" pitchFamily="34" charset="0"/>
              </a:rPr>
              <a:t>ϣⲙϣ</a:t>
            </a:r>
            <a:r>
              <a:rPr lang="en-GB" sz="2300" dirty="0">
                <a:latin typeface="Calibri" panose="020F0502020204030204" pitchFamily="34" charset="0"/>
                <a:cs typeface="Calibri" panose="020F0502020204030204" pitchFamily="34" charset="0"/>
              </a:rPr>
              <a:t>ⲏⲧ= |</a:t>
            </a:r>
            <a:r>
              <a:rPr lang="en-GB" sz="2300" dirty="0" err="1">
                <a:latin typeface="Calibri" panose="020F0502020204030204" pitchFamily="34" charset="0"/>
                <a:cs typeface="Calibri" panose="020F0502020204030204" pitchFamily="34" charset="0"/>
              </a:rPr>
              <a:t>šᵊmšét</a:t>
            </a:r>
            <a:r>
              <a:rPr lang="en-GB" sz="2300" dirty="0">
                <a:latin typeface="Calibri" panose="020F0502020204030204" pitchFamily="34" charset="0"/>
                <a:cs typeface="Calibri" panose="020F0502020204030204" pitchFamily="34" charset="0"/>
              </a:rPr>
              <a:t>=|		: 'to serve', 'to worship'</a:t>
            </a:r>
          </a:p>
          <a:p>
            <a:pPr>
              <a:lnSpc>
                <a:spcPts val="3000"/>
              </a:lnSpc>
            </a:pPr>
            <a:r>
              <a:rPr lang="en-GB" sz="2300" noProof="1">
                <a:latin typeface="Calibri" panose="020F0502020204030204" pitchFamily="34" charset="0"/>
                <a:cs typeface="Calibri" panose="020F0502020204030204" pitchFamily="34" charset="0"/>
              </a:rPr>
              <a:t>	➤ [B] ⲥⲁϩⲛⲏⲧ= |sahnét=|		:  'to provide', 'to supply'</a:t>
            </a: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Verbs with less than three strong consonants / at least one weak consonant:</a:t>
            </a:r>
          </a:p>
          <a:p>
            <a:pPr>
              <a:lnSpc>
                <a:spcPts val="3000"/>
              </a:lnSpc>
            </a:pPr>
            <a:endParaRPr lang="de-CH" sz="2300" dirty="0">
              <a:latin typeface="Calibri" panose="020F0502020204030204" pitchFamily="34" charset="0"/>
              <a:ea typeface="Times New Roman" panose="02020603050405020304" pitchFamily="18"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[S] ⲙⲉⲣⲓⲧ= |mᵊrít=|			: 'to love'</a:t>
            </a:r>
          </a:p>
          <a:p>
            <a:pPr>
              <a:lnSpc>
                <a:spcPts val="3000"/>
              </a:lnSpc>
            </a:pPr>
            <a:r>
              <a:rPr lang="en-GB" sz="2300" noProof="1">
                <a:latin typeface="Calibri" panose="020F0502020204030204" pitchFamily="34" charset="0"/>
                <a:cs typeface="Calibri" panose="020F0502020204030204" pitchFamily="34" charset="0"/>
              </a:rPr>
              <a:t>	➤ [S] ⲛⲓⲧ= |nít=|			: 'to bring', 'to bear'</a:t>
            </a:r>
          </a:p>
          <a:p>
            <a:pPr>
              <a:lnSpc>
                <a:spcPts val="3000"/>
              </a:lnSpc>
            </a:pPr>
            <a:endParaRPr lang="en-GB" sz="2300" dirty="0">
              <a:latin typeface="Calibri" panose="020F0502020204030204" pitchFamily="34" charset="0"/>
              <a:cs typeface="Calibri" panose="020F0502020204030204" pitchFamily="34" charset="0"/>
            </a:endParaRPr>
          </a:p>
        </p:txBody>
      </p:sp>
      <p:sp>
        <p:nvSpPr>
          <p:cNvPr id="13" name="Titel 6">
            <a:extLst>
              <a:ext uri="{FF2B5EF4-FFF2-40B4-BE49-F238E27FC236}">
                <a16:creationId xmlns:a16="http://schemas.microsoft.com/office/drawing/2014/main" id="{B1E2F018-B021-622C-BF0A-47C24EBD9548}"/>
              </a:ext>
            </a:extLst>
          </p:cNvPr>
          <p:cNvSpPr>
            <a:spLocks noGrp="1"/>
          </p:cNvSpPr>
          <p:nvPr>
            <p:ph type="title"/>
          </p:nvPr>
        </p:nvSpPr>
        <p:spPr>
          <a:xfrm>
            <a:off x="334800" y="404813"/>
            <a:ext cx="11521840" cy="755936"/>
          </a:xfrm>
        </p:spPr>
        <p:txBody>
          <a:bodyPr/>
          <a:lstStyle/>
          <a:p>
            <a:r>
              <a:rPr lang="en-GB" noProof="1"/>
              <a:t>Morphological minimal pairs : </a:t>
            </a:r>
            <a:r>
              <a:rPr lang="en-GB" dirty="0">
                <a:latin typeface="Calibri" panose="020F0502020204030204" pitchFamily="34" charset="0"/>
                <a:cs typeface="Calibri" panose="020F0502020204030204" pitchFamily="34" charset="0"/>
              </a:rPr>
              <a:t>ⲏ</a:t>
            </a:r>
            <a:r>
              <a:rPr lang="en-GB" noProof="1"/>
              <a:t> vs </a:t>
            </a:r>
            <a:r>
              <a:rPr lang="en-GB" noProof="1">
                <a:latin typeface="Calibri" panose="020F0502020204030204" pitchFamily="34" charset="0"/>
                <a:cs typeface="Calibri" panose="020F0502020204030204" pitchFamily="34" charset="0"/>
              </a:rPr>
              <a:t>ⲓ </a:t>
            </a:r>
            <a:r>
              <a:rPr lang="en-GB" noProof="1"/>
              <a:t>?</a:t>
            </a:r>
            <a:endParaRPr lang="de-CH" dirty="0"/>
          </a:p>
        </p:txBody>
      </p:sp>
    </p:spTree>
    <p:extLst>
      <p:ext uri="{BB962C8B-B14F-4D97-AF65-F5344CB8AC3E}">
        <p14:creationId xmlns:p14="http://schemas.microsoft.com/office/powerpoint/2010/main" val="1142979020"/>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FEF82-6726-ED72-5937-53465320FC9A}"/>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0FDE47C7-7DEE-2FF2-8A8B-5910F3EB830C}"/>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52547A96-FF75-5FBC-9E13-F41D1CD0E15C}"/>
              </a:ext>
            </a:extLst>
          </p:cNvPr>
          <p:cNvSpPr>
            <a:spLocks noGrp="1"/>
          </p:cNvSpPr>
          <p:nvPr>
            <p:ph type="sldNum" sz="quarter" idx="12"/>
          </p:nvPr>
        </p:nvSpPr>
        <p:spPr/>
        <p:txBody>
          <a:bodyPr/>
          <a:lstStyle/>
          <a:p>
            <a:fld id="{B3811826-9277-4232-A2B5-17D05DFC7392}" type="slidenum">
              <a:rPr lang="de-CH" smtClean="0"/>
              <a:pPr/>
              <a:t>20</a:t>
            </a:fld>
            <a:endParaRPr lang="de-CH" dirty="0"/>
          </a:p>
        </p:txBody>
      </p:sp>
      <p:cxnSp>
        <p:nvCxnSpPr>
          <p:cNvPr id="9" name="Gerade Verbindung 7">
            <a:extLst>
              <a:ext uri="{FF2B5EF4-FFF2-40B4-BE49-F238E27FC236}">
                <a16:creationId xmlns:a16="http://schemas.microsoft.com/office/drawing/2014/main" id="{3977A902-A5B5-045A-8C12-99C63733555E}"/>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3822C58A-36DF-F4E2-018C-B8A4576DFF01}"/>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772D0A81-7D3F-8DFE-23FB-CD8045B49B0F}"/>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CC66096D-2632-BE2D-7FFE-C6146B9C4BAC}"/>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F970CD83-EC97-539D-6AD5-12EC0C3F0F99}"/>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4" name="Titel 6">
            <a:extLst>
              <a:ext uri="{FF2B5EF4-FFF2-40B4-BE49-F238E27FC236}">
                <a16:creationId xmlns:a16="http://schemas.microsoft.com/office/drawing/2014/main" id="{BB30B183-C096-60F5-A889-8A4D2EA4DC08}"/>
              </a:ext>
            </a:extLst>
          </p:cNvPr>
          <p:cNvSpPr txBox="1">
            <a:spLocks/>
          </p:cNvSpPr>
          <p:nvPr/>
        </p:nvSpPr>
        <p:spPr>
          <a:xfrm>
            <a:off x="703796" y="1367333"/>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Deverbal Nouns with at least 3 strong consonants:</a:t>
            </a:r>
          </a:p>
        </p:txBody>
      </p:sp>
      <p:sp>
        <p:nvSpPr>
          <p:cNvPr id="7" name="Textfeld 6">
            <a:extLst>
              <a:ext uri="{FF2B5EF4-FFF2-40B4-BE49-F238E27FC236}">
                <a16:creationId xmlns:a16="http://schemas.microsoft.com/office/drawing/2014/main" id="{F30F8F32-B587-9B82-47B5-79110B43D774}"/>
              </a:ext>
            </a:extLst>
          </p:cNvPr>
          <p:cNvSpPr txBox="1"/>
          <p:nvPr/>
        </p:nvSpPr>
        <p:spPr>
          <a:xfrm>
            <a:off x="1487488" y="2241983"/>
            <a:ext cx="9433048" cy="1484637"/>
          </a:xfrm>
          <a:prstGeom prst="rect">
            <a:avLst/>
          </a:prstGeom>
          <a:noFill/>
        </p:spPr>
        <p:txBody>
          <a:bodyPr wrap="square">
            <a:spAutoFit/>
          </a:bodyPr>
          <a:lstStyle/>
          <a:p>
            <a:pPr>
              <a:lnSpc>
                <a:spcPts val="3000"/>
              </a:lnSpc>
              <a:spcAft>
                <a:spcPts val="1000"/>
              </a:spcAft>
            </a:pPr>
            <a:r>
              <a:rPr lang="en-GB" sz="2300" noProof="1">
                <a:latin typeface="Calibri" panose="020F0502020204030204" pitchFamily="34" charset="0"/>
                <a:cs typeface="Calibri" panose="020F0502020204030204" pitchFamily="34" charset="0"/>
              </a:rPr>
              <a:t>➤ In general, only oppositions </a:t>
            </a:r>
            <a:r>
              <a:rPr lang="en-GB" sz="2300" noProof="1">
                <a:latin typeface="Calibri" panose="020F0502020204030204" pitchFamily="34" charset="0"/>
                <a:ea typeface="Times New Roman" panose="02020603050405020304" pitchFamily="18" charset="0"/>
                <a:cs typeface="Calibri" panose="020F0502020204030204" pitchFamily="34" charset="0"/>
              </a:rPr>
              <a:t>*á vs </a:t>
            </a:r>
            <a:r>
              <a:rPr lang="en-GB" sz="2300" noProof="1">
                <a:latin typeface="Calibri" panose="020F0502020204030204" pitchFamily="34" charset="0"/>
                <a:cs typeface="Calibri" panose="020F0502020204030204" pitchFamily="34" charset="0"/>
              </a:rPr>
              <a:t>ⲏ</a:t>
            </a:r>
          </a:p>
          <a:p>
            <a:pPr>
              <a:lnSpc>
                <a:spcPts val="3000"/>
              </a:lnSpc>
              <a:spcAft>
                <a:spcPts val="1000"/>
              </a:spcAft>
            </a:pPr>
            <a:r>
              <a:rPr lang="en-GB" sz="2300" noProof="1">
                <a:latin typeface="Calibri" panose="020F0502020204030204" pitchFamily="34" charset="0"/>
                <a:cs typeface="Calibri" panose="020F0502020204030204" pitchFamily="34" charset="0"/>
              </a:rPr>
              <a:t>➤ When ⲓ, a weak consonant is involved</a:t>
            </a:r>
          </a:p>
          <a:p>
            <a:pPr>
              <a:lnSpc>
                <a:spcPts val="3000"/>
              </a:lnSpc>
              <a:spcAft>
                <a:spcPts val="1000"/>
              </a:spcAft>
            </a:pPr>
            <a:endParaRPr lang="en-GB" sz="2300" dirty="0">
              <a:latin typeface="Calibri" panose="020F0502020204030204" pitchFamily="34" charset="0"/>
              <a:cs typeface="Calibri" panose="020F0502020204030204" pitchFamily="34" charset="0"/>
            </a:endParaRPr>
          </a:p>
        </p:txBody>
      </p:sp>
      <p:sp>
        <p:nvSpPr>
          <p:cNvPr id="14" name="Titel 6">
            <a:extLst>
              <a:ext uri="{FF2B5EF4-FFF2-40B4-BE49-F238E27FC236}">
                <a16:creationId xmlns:a16="http://schemas.microsoft.com/office/drawing/2014/main" id="{0E0B38E1-5143-B528-46BD-800774BF5412}"/>
              </a:ext>
            </a:extLst>
          </p:cNvPr>
          <p:cNvSpPr>
            <a:spLocks noGrp="1"/>
          </p:cNvSpPr>
          <p:nvPr>
            <p:ph type="title"/>
          </p:nvPr>
        </p:nvSpPr>
        <p:spPr>
          <a:xfrm>
            <a:off x="334800" y="404813"/>
            <a:ext cx="11521840" cy="755936"/>
          </a:xfrm>
        </p:spPr>
        <p:txBody>
          <a:bodyPr/>
          <a:lstStyle/>
          <a:p>
            <a:r>
              <a:rPr lang="en-GB" noProof="1"/>
              <a:t>Morphological minimal pairs : (</a:t>
            </a:r>
            <a:r>
              <a:rPr lang="en-GB" dirty="0">
                <a:cs typeface="Calibri" panose="020F0502020204030204" pitchFamily="34" charset="0"/>
              </a:rPr>
              <a:t>de)verbal nouns</a:t>
            </a:r>
            <a:endParaRPr lang="de-CH" dirty="0"/>
          </a:p>
        </p:txBody>
      </p:sp>
    </p:spTree>
    <p:extLst>
      <p:ext uri="{BB962C8B-B14F-4D97-AF65-F5344CB8AC3E}">
        <p14:creationId xmlns:p14="http://schemas.microsoft.com/office/powerpoint/2010/main" val="374476604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58CDD-54B9-FB63-52E1-C5D31EF91D27}"/>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AD9075BD-80BF-4A42-E964-ADA0ACD6CBBF}"/>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394675EC-774A-55C2-1120-D13079CA308C}"/>
              </a:ext>
            </a:extLst>
          </p:cNvPr>
          <p:cNvSpPr>
            <a:spLocks noGrp="1"/>
          </p:cNvSpPr>
          <p:nvPr>
            <p:ph type="sldNum" sz="quarter" idx="12"/>
          </p:nvPr>
        </p:nvSpPr>
        <p:spPr/>
        <p:txBody>
          <a:bodyPr/>
          <a:lstStyle/>
          <a:p>
            <a:fld id="{B3811826-9277-4232-A2B5-17D05DFC7392}" type="slidenum">
              <a:rPr lang="de-CH" smtClean="0"/>
              <a:pPr/>
              <a:t>21</a:t>
            </a:fld>
            <a:endParaRPr lang="de-CH" dirty="0"/>
          </a:p>
        </p:txBody>
      </p:sp>
      <p:cxnSp>
        <p:nvCxnSpPr>
          <p:cNvPr id="9" name="Gerade Verbindung 7">
            <a:extLst>
              <a:ext uri="{FF2B5EF4-FFF2-40B4-BE49-F238E27FC236}">
                <a16:creationId xmlns:a16="http://schemas.microsoft.com/office/drawing/2014/main" id="{6BB4F65F-A739-0C40-7189-40A079C3068B}"/>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04AD0721-8AFB-92A3-0FFD-A57DE4696CEE}"/>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297962A4-CB07-1513-C32E-1EA69BEE8CE3}"/>
              </a:ext>
            </a:extLst>
          </p:cNvPr>
          <p:cNvSpPr txBox="1"/>
          <p:nvPr/>
        </p:nvSpPr>
        <p:spPr>
          <a:xfrm>
            <a:off x="1921684" y="352507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BE763D88-1E6C-1C50-0AF7-0B7035FA0D3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 name="Textfeld 1">
            <a:extLst>
              <a:ext uri="{FF2B5EF4-FFF2-40B4-BE49-F238E27FC236}">
                <a16:creationId xmlns:a16="http://schemas.microsoft.com/office/drawing/2014/main" id="{165F5AC7-D49A-9EEB-35C1-A04E32B17199}"/>
              </a:ext>
            </a:extLst>
          </p:cNvPr>
          <p:cNvSpPr txBox="1"/>
          <p:nvPr/>
        </p:nvSpPr>
        <p:spPr>
          <a:xfrm>
            <a:off x="551384" y="1398396"/>
            <a:ext cx="10829356" cy="4305922"/>
          </a:xfrm>
          <a:prstGeom prst="rect">
            <a:avLst/>
          </a:prstGeom>
          <a:noFill/>
        </p:spPr>
        <p:txBody>
          <a:bodyPr wrap="square">
            <a:spAutoFit/>
          </a:bodyPr>
          <a:lstStyle/>
          <a:p>
            <a:pPr>
              <a:lnSpc>
                <a:spcPts val="3000"/>
              </a:lnSpc>
            </a:pPr>
            <a:r>
              <a:rPr lang="en-GB" sz="2300" i="1" noProof="1">
                <a:latin typeface="Calibri" panose="020F0502020204030204" pitchFamily="34" charset="0"/>
                <a:cs typeface="Calibri" panose="020F0502020204030204" pitchFamily="34" charset="0"/>
              </a:rPr>
              <a:t>*CVCCV́</a:t>
            </a:r>
            <a:r>
              <a:rPr lang="de-CH" sz="2300" i="1" dirty="0" err="1">
                <a:latin typeface="Calibri" panose="020F0502020204030204" pitchFamily="34" charset="0"/>
                <a:ea typeface="Times New Roman" panose="02020603050405020304" pitchFamily="18" charset="0"/>
                <a:cs typeface="Calibri" panose="020F0502020204030204" pitchFamily="34" charset="0"/>
              </a:rPr>
              <a:t>ỷVt</a:t>
            </a:r>
            <a:r>
              <a:rPr lang="en-GB" sz="2300" noProof="1">
                <a:latin typeface="Calibri" panose="020F0502020204030204" pitchFamily="34" charset="0"/>
                <a:ea typeface="Times New Roman" panose="02020603050405020304" pitchFamily="18" charset="0"/>
                <a:cs typeface="Calibri" panose="020F0502020204030204" pitchFamily="34" charset="0"/>
              </a:rPr>
              <a:t> with *á :</a:t>
            </a:r>
            <a:endParaRPr lang="en-GB" sz="2300" noProof="1">
              <a:latin typeface="Calibri" panose="020F0502020204030204" pitchFamily="34" charset="0"/>
              <a:cs typeface="Calibri" panose="020F0502020204030204" pitchFamily="34" charset="0"/>
            </a:endParaRPr>
          </a:p>
          <a:p>
            <a:pPr>
              <a:lnSpc>
                <a:spcPts val="3000"/>
              </a:lnSpc>
            </a:pP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a:t>
            </a:r>
            <a:r>
              <a:rPr lang="en-GB" sz="2300" dirty="0">
                <a:latin typeface="Calibri" panose="020F0502020204030204" pitchFamily="34" charset="0"/>
                <a:cs typeface="Calibri" panose="020F0502020204030204" pitchFamily="34" charset="0"/>
              </a:rPr>
              <a:t>[S] ⲉⲧⲡⲱ |</a:t>
            </a:r>
            <a:r>
              <a:rPr lang="en-GB" sz="2300" dirty="0" err="1">
                <a:latin typeface="Calibri" panose="020F0502020204030204" pitchFamily="34" charset="0"/>
                <a:cs typeface="Calibri" panose="020F0502020204030204" pitchFamily="34" charset="0"/>
              </a:rPr>
              <a:t>ətpo</a:t>
            </a:r>
            <a:r>
              <a:rPr lang="en-GB" sz="2300" dirty="0">
                <a:latin typeface="Calibri" panose="020F0502020204030204" pitchFamily="34" charset="0"/>
                <a:cs typeface="Calibri" panose="020F0502020204030204" pitchFamily="34" charset="0"/>
              </a:rPr>
              <a:t>́| </a:t>
            </a:r>
            <a:r>
              <a:rPr lang="de-CH" sz="2300" dirty="0">
                <a:latin typeface="Calibri" panose="020F0502020204030204" pitchFamily="34" charset="0"/>
                <a:ea typeface="Times New Roman" panose="02020603050405020304" pitchFamily="18" charset="0"/>
                <a:cs typeface="Calibri" panose="020F0502020204030204" pitchFamily="34" charset="0"/>
              </a:rPr>
              <a:t>&lt; *ꜣ</a:t>
            </a:r>
            <a:r>
              <a:rPr lang="de-CH" sz="2300" dirty="0" err="1">
                <a:latin typeface="Calibri" panose="020F0502020204030204" pitchFamily="34" charset="0"/>
                <a:ea typeface="Times New Roman" panose="02020603050405020304" pitchFamily="18" charset="0"/>
                <a:cs typeface="Calibri" panose="020F0502020204030204" pitchFamily="34" charset="0"/>
              </a:rPr>
              <a:t>Vṯpáỷat</a:t>
            </a:r>
            <a:r>
              <a:rPr lang="en-GB" sz="2300" dirty="0">
                <a:latin typeface="Calibri" panose="020F0502020204030204" pitchFamily="34" charset="0"/>
                <a:cs typeface="Calibri" panose="020F0502020204030204" pitchFamily="34" charset="0"/>
              </a:rPr>
              <a:t>		: 'burden'</a:t>
            </a:r>
          </a:p>
          <a:p>
            <a:pPr>
              <a:lnSpc>
                <a:spcPts val="3000"/>
              </a:lnSpc>
            </a:pPr>
            <a:r>
              <a:rPr lang="en-GB" sz="2300" noProof="1">
                <a:latin typeface="Calibri" panose="020F0502020204030204" pitchFamily="34" charset="0"/>
                <a:cs typeface="Calibri" panose="020F0502020204030204" pitchFamily="34" charset="0"/>
              </a:rPr>
              <a:t>	➤ [S] ϩⲃⲥⲱ |həbsó| </a:t>
            </a:r>
            <a:r>
              <a:rPr lang="de-CH" sz="2300" dirty="0">
                <a:latin typeface="Calibri" panose="020F0502020204030204" pitchFamily="34" charset="0"/>
                <a:ea typeface="Times New Roman" panose="02020603050405020304" pitchFamily="18" charset="0"/>
                <a:cs typeface="Calibri" panose="020F0502020204030204" pitchFamily="34" charset="0"/>
              </a:rPr>
              <a:t>&lt; *</a:t>
            </a:r>
            <a:r>
              <a:rPr lang="de-CH" sz="2300" dirty="0" err="1">
                <a:latin typeface="Calibri" panose="020F0502020204030204" pitchFamily="34" charset="0"/>
                <a:ea typeface="Times New Roman" panose="02020603050405020304" pitchFamily="18" charset="0"/>
                <a:cs typeface="Calibri" panose="020F0502020204030204" pitchFamily="34" charset="0"/>
              </a:rPr>
              <a:t>ḥabsáỷat</a:t>
            </a:r>
            <a:r>
              <a:rPr lang="en-GB" sz="2300" noProof="1">
                <a:latin typeface="Calibri" panose="020F0502020204030204" pitchFamily="34" charset="0"/>
                <a:cs typeface="Calibri" panose="020F0502020204030204" pitchFamily="34" charset="0"/>
              </a:rPr>
              <a:t>		: 'garment'</a:t>
            </a: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r>
              <a:rPr lang="en-GB" sz="2300" i="1" noProof="1">
                <a:latin typeface="Calibri" panose="020F0502020204030204" pitchFamily="34" charset="0"/>
                <a:cs typeface="Calibri" panose="020F0502020204030204" pitchFamily="34" charset="0"/>
              </a:rPr>
              <a:t>*CVCCV́</a:t>
            </a:r>
            <a:r>
              <a:rPr lang="de-CH" sz="2300" i="1" dirty="0" err="1">
                <a:latin typeface="Calibri" panose="020F0502020204030204" pitchFamily="34" charset="0"/>
                <a:ea typeface="Times New Roman" panose="02020603050405020304" pitchFamily="18" charset="0"/>
                <a:cs typeface="Calibri" panose="020F0502020204030204" pitchFamily="34" charset="0"/>
              </a:rPr>
              <a:t>ỷVt</a:t>
            </a:r>
            <a:r>
              <a:rPr lang="en-GB" sz="2300" noProof="1">
                <a:latin typeface="Calibri" panose="020F0502020204030204" pitchFamily="34" charset="0"/>
                <a:ea typeface="Times New Roman" panose="02020603050405020304" pitchFamily="18" charset="0"/>
                <a:cs typeface="Calibri" panose="020F0502020204030204" pitchFamily="34" charset="0"/>
              </a:rPr>
              <a:t> with </a:t>
            </a:r>
            <a:r>
              <a:rPr lang="en-GB" sz="2300" noProof="1">
                <a:latin typeface="Calibri" panose="020F0502020204030204" pitchFamily="34" charset="0"/>
                <a:cs typeface="Calibri" panose="020F0502020204030204" pitchFamily="34" charset="0"/>
              </a:rPr>
              <a:t>ⲏ</a:t>
            </a:r>
            <a:r>
              <a:rPr lang="en-GB" sz="2300" noProof="1">
                <a:latin typeface="Calibri" panose="020F0502020204030204" pitchFamily="34" charset="0"/>
                <a:ea typeface="Times New Roman" panose="02020603050405020304" pitchFamily="18" charset="0"/>
                <a:cs typeface="Calibri" panose="020F0502020204030204" pitchFamily="34" charset="0"/>
              </a:rPr>
              <a:t> :</a:t>
            </a:r>
            <a:endParaRPr lang="en-GB" sz="2300" noProof="1">
              <a:latin typeface="Calibri" panose="020F0502020204030204" pitchFamily="34" charset="0"/>
              <a:cs typeface="Calibri" panose="020F0502020204030204" pitchFamily="34" charset="0"/>
            </a:endParaRPr>
          </a:p>
          <a:p>
            <a:pPr>
              <a:lnSpc>
                <a:spcPts val="3000"/>
              </a:lnSpc>
            </a:pPr>
            <a:endParaRPr lang="de-CH" sz="2300" dirty="0">
              <a:latin typeface="Calibri" panose="020F0502020204030204" pitchFamily="34" charset="0"/>
              <a:ea typeface="Times New Roman" panose="02020603050405020304" pitchFamily="18"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[S] ⲥⲉⲣⲙⲏ |sərmé|	</a:t>
            </a:r>
            <a:r>
              <a:rPr lang="en-GB" sz="2300" dirty="0">
                <a:latin typeface="Calibri" panose="020F0502020204030204" pitchFamily="34" charset="0"/>
                <a:cs typeface="Calibri" panose="020F0502020204030204" pitchFamily="34" charset="0"/>
              </a:rPr>
              <a:t>&lt; *</a:t>
            </a:r>
            <a:r>
              <a:rPr lang="en-GB" sz="2300" dirty="0" err="1">
                <a:latin typeface="Calibri" panose="020F0502020204030204" pitchFamily="34" charset="0"/>
                <a:cs typeface="Calibri" panose="020F0502020204030204" pitchFamily="34" charset="0"/>
              </a:rPr>
              <a:t>zVnbÉỷat</a:t>
            </a:r>
            <a:r>
              <a:rPr lang="en-GB" sz="2300" noProof="1">
                <a:latin typeface="Calibri" panose="020F0502020204030204" pitchFamily="34" charset="0"/>
                <a:cs typeface="Calibri" panose="020F0502020204030204" pitchFamily="34" charset="0"/>
              </a:rPr>
              <a:t>		: 'wanderer' (f.)</a:t>
            </a:r>
          </a:p>
          <a:p>
            <a:pPr>
              <a:lnSpc>
                <a:spcPts val="3000"/>
              </a:lnSpc>
            </a:pPr>
            <a:r>
              <a:rPr lang="en-GB" sz="2300" noProof="1">
                <a:latin typeface="Calibri" panose="020F0502020204030204" pitchFamily="34" charset="0"/>
                <a:cs typeface="Calibri" panose="020F0502020204030204" pitchFamily="34" charset="0"/>
              </a:rPr>
              <a:t>	➤ [S] ⲙⲉⲥⲧⲏ |məsté|	</a:t>
            </a:r>
            <a:r>
              <a:rPr lang="en-GB" sz="2300" dirty="0">
                <a:latin typeface="Calibri" panose="020F0502020204030204" pitchFamily="34" charset="0"/>
                <a:ea typeface="Times New Roman" panose="02020603050405020304" pitchFamily="18" charset="0"/>
                <a:cs typeface="Calibri" panose="020F0502020204030204" pitchFamily="34" charset="0"/>
              </a:rPr>
              <a:t>&lt; *</a:t>
            </a:r>
            <a:r>
              <a:rPr lang="en-GB" sz="2300" dirty="0" err="1">
                <a:latin typeface="Calibri" panose="020F0502020204030204" pitchFamily="34" charset="0"/>
                <a:ea typeface="Times New Roman" panose="02020603050405020304" pitchFamily="18" charset="0"/>
                <a:cs typeface="Calibri" panose="020F0502020204030204" pitchFamily="34" charset="0"/>
              </a:rPr>
              <a:t>mVsḏÉỷat</a:t>
            </a:r>
            <a:r>
              <a:rPr lang="en-GB" sz="2300" noProof="1">
                <a:latin typeface="Calibri" panose="020F0502020204030204" pitchFamily="34" charset="0"/>
                <a:cs typeface="Calibri" panose="020F0502020204030204" pitchFamily="34" charset="0"/>
              </a:rPr>
              <a:t>		: 'hated person' (f.)</a:t>
            </a:r>
          </a:p>
          <a:p>
            <a:pPr>
              <a:lnSpc>
                <a:spcPts val="3000"/>
              </a:lnSpc>
            </a:pPr>
            <a:endParaRPr lang="en-GB" sz="2300" dirty="0">
              <a:latin typeface="Calibri" panose="020F0502020204030204" pitchFamily="34" charset="0"/>
              <a:cs typeface="Calibri" panose="020F0502020204030204" pitchFamily="34" charset="0"/>
            </a:endParaRPr>
          </a:p>
        </p:txBody>
      </p:sp>
      <p:sp>
        <p:nvSpPr>
          <p:cNvPr id="12" name="Titel 6">
            <a:extLst>
              <a:ext uri="{FF2B5EF4-FFF2-40B4-BE49-F238E27FC236}">
                <a16:creationId xmlns:a16="http://schemas.microsoft.com/office/drawing/2014/main" id="{5D6E6CCE-48E4-171B-D8E3-622D4F143C2F}"/>
              </a:ext>
            </a:extLst>
          </p:cNvPr>
          <p:cNvSpPr>
            <a:spLocks noGrp="1"/>
          </p:cNvSpPr>
          <p:nvPr>
            <p:ph type="title"/>
          </p:nvPr>
        </p:nvSpPr>
        <p:spPr>
          <a:xfrm>
            <a:off x="334800" y="404813"/>
            <a:ext cx="11521840" cy="755936"/>
          </a:xfrm>
        </p:spPr>
        <p:txBody>
          <a:bodyPr/>
          <a:lstStyle/>
          <a:p>
            <a:r>
              <a:rPr lang="en-GB" noProof="1"/>
              <a:t>Morphological minimal pairs : (</a:t>
            </a:r>
            <a:r>
              <a:rPr lang="en-GB" dirty="0">
                <a:cs typeface="Calibri" panose="020F0502020204030204" pitchFamily="34" charset="0"/>
              </a:rPr>
              <a:t>de)verbal nouns</a:t>
            </a:r>
            <a:endParaRPr lang="de-CH" dirty="0"/>
          </a:p>
        </p:txBody>
      </p:sp>
    </p:spTree>
    <p:extLst>
      <p:ext uri="{BB962C8B-B14F-4D97-AF65-F5344CB8AC3E}">
        <p14:creationId xmlns:p14="http://schemas.microsoft.com/office/powerpoint/2010/main" val="2364707269"/>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63B9-65D2-0AF5-3C22-091BD9F1171C}"/>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C4D9D2D9-0CDB-8382-8F50-4295138436B4}"/>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871C9525-59F1-DDE3-DA86-749AA8EF1C7F}"/>
              </a:ext>
            </a:extLst>
          </p:cNvPr>
          <p:cNvSpPr>
            <a:spLocks noGrp="1"/>
          </p:cNvSpPr>
          <p:nvPr>
            <p:ph type="sldNum" sz="quarter" idx="12"/>
          </p:nvPr>
        </p:nvSpPr>
        <p:spPr/>
        <p:txBody>
          <a:bodyPr/>
          <a:lstStyle/>
          <a:p>
            <a:fld id="{B3811826-9277-4232-A2B5-17D05DFC7392}" type="slidenum">
              <a:rPr lang="de-CH" smtClean="0"/>
              <a:pPr/>
              <a:t>22</a:t>
            </a:fld>
            <a:endParaRPr lang="de-CH" dirty="0"/>
          </a:p>
        </p:txBody>
      </p:sp>
      <p:cxnSp>
        <p:nvCxnSpPr>
          <p:cNvPr id="9" name="Gerade Verbindung 7">
            <a:extLst>
              <a:ext uri="{FF2B5EF4-FFF2-40B4-BE49-F238E27FC236}">
                <a16:creationId xmlns:a16="http://schemas.microsoft.com/office/drawing/2014/main" id="{28A56AC8-917D-5139-C000-F891501DB813}"/>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49504138-1A70-1676-77DE-0C7580912296}"/>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465B7F74-E458-707D-A2E1-049A9260677A}"/>
              </a:ext>
            </a:extLst>
          </p:cNvPr>
          <p:cNvSpPr txBox="1"/>
          <p:nvPr/>
        </p:nvSpPr>
        <p:spPr>
          <a:xfrm>
            <a:off x="1921684" y="3525079"/>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64087A05-A173-B1D2-84B2-ADD5413CD995}"/>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 name="Textfeld 1">
            <a:extLst>
              <a:ext uri="{FF2B5EF4-FFF2-40B4-BE49-F238E27FC236}">
                <a16:creationId xmlns:a16="http://schemas.microsoft.com/office/drawing/2014/main" id="{9DD61776-B518-5F1F-85CF-E379BF4D10FB}"/>
              </a:ext>
            </a:extLst>
          </p:cNvPr>
          <p:cNvSpPr txBox="1"/>
          <p:nvPr/>
        </p:nvSpPr>
        <p:spPr>
          <a:xfrm>
            <a:off x="849186" y="1222088"/>
            <a:ext cx="10829356" cy="4305922"/>
          </a:xfrm>
          <a:prstGeom prst="rect">
            <a:avLst/>
          </a:prstGeom>
          <a:noFill/>
        </p:spPr>
        <p:txBody>
          <a:bodyPr wrap="square">
            <a:spAutoFit/>
          </a:bodyPr>
          <a:lstStyle/>
          <a:p>
            <a:pPr>
              <a:lnSpc>
                <a:spcPts val="3000"/>
              </a:lnSpc>
            </a:pPr>
            <a:r>
              <a:rPr lang="en-GB" sz="2300" i="1" noProof="1">
                <a:latin typeface="Calibri" panose="020F0502020204030204" pitchFamily="34" charset="0"/>
                <a:cs typeface="Calibri" panose="020F0502020204030204" pitchFamily="34" charset="0"/>
              </a:rPr>
              <a:t>*CVCV́</a:t>
            </a:r>
            <a:r>
              <a:rPr lang="de-CH" sz="2300" i="1" noProof="1">
                <a:latin typeface="Calibri" panose="020F0502020204030204" pitchFamily="34" charset="0"/>
                <a:cs typeface="Calibri" panose="020F0502020204030204" pitchFamily="34" charset="0"/>
              </a:rPr>
              <a:t>C</a:t>
            </a:r>
            <a:r>
              <a:rPr lang="de-CH" sz="2300" i="1" dirty="0" err="1">
                <a:latin typeface="Calibri" panose="020F0502020204030204" pitchFamily="34" charset="0"/>
                <a:ea typeface="Times New Roman" panose="02020603050405020304" pitchFamily="18" charset="0"/>
                <a:cs typeface="Calibri" panose="020F0502020204030204" pitchFamily="34" charset="0"/>
              </a:rPr>
              <a:t>Vt</a:t>
            </a:r>
            <a:r>
              <a:rPr lang="en-GB" sz="2300" noProof="1">
                <a:latin typeface="Calibri" panose="020F0502020204030204" pitchFamily="34" charset="0"/>
                <a:ea typeface="Times New Roman" panose="02020603050405020304" pitchFamily="18" charset="0"/>
                <a:cs typeface="Calibri" panose="020F0502020204030204" pitchFamily="34" charset="0"/>
              </a:rPr>
              <a:t> with *á :</a:t>
            </a:r>
            <a:endParaRPr lang="en-GB" sz="2300" noProof="1">
              <a:latin typeface="Calibri" panose="020F0502020204030204" pitchFamily="34" charset="0"/>
              <a:cs typeface="Calibri" panose="020F0502020204030204" pitchFamily="34" charset="0"/>
            </a:endParaRPr>
          </a:p>
          <a:p>
            <a:pPr>
              <a:lnSpc>
                <a:spcPts val="3000"/>
              </a:lnSpc>
            </a:pPr>
            <a:endParaRPr lang="en-GB" sz="2300" noProof="1">
              <a:latin typeface="Calibri" panose="020F0502020204030204" pitchFamily="34"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[S] ⲙⲡⲱⲧ	mᵊpót(ᵊ) &lt; *</a:t>
            </a:r>
            <a:r>
              <a:rPr lang="de-CH" sz="2300" noProof="1">
                <a:latin typeface="Calibri" panose="020F0502020204030204" pitchFamily="34" charset="0"/>
                <a:cs typeface="Calibri" panose="020F0502020204030204" pitchFamily="34" charset="0"/>
              </a:rPr>
              <a:t>n</a:t>
            </a:r>
            <a:r>
              <a:rPr lang="de-CH" sz="2300" dirty="0" err="1">
                <a:latin typeface="Calibri" panose="020F0502020204030204" pitchFamily="34" charset="0"/>
                <a:ea typeface="Times New Roman" panose="02020603050405020304" pitchFamily="18" charset="0"/>
                <a:cs typeface="Calibri" panose="020F0502020204030204" pitchFamily="34" charset="0"/>
              </a:rPr>
              <a:t>Vbádat</a:t>
            </a:r>
            <a:r>
              <a:rPr lang="en-GB" sz="2300" noProof="1">
                <a:latin typeface="Calibri" panose="020F0502020204030204" pitchFamily="34" charset="0"/>
                <a:ea typeface="Times New Roman" panose="02020603050405020304" pitchFamily="18" charset="0"/>
                <a:cs typeface="Calibri" panose="020F0502020204030204" pitchFamily="34" charset="0"/>
              </a:rPr>
              <a:t>	</a:t>
            </a:r>
            <a:r>
              <a:rPr lang="en-GB" sz="2300" dirty="0">
                <a:latin typeface="Calibri" panose="020F0502020204030204" pitchFamily="34" charset="0"/>
                <a:cs typeface="Calibri" panose="020F0502020204030204" pitchFamily="34" charset="0"/>
              </a:rPr>
              <a:t>	: a part of the loom</a:t>
            </a:r>
          </a:p>
          <a:p>
            <a:pPr>
              <a:lnSpc>
                <a:spcPts val="3000"/>
              </a:lnSpc>
            </a:pPr>
            <a:r>
              <a:rPr lang="en-GB" sz="2300" noProof="1">
                <a:latin typeface="Calibri" panose="020F0502020204030204" pitchFamily="34" charset="0"/>
                <a:cs typeface="Calibri" panose="020F0502020204030204" pitchFamily="34" charset="0"/>
              </a:rPr>
              <a:t>	➤ [S] ϣⲟⲩⲱⲃⲉ |šᵊwóbə| </a:t>
            </a:r>
            <a:r>
              <a:rPr lang="de-CH" sz="2300" dirty="0">
                <a:latin typeface="Calibri" panose="020F0502020204030204" pitchFamily="34" charset="0"/>
                <a:ea typeface="Times New Roman" panose="02020603050405020304" pitchFamily="18" charset="0"/>
                <a:cs typeface="Calibri" panose="020F0502020204030204" pitchFamily="34" charset="0"/>
              </a:rPr>
              <a:t>&lt; *</a:t>
            </a:r>
            <a:r>
              <a:rPr lang="de-CH" sz="2300" dirty="0" err="1">
                <a:latin typeface="Calibri" panose="020F0502020204030204" pitchFamily="34" charset="0"/>
                <a:ea typeface="Times New Roman" panose="02020603050405020304" pitchFamily="18" charset="0"/>
                <a:cs typeface="Calibri" panose="020F0502020204030204" pitchFamily="34" charset="0"/>
              </a:rPr>
              <a:t>šVbábat</a:t>
            </a:r>
            <a:r>
              <a:rPr lang="en-GB" sz="2300" noProof="1">
                <a:latin typeface="Calibri" panose="020F0502020204030204" pitchFamily="34" charset="0"/>
                <a:cs typeface="Calibri" panose="020F0502020204030204" pitchFamily="34" charset="0"/>
              </a:rPr>
              <a:t>		: 'throat'</a:t>
            </a: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endParaRPr lang="en-GB" sz="2300" dirty="0">
              <a:latin typeface="Calibri" panose="020F0502020204030204" pitchFamily="34" charset="0"/>
              <a:cs typeface="Calibri" panose="020F0502020204030204" pitchFamily="34" charset="0"/>
            </a:endParaRPr>
          </a:p>
          <a:p>
            <a:pPr>
              <a:lnSpc>
                <a:spcPts val="3000"/>
              </a:lnSpc>
            </a:pPr>
            <a:r>
              <a:rPr lang="en-GB" sz="2300" i="1" noProof="1">
                <a:latin typeface="Calibri" panose="020F0502020204030204" pitchFamily="34" charset="0"/>
                <a:cs typeface="Calibri" panose="020F0502020204030204" pitchFamily="34" charset="0"/>
              </a:rPr>
              <a:t>*CVCV́C</a:t>
            </a:r>
            <a:r>
              <a:rPr lang="de-CH" sz="2300" i="1" dirty="0" err="1">
                <a:latin typeface="Calibri" panose="020F0502020204030204" pitchFamily="34" charset="0"/>
                <a:ea typeface="Times New Roman" panose="02020603050405020304" pitchFamily="18" charset="0"/>
                <a:cs typeface="Calibri" panose="020F0502020204030204" pitchFamily="34" charset="0"/>
              </a:rPr>
              <a:t>Vt</a:t>
            </a:r>
            <a:r>
              <a:rPr lang="en-GB" sz="2300" noProof="1">
                <a:latin typeface="Calibri" panose="020F0502020204030204" pitchFamily="34" charset="0"/>
                <a:ea typeface="Times New Roman" panose="02020603050405020304" pitchFamily="18" charset="0"/>
                <a:cs typeface="Calibri" panose="020F0502020204030204" pitchFamily="34" charset="0"/>
              </a:rPr>
              <a:t> with </a:t>
            </a:r>
            <a:r>
              <a:rPr lang="en-GB" sz="2300" noProof="1">
                <a:latin typeface="Calibri" panose="020F0502020204030204" pitchFamily="34" charset="0"/>
                <a:cs typeface="Calibri" panose="020F0502020204030204" pitchFamily="34" charset="0"/>
              </a:rPr>
              <a:t>ⲏ</a:t>
            </a:r>
            <a:r>
              <a:rPr lang="en-GB" sz="2300" noProof="1">
                <a:latin typeface="Calibri" panose="020F0502020204030204" pitchFamily="34" charset="0"/>
                <a:ea typeface="Times New Roman" panose="02020603050405020304" pitchFamily="18" charset="0"/>
                <a:cs typeface="Calibri" panose="020F0502020204030204" pitchFamily="34" charset="0"/>
              </a:rPr>
              <a:t> :</a:t>
            </a:r>
            <a:endParaRPr lang="en-GB" sz="2300" noProof="1">
              <a:latin typeface="Calibri" panose="020F0502020204030204" pitchFamily="34" charset="0"/>
              <a:cs typeface="Calibri" panose="020F0502020204030204" pitchFamily="34" charset="0"/>
            </a:endParaRPr>
          </a:p>
          <a:p>
            <a:pPr>
              <a:lnSpc>
                <a:spcPts val="3000"/>
              </a:lnSpc>
            </a:pPr>
            <a:endParaRPr lang="de-CH" sz="2300" dirty="0">
              <a:latin typeface="Calibri" panose="020F0502020204030204" pitchFamily="34" charset="0"/>
              <a:ea typeface="Times New Roman" panose="02020603050405020304" pitchFamily="18" charset="0"/>
              <a:cs typeface="Calibri" panose="020F0502020204030204" pitchFamily="34" charset="0"/>
            </a:endParaRPr>
          </a:p>
          <a:p>
            <a:pPr>
              <a:lnSpc>
                <a:spcPts val="3000"/>
              </a:lnSpc>
            </a:pPr>
            <a:r>
              <a:rPr lang="en-GB" sz="2300" noProof="1">
                <a:latin typeface="Calibri" panose="020F0502020204030204" pitchFamily="34" charset="0"/>
                <a:cs typeface="Calibri" panose="020F0502020204030204" pitchFamily="34" charset="0"/>
              </a:rPr>
              <a:t>	➤ [S] ϩⲗⲏϭⲉ |hᵊlékʲə|	</a:t>
            </a:r>
            <a:r>
              <a:rPr lang="en-GB" sz="2300" dirty="0">
                <a:latin typeface="Calibri" panose="020F0502020204030204" pitchFamily="34" charset="0"/>
                <a:cs typeface="Calibri" panose="020F0502020204030204" pitchFamily="34" charset="0"/>
              </a:rPr>
              <a:t>&lt; *</a:t>
            </a:r>
            <a:r>
              <a:rPr lang="en-GB" sz="2300" dirty="0" err="1">
                <a:latin typeface="Calibri" panose="020F0502020204030204" pitchFamily="34" charset="0"/>
                <a:cs typeface="Calibri" panose="020F0502020204030204" pitchFamily="34" charset="0"/>
              </a:rPr>
              <a:t>ḥVꜣÉga</a:t>
            </a:r>
            <a:r>
              <a:rPr lang="en-GB" sz="2300" dirty="0">
                <a:latin typeface="Calibri" panose="020F0502020204030204" pitchFamily="34" charset="0"/>
                <a:cs typeface="Calibri" panose="020F0502020204030204" pitchFamily="34" charset="0"/>
              </a:rPr>
              <a:t>̣(</a:t>
            </a:r>
            <a:r>
              <a:rPr lang="en-GB" sz="2300" dirty="0" err="1">
                <a:latin typeface="Calibri" panose="020F0502020204030204" pitchFamily="34" charset="0"/>
                <a:cs typeface="Calibri" panose="020F0502020204030204" pitchFamily="34" charset="0"/>
              </a:rPr>
              <a:t>ỷ</a:t>
            </a:r>
            <a:r>
              <a:rPr lang="en-GB" sz="2300" dirty="0">
                <a:latin typeface="Calibri" panose="020F0502020204030204" pitchFamily="34" charset="0"/>
                <a:cs typeface="Calibri" panose="020F0502020204030204" pitchFamily="34" charset="0"/>
              </a:rPr>
              <a:t>)t</a:t>
            </a:r>
            <a:r>
              <a:rPr lang="en-GB" sz="2300" noProof="1">
                <a:latin typeface="Calibri" panose="020F0502020204030204" pitchFamily="34" charset="0"/>
                <a:cs typeface="Calibri" panose="020F0502020204030204" pitchFamily="34" charset="0"/>
              </a:rPr>
              <a:t>		: 'sweetness'</a:t>
            </a:r>
          </a:p>
          <a:p>
            <a:pPr>
              <a:lnSpc>
                <a:spcPts val="3000"/>
              </a:lnSpc>
            </a:pPr>
            <a:r>
              <a:rPr lang="en-GB" sz="2300" noProof="1">
                <a:latin typeface="Calibri" panose="020F0502020204030204" pitchFamily="34" charset="0"/>
                <a:cs typeface="Calibri" panose="020F0502020204030204" pitchFamily="34" charset="0"/>
              </a:rPr>
              <a:t>	➤ [S] ⲕⲙⲏⲙⲉ |kᵊmémə| </a:t>
            </a:r>
            <a:r>
              <a:rPr lang="en-GB" sz="2300" dirty="0">
                <a:latin typeface="Calibri" panose="020F0502020204030204" pitchFamily="34" charset="0"/>
                <a:ea typeface="Times New Roman" panose="02020603050405020304" pitchFamily="18" charset="0"/>
                <a:cs typeface="Calibri" panose="020F0502020204030204" pitchFamily="34" charset="0"/>
              </a:rPr>
              <a:t>&lt; *</a:t>
            </a:r>
            <a:r>
              <a:rPr lang="en-GB" sz="2300" dirty="0" err="1">
                <a:latin typeface="Calibri" panose="020F0502020204030204" pitchFamily="34" charset="0"/>
                <a:ea typeface="Times New Roman" panose="02020603050405020304" pitchFamily="18" charset="0"/>
                <a:cs typeface="Calibri" panose="020F0502020204030204" pitchFamily="34" charset="0"/>
              </a:rPr>
              <a:t>kVmÉma</a:t>
            </a:r>
            <a:r>
              <a:rPr lang="en-GB" sz="2300" dirty="0">
                <a:latin typeface="Calibri" panose="020F0502020204030204" pitchFamily="34" charset="0"/>
                <a:ea typeface="Times New Roman" panose="02020603050405020304" pitchFamily="18" charset="0"/>
                <a:cs typeface="Calibri" panose="020F0502020204030204" pitchFamily="34" charset="0"/>
              </a:rPr>
              <a:t>̣(</a:t>
            </a:r>
            <a:r>
              <a:rPr lang="en-GB" sz="2300" dirty="0" err="1">
                <a:latin typeface="Calibri" panose="020F0502020204030204" pitchFamily="34" charset="0"/>
                <a:ea typeface="Times New Roman" panose="02020603050405020304" pitchFamily="18" charset="0"/>
                <a:cs typeface="Calibri" panose="020F0502020204030204" pitchFamily="34" charset="0"/>
              </a:rPr>
              <a:t>ỷ</a:t>
            </a:r>
            <a:r>
              <a:rPr lang="en-GB" sz="2300" dirty="0">
                <a:latin typeface="Calibri" panose="020F0502020204030204" pitchFamily="34" charset="0"/>
                <a:ea typeface="Times New Roman" panose="02020603050405020304" pitchFamily="18" charset="0"/>
                <a:cs typeface="Calibri" panose="020F0502020204030204" pitchFamily="34" charset="0"/>
              </a:rPr>
              <a:t>)t</a:t>
            </a:r>
            <a:r>
              <a:rPr lang="en-GB" sz="2300" noProof="1">
                <a:latin typeface="Calibri" panose="020F0502020204030204" pitchFamily="34" charset="0"/>
                <a:cs typeface="Calibri" panose="020F0502020204030204" pitchFamily="34" charset="0"/>
              </a:rPr>
              <a:t>	: 'darkness'</a:t>
            </a:r>
          </a:p>
          <a:p>
            <a:pPr>
              <a:lnSpc>
                <a:spcPts val="3000"/>
              </a:lnSpc>
            </a:pPr>
            <a:endParaRPr lang="en-GB" sz="2300" dirty="0">
              <a:latin typeface="Calibri" panose="020F0502020204030204" pitchFamily="34" charset="0"/>
              <a:cs typeface="Calibri" panose="020F0502020204030204" pitchFamily="34" charset="0"/>
            </a:endParaRPr>
          </a:p>
        </p:txBody>
      </p:sp>
      <p:sp>
        <p:nvSpPr>
          <p:cNvPr id="12" name="Titel 6">
            <a:extLst>
              <a:ext uri="{FF2B5EF4-FFF2-40B4-BE49-F238E27FC236}">
                <a16:creationId xmlns:a16="http://schemas.microsoft.com/office/drawing/2014/main" id="{75C5D661-18D9-14BE-DAF0-78D36069EF44}"/>
              </a:ext>
            </a:extLst>
          </p:cNvPr>
          <p:cNvSpPr>
            <a:spLocks noGrp="1"/>
          </p:cNvSpPr>
          <p:nvPr>
            <p:ph type="title"/>
          </p:nvPr>
        </p:nvSpPr>
        <p:spPr>
          <a:xfrm>
            <a:off x="334800" y="404813"/>
            <a:ext cx="11521840" cy="755936"/>
          </a:xfrm>
        </p:spPr>
        <p:txBody>
          <a:bodyPr/>
          <a:lstStyle/>
          <a:p>
            <a:r>
              <a:rPr lang="en-GB" noProof="1"/>
              <a:t>Morphological minimal pairs : (</a:t>
            </a:r>
            <a:r>
              <a:rPr lang="en-GB" dirty="0">
                <a:cs typeface="Calibri" panose="020F0502020204030204" pitchFamily="34" charset="0"/>
              </a:rPr>
              <a:t>de)verbal nouns</a:t>
            </a:r>
            <a:endParaRPr lang="de-CH" dirty="0"/>
          </a:p>
        </p:txBody>
      </p:sp>
    </p:spTree>
    <p:extLst>
      <p:ext uri="{BB962C8B-B14F-4D97-AF65-F5344CB8AC3E}">
        <p14:creationId xmlns:p14="http://schemas.microsoft.com/office/powerpoint/2010/main" val="778575336"/>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5E216-938E-205C-AD49-2CA245AE8C85}"/>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7F97F893-36DA-7C82-2EBC-1F2145D3D70B}"/>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57105137-CA24-F5CC-5094-1AB0B90CFE19}"/>
              </a:ext>
            </a:extLst>
          </p:cNvPr>
          <p:cNvSpPr>
            <a:spLocks noGrp="1"/>
          </p:cNvSpPr>
          <p:nvPr>
            <p:ph type="sldNum" sz="quarter" idx="12"/>
          </p:nvPr>
        </p:nvSpPr>
        <p:spPr/>
        <p:txBody>
          <a:bodyPr/>
          <a:lstStyle/>
          <a:p>
            <a:fld id="{B3811826-9277-4232-A2B5-17D05DFC7392}" type="slidenum">
              <a:rPr lang="de-CH" smtClean="0"/>
              <a:pPr/>
              <a:t>23</a:t>
            </a:fld>
            <a:endParaRPr lang="de-CH" dirty="0"/>
          </a:p>
        </p:txBody>
      </p:sp>
      <p:cxnSp>
        <p:nvCxnSpPr>
          <p:cNvPr id="9" name="Gerade Verbindung 7">
            <a:extLst>
              <a:ext uri="{FF2B5EF4-FFF2-40B4-BE49-F238E27FC236}">
                <a16:creationId xmlns:a16="http://schemas.microsoft.com/office/drawing/2014/main" id="{9B8F17D9-938D-54E4-97C7-DA1FAB6E8AFE}"/>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F6519249-D3FE-641D-0D31-F76AEF79667A}"/>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4BBAECA2-3F0C-79F5-8121-BB89B06F6C2B}"/>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F96E3A9B-2CC2-669B-9A32-04FA23EF8977}"/>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3DE31B10-B11B-0988-8BAF-C9F8F3D1A03C}"/>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Titel 6">
            <a:extLst>
              <a:ext uri="{FF2B5EF4-FFF2-40B4-BE49-F238E27FC236}">
                <a16:creationId xmlns:a16="http://schemas.microsoft.com/office/drawing/2014/main" id="{DED6977C-A465-95EB-82B5-EF5BEA09AC03}"/>
              </a:ext>
            </a:extLst>
          </p:cNvPr>
          <p:cNvSpPr txBox="1">
            <a:spLocks/>
          </p:cNvSpPr>
          <p:nvPr/>
        </p:nvSpPr>
        <p:spPr>
          <a:xfrm>
            <a:off x="703796" y="1367333"/>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Deverbal Nouns with at least 3 strong consonants:</a:t>
            </a:r>
          </a:p>
        </p:txBody>
      </p:sp>
      <p:sp>
        <p:nvSpPr>
          <p:cNvPr id="7" name="Textfeld 6">
            <a:extLst>
              <a:ext uri="{FF2B5EF4-FFF2-40B4-BE49-F238E27FC236}">
                <a16:creationId xmlns:a16="http://schemas.microsoft.com/office/drawing/2014/main" id="{97F63BCC-165D-79A6-E91D-D192A8C14DE7}"/>
              </a:ext>
            </a:extLst>
          </p:cNvPr>
          <p:cNvSpPr txBox="1"/>
          <p:nvPr/>
        </p:nvSpPr>
        <p:spPr>
          <a:xfrm>
            <a:off x="1487488" y="2241983"/>
            <a:ext cx="9433048" cy="1484637"/>
          </a:xfrm>
          <a:prstGeom prst="rect">
            <a:avLst/>
          </a:prstGeom>
          <a:noFill/>
        </p:spPr>
        <p:txBody>
          <a:bodyPr wrap="square">
            <a:spAutoFit/>
          </a:bodyPr>
          <a:lstStyle/>
          <a:p>
            <a:pPr>
              <a:lnSpc>
                <a:spcPts val="3000"/>
              </a:lnSpc>
              <a:spcAft>
                <a:spcPts val="1000"/>
              </a:spcAft>
            </a:pPr>
            <a:r>
              <a:rPr lang="en-GB" sz="2300" noProof="1">
                <a:latin typeface="Calibri" panose="020F0502020204030204" pitchFamily="34" charset="0"/>
                <a:cs typeface="Calibri" panose="020F0502020204030204" pitchFamily="34" charset="0"/>
              </a:rPr>
              <a:t>➤ in general, only oppositions </a:t>
            </a:r>
            <a:r>
              <a:rPr lang="en-GB" sz="2300" noProof="1">
                <a:latin typeface="Calibri" panose="020F0502020204030204" pitchFamily="34" charset="0"/>
                <a:ea typeface="Times New Roman" panose="02020603050405020304" pitchFamily="18" charset="0"/>
                <a:cs typeface="Calibri" panose="020F0502020204030204" pitchFamily="34" charset="0"/>
              </a:rPr>
              <a:t>*á vs </a:t>
            </a:r>
            <a:r>
              <a:rPr lang="en-GB" sz="2300" noProof="1">
                <a:latin typeface="Calibri" panose="020F0502020204030204" pitchFamily="34" charset="0"/>
                <a:cs typeface="Calibri" panose="020F0502020204030204" pitchFamily="34" charset="0"/>
              </a:rPr>
              <a:t>ⲏ</a:t>
            </a:r>
          </a:p>
          <a:p>
            <a:pPr>
              <a:lnSpc>
                <a:spcPts val="3000"/>
              </a:lnSpc>
              <a:spcAft>
                <a:spcPts val="1000"/>
              </a:spcAft>
            </a:pPr>
            <a:r>
              <a:rPr lang="en-GB" sz="2300" noProof="1">
                <a:latin typeface="Calibri" panose="020F0502020204030204" pitchFamily="34" charset="0"/>
                <a:cs typeface="Calibri" panose="020F0502020204030204" pitchFamily="34" charset="0"/>
              </a:rPr>
              <a:t>➤ when ⲓ, a weak consonant is involved</a:t>
            </a:r>
          </a:p>
          <a:p>
            <a:pPr>
              <a:lnSpc>
                <a:spcPts val="3000"/>
              </a:lnSpc>
              <a:spcAft>
                <a:spcPts val="1000"/>
              </a:spcAft>
            </a:pPr>
            <a:endParaRPr lang="en-GB" sz="2300" dirty="0">
              <a:latin typeface="Calibri" panose="020F0502020204030204" pitchFamily="34" charset="0"/>
              <a:cs typeface="Calibri" panose="020F0502020204030204" pitchFamily="34" charset="0"/>
            </a:endParaRPr>
          </a:p>
        </p:txBody>
      </p:sp>
      <p:sp>
        <p:nvSpPr>
          <p:cNvPr id="8" name="Titel 6">
            <a:extLst>
              <a:ext uri="{FF2B5EF4-FFF2-40B4-BE49-F238E27FC236}">
                <a16:creationId xmlns:a16="http://schemas.microsoft.com/office/drawing/2014/main" id="{3CE6F286-26D7-07F1-C00E-1EE4DF4F09B5}"/>
              </a:ext>
            </a:extLst>
          </p:cNvPr>
          <p:cNvSpPr txBox="1">
            <a:spLocks/>
          </p:cNvSpPr>
          <p:nvPr/>
        </p:nvSpPr>
        <p:spPr>
          <a:xfrm>
            <a:off x="703796" y="3831102"/>
            <a:ext cx="10504772" cy="99628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Basically: ⲏ vs ⲓ are attested only in isolated nouns/nouns with no attested corresponding verbal root, whose underlying structure is inherently unclear</a:t>
            </a:r>
          </a:p>
        </p:txBody>
      </p:sp>
      <p:sp>
        <p:nvSpPr>
          <p:cNvPr id="14" name="Textfeld 13">
            <a:extLst>
              <a:ext uri="{FF2B5EF4-FFF2-40B4-BE49-F238E27FC236}">
                <a16:creationId xmlns:a16="http://schemas.microsoft.com/office/drawing/2014/main" id="{53790F65-6888-74EC-BDC6-02E092960E1A}"/>
              </a:ext>
            </a:extLst>
          </p:cNvPr>
          <p:cNvSpPr txBox="1"/>
          <p:nvPr/>
        </p:nvSpPr>
        <p:spPr>
          <a:xfrm>
            <a:off x="1487488" y="5013752"/>
            <a:ext cx="9433048" cy="456343"/>
          </a:xfrm>
          <a:prstGeom prst="rect">
            <a:avLst/>
          </a:prstGeom>
          <a:noFill/>
        </p:spPr>
        <p:txBody>
          <a:bodyPr wrap="square">
            <a:spAutoFit/>
          </a:bodyPr>
          <a:lstStyle/>
          <a:p>
            <a:pPr>
              <a:lnSpc>
                <a:spcPts val="3000"/>
              </a:lnSpc>
              <a:spcAft>
                <a:spcPts val="1000"/>
              </a:spcAft>
            </a:pPr>
            <a:r>
              <a:rPr lang="en-GB" sz="2300" noProof="1">
                <a:latin typeface="Calibri" panose="020F0502020204030204" pitchFamily="34" charset="0"/>
                <a:cs typeface="Calibri" panose="020F0502020204030204" pitchFamily="34" charset="0"/>
              </a:rPr>
              <a:t>ⲥⲓϥⲉ |sífə| ‘tar (tree), cedar’ 	vs	ⲥⲏϥⲉ |séfə| ‘sword, knife’</a:t>
            </a:r>
          </a:p>
        </p:txBody>
      </p:sp>
      <p:sp>
        <p:nvSpPr>
          <p:cNvPr id="18" name="Titel 6">
            <a:extLst>
              <a:ext uri="{FF2B5EF4-FFF2-40B4-BE49-F238E27FC236}">
                <a16:creationId xmlns:a16="http://schemas.microsoft.com/office/drawing/2014/main" id="{A6689D85-83A2-0F79-2D0D-D312CCEB5197}"/>
              </a:ext>
            </a:extLst>
          </p:cNvPr>
          <p:cNvSpPr>
            <a:spLocks noGrp="1"/>
          </p:cNvSpPr>
          <p:nvPr>
            <p:ph type="title"/>
          </p:nvPr>
        </p:nvSpPr>
        <p:spPr>
          <a:xfrm>
            <a:off x="334800" y="404813"/>
            <a:ext cx="11521840" cy="755936"/>
          </a:xfrm>
        </p:spPr>
        <p:txBody>
          <a:bodyPr/>
          <a:lstStyle/>
          <a:p>
            <a:r>
              <a:rPr lang="en-GB" noProof="1"/>
              <a:t>Morphological minimal pairs : </a:t>
            </a:r>
            <a:r>
              <a:rPr lang="en-GB" dirty="0">
                <a:cs typeface="Calibri" panose="020F0502020204030204" pitchFamily="34" charset="0"/>
              </a:rPr>
              <a:t>summary</a:t>
            </a:r>
            <a:endParaRPr lang="de-CH" dirty="0"/>
          </a:p>
        </p:txBody>
      </p:sp>
    </p:spTree>
    <p:extLst>
      <p:ext uri="{BB962C8B-B14F-4D97-AF65-F5344CB8AC3E}">
        <p14:creationId xmlns:p14="http://schemas.microsoft.com/office/powerpoint/2010/main" val="677563546"/>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2E0CB-ED43-5CAD-BF73-4AC44AA3530C}"/>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89928C09-E552-2681-D73D-936CB76E5DA7}"/>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6E159825-3602-9B57-9505-C8804D6CB6EA}"/>
              </a:ext>
            </a:extLst>
          </p:cNvPr>
          <p:cNvSpPr>
            <a:spLocks noGrp="1"/>
          </p:cNvSpPr>
          <p:nvPr>
            <p:ph type="sldNum" sz="quarter" idx="12"/>
          </p:nvPr>
        </p:nvSpPr>
        <p:spPr/>
        <p:txBody>
          <a:bodyPr/>
          <a:lstStyle/>
          <a:p>
            <a:fld id="{B3811826-9277-4232-A2B5-17D05DFC7392}" type="slidenum">
              <a:rPr lang="en-GB" smtClean="0"/>
              <a:pPr/>
              <a:t>24</a:t>
            </a:fld>
            <a:endParaRPr lang="en-GB" dirty="0"/>
          </a:p>
        </p:txBody>
      </p:sp>
      <p:cxnSp>
        <p:nvCxnSpPr>
          <p:cNvPr id="9" name="Gerade Verbindung 7">
            <a:extLst>
              <a:ext uri="{FF2B5EF4-FFF2-40B4-BE49-F238E27FC236}">
                <a16:creationId xmlns:a16="http://schemas.microsoft.com/office/drawing/2014/main" id="{E269530B-EAD3-0797-A2F7-76335E166585}"/>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FF293A6A-AFEB-57E8-0615-F54C970FC35E}"/>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8148A4B7-BDB0-E598-03E0-2DD7F8323DEA}"/>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DF0A2B9D-CE1D-C5D8-1F15-40B9EB9E3214}"/>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2" name="Textfeld 1">
            <a:extLst>
              <a:ext uri="{FF2B5EF4-FFF2-40B4-BE49-F238E27FC236}">
                <a16:creationId xmlns:a16="http://schemas.microsoft.com/office/drawing/2014/main" id="{BC9EEDAA-FC3E-D7B4-E0C6-FD0F53E6685C}"/>
              </a:ext>
            </a:extLst>
          </p:cNvPr>
          <p:cNvSpPr txBox="1"/>
          <p:nvPr/>
        </p:nvSpPr>
        <p:spPr>
          <a:xfrm>
            <a:off x="1148665" y="2097967"/>
            <a:ext cx="9244158" cy="2496264"/>
          </a:xfrm>
          <a:prstGeom prst="rect">
            <a:avLst/>
          </a:prstGeom>
          <a:noFill/>
        </p:spPr>
        <p:txBody>
          <a:bodyPr wrap="square" lIns="0" tIns="0" rIns="0" bIns="0" rtlCol="0">
            <a:noAutofit/>
          </a:bodyPr>
          <a:lstStyle/>
          <a:p>
            <a:pPr>
              <a:lnSpc>
                <a:spcPts val="2200"/>
              </a:lnSpc>
            </a:pPr>
            <a:endParaRPr lang="en-GB" sz="2200" dirty="0">
              <a:latin typeface="Calibri" panose="020F0502020204030204" pitchFamily="34" charset="0"/>
              <a:cs typeface="Calibri" panose="020F0502020204030204" pitchFamily="34" charset="0"/>
            </a:endParaRPr>
          </a:p>
          <a:p>
            <a:pPr>
              <a:lnSpc>
                <a:spcPct val="150000"/>
              </a:lnSpc>
            </a:pPr>
            <a:r>
              <a:rPr lang="en-GB" sz="2200" dirty="0">
                <a:latin typeface="Calibri" panose="020F0502020204030204" pitchFamily="34" charset="0"/>
                <a:cs typeface="Calibri" panose="020F0502020204030204" pitchFamily="34" charset="0"/>
              </a:rPr>
              <a:t>➤ Only two vowels are needed to account for the attested morphological oppositions; I describe them as </a:t>
            </a:r>
            <a:r>
              <a:rPr lang="en-GB" sz="2200" i="1" dirty="0">
                <a:latin typeface="Calibri" panose="020F0502020204030204" pitchFamily="34" charset="0"/>
                <a:cs typeface="Calibri" panose="020F0502020204030204" pitchFamily="34" charset="0"/>
              </a:rPr>
              <a:t>*a</a:t>
            </a:r>
            <a:r>
              <a:rPr lang="en-GB" sz="2200" dirty="0">
                <a:latin typeface="Calibri" panose="020F0502020204030204" pitchFamily="34" charset="0"/>
                <a:cs typeface="Calibri" panose="020F0502020204030204" pitchFamily="34" charset="0"/>
              </a:rPr>
              <a:t> and </a:t>
            </a:r>
            <a:r>
              <a:rPr lang="en-GB" sz="2200" i="1" dirty="0">
                <a:latin typeface="Calibri" panose="020F0502020204030204" pitchFamily="34" charset="0"/>
                <a:cs typeface="Calibri" panose="020F0502020204030204" pitchFamily="34" charset="0"/>
              </a:rPr>
              <a:t>*E</a:t>
            </a:r>
            <a:r>
              <a:rPr lang="en-GB" sz="2200" dirty="0">
                <a:latin typeface="Calibri" panose="020F0502020204030204" pitchFamily="34" charset="0"/>
                <a:cs typeface="Calibri" panose="020F0502020204030204" pitchFamily="34" charset="0"/>
              </a:rPr>
              <a:t> (non-*a)</a:t>
            </a:r>
          </a:p>
          <a:p>
            <a:pPr>
              <a:lnSpc>
                <a:spcPct val="150000"/>
              </a:lnSpc>
            </a:pPr>
            <a:endParaRPr lang="en-GB" sz="2200" dirty="0">
              <a:latin typeface="Calibri" panose="020F0502020204030204" pitchFamily="34" charset="0"/>
              <a:cs typeface="Calibri" panose="020F0502020204030204" pitchFamily="34" charset="0"/>
            </a:endParaRPr>
          </a:p>
          <a:p>
            <a:pPr>
              <a:lnSpc>
                <a:spcPct val="150000"/>
              </a:lnSpc>
            </a:pPr>
            <a:r>
              <a:rPr lang="en-GB" sz="2200" dirty="0">
                <a:latin typeface="Calibri" panose="020F0502020204030204" pitchFamily="34" charset="0"/>
                <a:cs typeface="Calibri" panose="020F0502020204030204" pitchFamily="34" charset="0"/>
              </a:rPr>
              <a:t>➤ The </a:t>
            </a:r>
            <a:r>
              <a:rPr lang="en-GB" sz="2200" i="1" dirty="0">
                <a:latin typeface="Calibri" panose="020F0502020204030204" pitchFamily="34" charset="0"/>
                <a:cs typeface="Calibri" panose="020F0502020204030204" pitchFamily="34" charset="0"/>
              </a:rPr>
              <a:t>*E</a:t>
            </a:r>
            <a:r>
              <a:rPr lang="en-GB" sz="2200" dirty="0">
                <a:latin typeface="Calibri" panose="020F0502020204030204" pitchFamily="34" charset="0"/>
                <a:cs typeface="Calibri" panose="020F0502020204030204" pitchFamily="34" charset="0"/>
              </a:rPr>
              <a:t> vowel can surface as ⲏ /e/ or ⲓ /</a:t>
            </a:r>
            <a:r>
              <a:rPr lang="en-GB" sz="2200" dirty="0" err="1">
                <a:latin typeface="Calibri" panose="020F0502020204030204" pitchFamily="34" charset="0"/>
                <a:cs typeface="Calibri" panose="020F0502020204030204" pitchFamily="34" charset="0"/>
              </a:rPr>
              <a:t>i</a:t>
            </a:r>
            <a:r>
              <a:rPr lang="en-GB" sz="2200" dirty="0">
                <a:latin typeface="Calibri" panose="020F0502020204030204" pitchFamily="34" charset="0"/>
                <a:cs typeface="Calibri" panose="020F0502020204030204" pitchFamily="34" charset="0"/>
              </a:rPr>
              <a:t>/, depending on the morphological context and/or the form of the root (presence/absence of weak consonants)</a:t>
            </a:r>
          </a:p>
        </p:txBody>
      </p:sp>
      <p:sp>
        <p:nvSpPr>
          <p:cNvPr id="7" name="Titel 6">
            <a:extLst>
              <a:ext uri="{FF2B5EF4-FFF2-40B4-BE49-F238E27FC236}">
                <a16:creationId xmlns:a16="http://schemas.microsoft.com/office/drawing/2014/main" id="{67161792-5B94-6036-B780-82A25E50E611}"/>
              </a:ext>
            </a:extLst>
          </p:cNvPr>
          <p:cNvSpPr txBox="1">
            <a:spLocks/>
          </p:cNvSpPr>
          <p:nvPr/>
        </p:nvSpPr>
        <p:spPr>
          <a:xfrm>
            <a:off x="695400" y="1342031"/>
            <a:ext cx="71203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This suggests that:</a:t>
            </a:r>
          </a:p>
          <a:p>
            <a:endParaRPr lang="en-GB" noProof="1">
              <a:latin typeface="Calibri" panose="020F0502020204030204" pitchFamily="34" charset="0"/>
              <a:cs typeface="Calibri" panose="020F0502020204030204" pitchFamily="34" charset="0"/>
            </a:endParaRPr>
          </a:p>
        </p:txBody>
      </p:sp>
      <p:sp>
        <p:nvSpPr>
          <p:cNvPr id="12" name="Titel 6">
            <a:extLst>
              <a:ext uri="{FF2B5EF4-FFF2-40B4-BE49-F238E27FC236}">
                <a16:creationId xmlns:a16="http://schemas.microsoft.com/office/drawing/2014/main" id="{DA3BBA37-3F2B-C9FE-DF5A-6190FEAB6A30}"/>
              </a:ext>
            </a:extLst>
          </p:cNvPr>
          <p:cNvSpPr>
            <a:spLocks noGrp="1"/>
          </p:cNvSpPr>
          <p:nvPr>
            <p:ph type="title"/>
          </p:nvPr>
        </p:nvSpPr>
        <p:spPr>
          <a:xfrm>
            <a:off x="334800" y="404813"/>
            <a:ext cx="11521840" cy="755936"/>
          </a:xfrm>
        </p:spPr>
        <p:txBody>
          <a:bodyPr/>
          <a:lstStyle/>
          <a:p>
            <a:r>
              <a:rPr lang="en-GB" noProof="1"/>
              <a:t>Morphological minimal pairs : </a:t>
            </a:r>
            <a:r>
              <a:rPr lang="en-GB" dirty="0">
                <a:cs typeface="Calibri" panose="020F0502020204030204" pitchFamily="34" charset="0"/>
              </a:rPr>
              <a:t>summary</a:t>
            </a:r>
            <a:endParaRPr lang="de-CH" dirty="0"/>
          </a:p>
        </p:txBody>
      </p:sp>
    </p:spTree>
    <p:extLst>
      <p:ext uri="{BB962C8B-B14F-4D97-AF65-F5344CB8AC3E}">
        <p14:creationId xmlns:p14="http://schemas.microsoft.com/office/powerpoint/2010/main" val="748741632"/>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E094-94E7-E78C-0893-8E9A32FD7C04}"/>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244E3F4-CD09-BB13-7D29-038A4E6F50DE}"/>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7B9988BD-3AFD-8AB9-8E72-B89ACF93B699}"/>
              </a:ext>
            </a:extLst>
          </p:cNvPr>
          <p:cNvSpPr>
            <a:spLocks noGrp="1"/>
          </p:cNvSpPr>
          <p:nvPr>
            <p:ph type="sldNum" sz="quarter" idx="12"/>
          </p:nvPr>
        </p:nvSpPr>
        <p:spPr/>
        <p:txBody>
          <a:bodyPr/>
          <a:lstStyle/>
          <a:p>
            <a:fld id="{B3811826-9277-4232-A2B5-17D05DFC7392}" type="slidenum">
              <a:rPr lang="en-GB" smtClean="0"/>
              <a:pPr/>
              <a:t>25</a:t>
            </a:fld>
            <a:endParaRPr lang="en-GB" dirty="0"/>
          </a:p>
        </p:txBody>
      </p:sp>
      <p:cxnSp>
        <p:nvCxnSpPr>
          <p:cNvPr id="9" name="Gerade Verbindung 7">
            <a:extLst>
              <a:ext uri="{FF2B5EF4-FFF2-40B4-BE49-F238E27FC236}">
                <a16:creationId xmlns:a16="http://schemas.microsoft.com/office/drawing/2014/main" id="{FA47CFA2-A1BE-3D19-D77E-F07E8C00A695}"/>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EC6ECE09-E0A3-5180-D4B6-EDA2CAF9816A}"/>
              </a:ext>
            </a:extLst>
          </p:cNvPr>
          <p:cNvSpPr>
            <a:spLocks noGrp="1"/>
          </p:cNvSpPr>
          <p:nvPr>
            <p:ph type="title"/>
          </p:nvPr>
        </p:nvSpPr>
        <p:spPr>
          <a:xfrm>
            <a:off x="334800" y="404813"/>
            <a:ext cx="11521840" cy="755936"/>
          </a:xfrm>
        </p:spPr>
        <p:txBody>
          <a:bodyPr/>
          <a:lstStyle/>
          <a:p>
            <a:r>
              <a:rPr lang="en-GB" dirty="0"/>
              <a:t>Is this really a morphological opposition?</a:t>
            </a:r>
          </a:p>
        </p:txBody>
      </p:sp>
      <p:sp>
        <p:nvSpPr>
          <p:cNvPr id="3" name="Datumsplatzhalter 3">
            <a:extLst>
              <a:ext uri="{FF2B5EF4-FFF2-40B4-BE49-F238E27FC236}">
                <a16:creationId xmlns:a16="http://schemas.microsoft.com/office/drawing/2014/main" id="{C5857BD9-F799-AE2C-50C7-CF7E350845D4}"/>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4F982456-78D2-E00A-13C0-1D0BFC6D2416}"/>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pic>
        <p:nvPicPr>
          <p:cNvPr id="19" name="Grafik 18">
            <a:extLst>
              <a:ext uri="{FF2B5EF4-FFF2-40B4-BE49-F238E27FC236}">
                <a16:creationId xmlns:a16="http://schemas.microsoft.com/office/drawing/2014/main" id="{2C335607-9841-FB8C-3DF4-01B539C40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800" y="1288486"/>
            <a:ext cx="6629400" cy="2844800"/>
          </a:xfrm>
          <a:prstGeom prst="rect">
            <a:avLst/>
          </a:prstGeom>
        </p:spPr>
      </p:pic>
      <p:sp>
        <p:nvSpPr>
          <p:cNvPr id="11" name="Textfeld 10">
            <a:extLst>
              <a:ext uri="{FF2B5EF4-FFF2-40B4-BE49-F238E27FC236}">
                <a16:creationId xmlns:a16="http://schemas.microsoft.com/office/drawing/2014/main" id="{F93F9F25-B9FA-21F6-7E8A-2E05A7F94867}"/>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cxnSp>
        <p:nvCxnSpPr>
          <p:cNvPr id="14" name="Gerade Verbindung 13">
            <a:extLst>
              <a:ext uri="{FF2B5EF4-FFF2-40B4-BE49-F238E27FC236}">
                <a16:creationId xmlns:a16="http://schemas.microsoft.com/office/drawing/2014/main" id="{D23F0A0B-C8A5-3630-E373-BEC4B233B2AD}"/>
              </a:ext>
            </a:extLst>
          </p:cNvPr>
          <p:cNvCxnSpPr>
            <a:cxnSpLocks/>
          </p:cNvCxnSpPr>
          <p:nvPr/>
        </p:nvCxnSpPr>
        <p:spPr>
          <a:xfrm>
            <a:off x="7320136" y="1160749"/>
            <a:ext cx="0" cy="496855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4221"/>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D961-B4E2-392E-182B-C98FEB447A8A}"/>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3CE0654C-D67C-84F7-8B36-A435AD014611}"/>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A6FC98FD-CD69-6C72-2B68-E10957CE1102}"/>
              </a:ext>
            </a:extLst>
          </p:cNvPr>
          <p:cNvSpPr>
            <a:spLocks noGrp="1"/>
          </p:cNvSpPr>
          <p:nvPr>
            <p:ph type="sldNum" sz="quarter" idx="12"/>
          </p:nvPr>
        </p:nvSpPr>
        <p:spPr/>
        <p:txBody>
          <a:bodyPr/>
          <a:lstStyle/>
          <a:p>
            <a:fld id="{B3811826-9277-4232-A2B5-17D05DFC7392}" type="slidenum">
              <a:rPr lang="en-GB" smtClean="0"/>
              <a:pPr/>
              <a:t>26</a:t>
            </a:fld>
            <a:endParaRPr lang="en-GB" dirty="0"/>
          </a:p>
        </p:txBody>
      </p:sp>
      <p:cxnSp>
        <p:nvCxnSpPr>
          <p:cNvPr id="9" name="Gerade Verbindung 7">
            <a:extLst>
              <a:ext uri="{FF2B5EF4-FFF2-40B4-BE49-F238E27FC236}">
                <a16:creationId xmlns:a16="http://schemas.microsoft.com/office/drawing/2014/main" id="{2ACD03E6-C57B-2848-E168-2A74370A98D6}"/>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7B682168-DBCB-2C85-8533-C07F07CFB274}"/>
              </a:ext>
            </a:extLst>
          </p:cNvPr>
          <p:cNvSpPr>
            <a:spLocks noGrp="1"/>
          </p:cNvSpPr>
          <p:nvPr>
            <p:ph type="title"/>
          </p:nvPr>
        </p:nvSpPr>
        <p:spPr>
          <a:xfrm>
            <a:off x="334800" y="404813"/>
            <a:ext cx="11521840" cy="755936"/>
          </a:xfrm>
        </p:spPr>
        <p:txBody>
          <a:bodyPr/>
          <a:lstStyle/>
          <a:p>
            <a:r>
              <a:rPr lang="en-GB" dirty="0"/>
              <a:t>Is this really a morphological opposition?</a:t>
            </a:r>
          </a:p>
        </p:txBody>
      </p:sp>
      <p:sp>
        <p:nvSpPr>
          <p:cNvPr id="3" name="Datumsplatzhalter 3">
            <a:extLst>
              <a:ext uri="{FF2B5EF4-FFF2-40B4-BE49-F238E27FC236}">
                <a16:creationId xmlns:a16="http://schemas.microsoft.com/office/drawing/2014/main" id="{DD2B8973-82E5-6D77-2286-3A19AAB5FC78}"/>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447D7164-D404-B82B-4C9F-EEF0C97084A8}"/>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pic>
        <p:nvPicPr>
          <p:cNvPr id="19" name="Grafik 18">
            <a:extLst>
              <a:ext uri="{FF2B5EF4-FFF2-40B4-BE49-F238E27FC236}">
                <a16:creationId xmlns:a16="http://schemas.microsoft.com/office/drawing/2014/main" id="{14E8E312-C1BA-8A09-EB9E-BA58E8494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800" y="1288486"/>
            <a:ext cx="6629400" cy="2844800"/>
          </a:xfrm>
          <a:prstGeom prst="rect">
            <a:avLst/>
          </a:prstGeom>
        </p:spPr>
      </p:pic>
      <p:sp>
        <p:nvSpPr>
          <p:cNvPr id="11" name="Textfeld 10">
            <a:extLst>
              <a:ext uri="{FF2B5EF4-FFF2-40B4-BE49-F238E27FC236}">
                <a16:creationId xmlns:a16="http://schemas.microsoft.com/office/drawing/2014/main" id="{27BB490C-B1A6-3865-7413-EFD0F2DF03C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12" name="Geschweifte Klammer rechts 11">
            <a:extLst>
              <a:ext uri="{FF2B5EF4-FFF2-40B4-BE49-F238E27FC236}">
                <a16:creationId xmlns:a16="http://schemas.microsoft.com/office/drawing/2014/main" id="{A59AB99C-660E-78D3-0F72-97DA95799859}"/>
              </a:ext>
            </a:extLst>
          </p:cNvPr>
          <p:cNvSpPr/>
          <p:nvPr/>
        </p:nvSpPr>
        <p:spPr>
          <a:xfrm rot="5400000">
            <a:off x="2171564" y="2096852"/>
            <a:ext cx="288032" cy="1656184"/>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3" name="Geschweifte Klammer rechts 12">
            <a:extLst>
              <a:ext uri="{FF2B5EF4-FFF2-40B4-BE49-F238E27FC236}">
                <a16:creationId xmlns:a16="http://schemas.microsoft.com/office/drawing/2014/main" id="{C53779CF-A19E-C546-5DEC-CCC172916F8C}"/>
              </a:ext>
            </a:extLst>
          </p:cNvPr>
          <p:cNvSpPr/>
          <p:nvPr/>
        </p:nvSpPr>
        <p:spPr>
          <a:xfrm rot="5400000">
            <a:off x="3480671" y="3920577"/>
            <a:ext cx="323552" cy="70951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4" name="Gerade Verbindung 13">
            <a:extLst>
              <a:ext uri="{FF2B5EF4-FFF2-40B4-BE49-F238E27FC236}">
                <a16:creationId xmlns:a16="http://schemas.microsoft.com/office/drawing/2014/main" id="{D971EA31-EF41-7E3C-57DB-CCA4E6115EE7}"/>
              </a:ext>
            </a:extLst>
          </p:cNvPr>
          <p:cNvCxnSpPr>
            <a:cxnSpLocks/>
          </p:cNvCxnSpPr>
          <p:nvPr/>
        </p:nvCxnSpPr>
        <p:spPr>
          <a:xfrm>
            <a:off x="7320136" y="1160749"/>
            <a:ext cx="0" cy="496855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39E9209-00B7-8E9A-33FB-96184BBBE560}"/>
              </a:ext>
            </a:extLst>
          </p:cNvPr>
          <p:cNvSpPr txBox="1"/>
          <p:nvPr/>
        </p:nvSpPr>
        <p:spPr>
          <a:xfrm>
            <a:off x="695400" y="4449119"/>
            <a:ext cx="6120674" cy="1751955"/>
          </a:xfrm>
          <a:prstGeom prst="rect">
            <a:avLst/>
          </a:prstGeom>
          <a:noFill/>
        </p:spPr>
        <p:txBody>
          <a:bodyPr wrap="square" lIns="0" tIns="0" rIns="0" bIns="0" rtlCol="0">
            <a:noAutofit/>
          </a:bodyPr>
          <a:lstStyle/>
          <a:p>
            <a:pPr>
              <a:lnSpc>
                <a:spcPts val="2200"/>
              </a:lnSpc>
            </a:pPr>
            <a:endParaRPr lang="en-GB" sz="2200" dirty="0"/>
          </a:p>
          <a:p>
            <a:pPr>
              <a:lnSpc>
                <a:spcPct val="150000"/>
              </a:lnSpc>
            </a:pPr>
            <a:r>
              <a:rPr lang="en-GB" dirty="0"/>
              <a:t>➤ *a : primarily active/qual.</a:t>
            </a:r>
          </a:p>
          <a:p>
            <a:pPr>
              <a:lnSpc>
                <a:spcPct val="150000"/>
              </a:lnSpc>
            </a:pPr>
            <a:r>
              <a:rPr lang="en-GB" dirty="0"/>
              <a:t>➤ *E : primarily pass./res</a:t>
            </a:r>
          </a:p>
        </p:txBody>
      </p:sp>
      <p:sp>
        <p:nvSpPr>
          <p:cNvPr id="20" name="Textfeld 19">
            <a:extLst>
              <a:ext uri="{FF2B5EF4-FFF2-40B4-BE49-F238E27FC236}">
                <a16:creationId xmlns:a16="http://schemas.microsoft.com/office/drawing/2014/main" id="{9CEAD9FF-2F6D-7DE3-FC4E-57077B7EFE12}"/>
              </a:ext>
            </a:extLst>
          </p:cNvPr>
          <p:cNvSpPr txBox="1"/>
          <p:nvPr/>
        </p:nvSpPr>
        <p:spPr>
          <a:xfrm>
            <a:off x="4263702" y="5044898"/>
            <a:ext cx="2552372" cy="568115"/>
          </a:xfrm>
          <a:prstGeom prst="rect">
            <a:avLst/>
          </a:prstGeom>
          <a:noFill/>
        </p:spPr>
        <p:txBody>
          <a:bodyPr wrap="square" lIns="0" tIns="0" rIns="0" bIns="0" rtlCol="0">
            <a:noAutofit/>
          </a:bodyPr>
          <a:lstStyle/>
          <a:p>
            <a:pPr>
              <a:lnSpc>
                <a:spcPts val="2200"/>
              </a:lnSpc>
            </a:pPr>
            <a:r>
              <a:rPr lang="en-GB" dirty="0"/>
              <a:t>+/- External Agent</a:t>
            </a:r>
          </a:p>
        </p:txBody>
      </p:sp>
      <p:sp>
        <p:nvSpPr>
          <p:cNvPr id="2" name="Geschweifte Klammer rechts 1">
            <a:extLst>
              <a:ext uri="{FF2B5EF4-FFF2-40B4-BE49-F238E27FC236}">
                <a16:creationId xmlns:a16="http://schemas.microsoft.com/office/drawing/2014/main" id="{710F918E-4654-3C0C-6D67-BC6920804D5A}"/>
              </a:ext>
            </a:extLst>
          </p:cNvPr>
          <p:cNvSpPr/>
          <p:nvPr/>
        </p:nvSpPr>
        <p:spPr>
          <a:xfrm>
            <a:off x="3759640" y="4859996"/>
            <a:ext cx="213412" cy="568115"/>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794010320"/>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E155-E5CB-369B-0F8B-F4A82E7BC64D}"/>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297B6C78-6E27-BD3A-E92E-E751B99D1A15}"/>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AAD388DF-B838-E8F8-135B-F4D089DE63DF}"/>
              </a:ext>
            </a:extLst>
          </p:cNvPr>
          <p:cNvSpPr>
            <a:spLocks noGrp="1"/>
          </p:cNvSpPr>
          <p:nvPr>
            <p:ph type="sldNum" sz="quarter" idx="12"/>
          </p:nvPr>
        </p:nvSpPr>
        <p:spPr/>
        <p:txBody>
          <a:bodyPr/>
          <a:lstStyle/>
          <a:p>
            <a:fld id="{B3811826-9277-4232-A2B5-17D05DFC7392}" type="slidenum">
              <a:rPr lang="en-GB" smtClean="0"/>
              <a:pPr/>
              <a:t>27</a:t>
            </a:fld>
            <a:endParaRPr lang="en-GB" dirty="0"/>
          </a:p>
        </p:txBody>
      </p:sp>
      <p:cxnSp>
        <p:nvCxnSpPr>
          <p:cNvPr id="9" name="Gerade Verbindung 7">
            <a:extLst>
              <a:ext uri="{FF2B5EF4-FFF2-40B4-BE49-F238E27FC236}">
                <a16:creationId xmlns:a16="http://schemas.microsoft.com/office/drawing/2014/main" id="{CFAFDEDF-5BD5-DF61-8825-2609266E104B}"/>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7E7C4670-B754-DDEA-B131-01EF70017893}"/>
              </a:ext>
            </a:extLst>
          </p:cNvPr>
          <p:cNvSpPr>
            <a:spLocks noGrp="1"/>
          </p:cNvSpPr>
          <p:nvPr>
            <p:ph type="title"/>
          </p:nvPr>
        </p:nvSpPr>
        <p:spPr>
          <a:xfrm>
            <a:off x="334800" y="404813"/>
            <a:ext cx="11521840" cy="755936"/>
          </a:xfrm>
        </p:spPr>
        <p:txBody>
          <a:bodyPr/>
          <a:lstStyle/>
          <a:p>
            <a:r>
              <a:rPr lang="en-GB" dirty="0"/>
              <a:t>Is this really a morphological opposition?</a:t>
            </a:r>
          </a:p>
        </p:txBody>
      </p:sp>
      <p:sp>
        <p:nvSpPr>
          <p:cNvPr id="3" name="Datumsplatzhalter 3">
            <a:extLst>
              <a:ext uri="{FF2B5EF4-FFF2-40B4-BE49-F238E27FC236}">
                <a16:creationId xmlns:a16="http://schemas.microsoft.com/office/drawing/2014/main" id="{43FEEE8A-5FBD-69EE-9769-324D5412A669}"/>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54F65DD8-96EA-09A3-80EF-47EF457167C2}"/>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pic>
        <p:nvPicPr>
          <p:cNvPr id="19" name="Grafik 18">
            <a:extLst>
              <a:ext uri="{FF2B5EF4-FFF2-40B4-BE49-F238E27FC236}">
                <a16:creationId xmlns:a16="http://schemas.microsoft.com/office/drawing/2014/main" id="{A1F14AD8-E370-A276-B594-D4A9290C0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800" y="1288486"/>
            <a:ext cx="6629400" cy="2844800"/>
          </a:xfrm>
          <a:prstGeom prst="rect">
            <a:avLst/>
          </a:prstGeom>
        </p:spPr>
      </p:pic>
      <p:sp>
        <p:nvSpPr>
          <p:cNvPr id="11" name="Textfeld 10">
            <a:extLst>
              <a:ext uri="{FF2B5EF4-FFF2-40B4-BE49-F238E27FC236}">
                <a16:creationId xmlns:a16="http://schemas.microsoft.com/office/drawing/2014/main" id="{494772F1-CFAF-DCC9-6554-B849B54C7E1D}"/>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12" name="Geschweifte Klammer rechts 11">
            <a:extLst>
              <a:ext uri="{FF2B5EF4-FFF2-40B4-BE49-F238E27FC236}">
                <a16:creationId xmlns:a16="http://schemas.microsoft.com/office/drawing/2014/main" id="{D30772F1-6831-03CD-69A7-E5BA3C92BC4B}"/>
              </a:ext>
            </a:extLst>
          </p:cNvPr>
          <p:cNvSpPr/>
          <p:nvPr/>
        </p:nvSpPr>
        <p:spPr>
          <a:xfrm rot="5400000">
            <a:off x="2171564" y="2096852"/>
            <a:ext cx="288032" cy="1656184"/>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3" name="Geschweifte Klammer rechts 12">
            <a:extLst>
              <a:ext uri="{FF2B5EF4-FFF2-40B4-BE49-F238E27FC236}">
                <a16:creationId xmlns:a16="http://schemas.microsoft.com/office/drawing/2014/main" id="{D309E59F-3583-9F19-B665-27B1AD9B1C3C}"/>
              </a:ext>
            </a:extLst>
          </p:cNvPr>
          <p:cNvSpPr/>
          <p:nvPr/>
        </p:nvSpPr>
        <p:spPr>
          <a:xfrm rot="5400000">
            <a:off x="3480671" y="3920577"/>
            <a:ext cx="323552" cy="70951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4" name="Gerade Verbindung 13">
            <a:extLst>
              <a:ext uri="{FF2B5EF4-FFF2-40B4-BE49-F238E27FC236}">
                <a16:creationId xmlns:a16="http://schemas.microsoft.com/office/drawing/2014/main" id="{F7EE038D-7E3D-33BB-F670-FC96CBE3D9CB}"/>
              </a:ext>
            </a:extLst>
          </p:cNvPr>
          <p:cNvCxnSpPr>
            <a:cxnSpLocks/>
          </p:cNvCxnSpPr>
          <p:nvPr/>
        </p:nvCxnSpPr>
        <p:spPr>
          <a:xfrm>
            <a:off x="7320136" y="1160749"/>
            <a:ext cx="0" cy="496855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5FD912CF-25FA-DCE3-5A41-16FDCEDA2EFD}"/>
              </a:ext>
            </a:extLst>
          </p:cNvPr>
          <p:cNvSpPr txBox="1"/>
          <p:nvPr/>
        </p:nvSpPr>
        <p:spPr>
          <a:xfrm>
            <a:off x="695400" y="4449119"/>
            <a:ext cx="6120674" cy="1751955"/>
          </a:xfrm>
          <a:prstGeom prst="rect">
            <a:avLst/>
          </a:prstGeom>
          <a:noFill/>
        </p:spPr>
        <p:txBody>
          <a:bodyPr wrap="square" lIns="0" tIns="0" rIns="0" bIns="0" rtlCol="0">
            <a:noAutofit/>
          </a:bodyPr>
          <a:lstStyle/>
          <a:p>
            <a:pPr>
              <a:lnSpc>
                <a:spcPts val="2200"/>
              </a:lnSpc>
            </a:pPr>
            <a:endParaRPr lang="en-GB" sz="2200" dirty="0"/>
          </a:p>
          <a:p>
            <a:pPr>
              <a:lnSpc>
                <a:spcPct val="150000"/>
              </a:lnSpc>
            </a:pPr>
            <a:r>
              <a:rPr lang="en-GB" dirty="0"/>
              <a:t>➤ *a : primarily active/qual.</a:t>
            </a:r>
          </a:p>
          <a:p>
            <a:pPr>
              <a:lnSpc>
                <a:spcPct val="150000"/>
              </a:lnSpc>
            </a:pPr>
            <a:r>
              <a:rPr lang="en-GB" dirty="0"/>
              <a:t>➤ *E : primarily pass./res</a:t>
            </a:r>
          </a:p>
        </p:txBody>
      </p:sp>
      <p:sp>
        <p:nvSpPr>
          <p:cNvPr id="21" name="Textfeld 20">
            <a:extLst>
              <a:ext uri="{FF2B5EF4-FFF2-40B4-BE49-F238E27FC236}">
                <a16:creationId xmlns:a16="http://schemas.microsoft.com/office/drawing/2014/main" id="{E5AF99D1-4352-C95B-29E0-535E3B615ABB}"/>
              </a:ext>
            </a:extLst>
          </p:cNvPr>
          <p:cNvSpPr txBox="1"/>
          <p:nvPr/>
        </p:nvSpPr>
        <p:spPr>
          <a:xfrm>
            <a:off x="7644173" y="1239371"/>
            <a:ext cx="3960439" cy="3845813"/>
          </a:xfrm>
          <a:prstGeom prst="rect">
            <a:avLst/>
          </a:prstGeom>
          <a:noFill/>
        </p:spPr>
        <p:txBody>
          <a:bodyPr wrap="none" lIns="0" tIns="0" rIns="0" bIns="0" rtlCol="0">
            <a:noAutofit/>
          </a:bodyPr>
          <a:lstStyle/>
          <a:p>
            <a:pPr fontAlgn="b"/>
            <a:endParaRPr lang="en-GB" sz="1600" noProof="1"/>
          </a:p>
          <a:p>
            <a:pPr fontAlgn="b"/>
            <a:r>
              <a:rPr lang="en-GB" sz="1600" noProof="1"/>
              <a:t>- [S] ⲟⲩⲏⲏⲃ |wéːb| : 'priest' </a:t>
            </a:r>
            <a:br>
              <a:rPr lang="en-GB" sz="1600" noProof="1"/>
            </a:br>
            <a:r>
              <a:rPr lang="en-GB" sz="1600" noProof="1"/>
              <a:t>	&lt; 'one who purifies himself' ?</a:t>
            </a:r>
          </a:p>
          <a:p>
            <a:pPr marL="285750" indent="-285750" fontAlgn="b">
              <a:buFontTx/>
              <a:buChar char="-"/>
            </a:pPr>
            <a:endParaRPr lang="en-GB" sz="1600" noProof="1"/>
          </a:p>
          <a:p>
            <a:pPr fontAlgn="b"/>
            <a:r>
              <a:rPr lang="en-GB" sz="1600" noProof="1"/>
              <a:t>- [S] ⲥⲣⲙⲉ |sᵊrmɛ́| : 'wander', 'vagrant'</a:t>
            </a:r>
          </a:p>
          <a:p>
            <a:pPr fontAlgn="b"/>
            <a:r>
              <a:rPr lang="en-GB" sz="1600" noProof="1"/>
              <a:t>	&lt; 'one who moves away'</a:t>
            </a:r>
          </a:p>
          <a:p>
            <a:pPr marL="285750" indent="-285750" fontAlgn="b">
              <a:buFontTx/>
              <a:buChar char="-"/>
            </a:pPr>
            <a:endParaRPr lang="en-GB" sz="1600" noProof="1"/>
          </a:p>
          <a:p>
            <a:pPr fontAlgn="b"/>
            <a:r>
              <a:rPr lang="en-GB" sz="1600" noProof="1"/>
              <a:t>- [S] ⲙⲏⲏϣⲉ |méːšə| : 'troops', 'crowd'</a:t>
            </a:r>
          </a:p>
          <a:p>
            <a:pPr fontAlgn="b"/>
            <a:r>
              <a:rPr lang="en-GB" sz="1600" noProof="1"/>
              <a:t>	&lt; 'those who march'</a:t>
            </a:r>
          </a:p>
          <a:p>
            <a:pPr fontAlgn="b"/>
            <a:endParaRPr lang="en-GB" sz="1600" noProof="1"/>
          </a:p>
          <a:p>
            <a:pPr fontAlgn="b"/>
            <a:r>
              <a:rPr lang="en-GB" sz="1600" noProof="1"/>
              <a:t>- [F] ϫⲉⲛϯ |čɛ́ntɨ| : 'wrath'</a:t>
            </a:r>
          </a:p>
          <a:p>
            <a:pPr fontAlgn="b"/>
            <a:endParaRPr lang="en-GB" sz="1600" noProof="1"/>
          </a:p>
          <a:p>
            <a:pPr fontAlgn="b"/>
            <a:r>
              <a:rPr lang="en-GB" sz="1600" noProof="1"/>
              <a:t>- [S] ⲥⲛⲁⲧ |sᵊnat| : 'feat', 'to be(come?) afraid'</a:t>
            </a:r>
          </a:p>
        </p:txBody>
      </p:sp>
    </p:spTree>
    <p:extLst>
      <p:ext uri="{BB962C8B-B14F-4D97-AF65-F5344CB8AC3E}">
        <p14:creationId xmlns:p14="http://schemas.microsoft.com/office/powerpoint/2010/main" val="2451671443"/>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3BC7-F6B6-7340-A6F7-CA280A7CEC1D}"/>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90D12826-CB05-9111-BF87-439A30349289}"/>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32A61163-971B-6E85-3ECA-8B290556F2F8}"/>
              </a:ext>
            </a:extLst>
          </p:cNvPr>
          <p:cNvSpPr>
            <a:spLocks noGrp="1"/>
          </p:cNvSpPr>
          <p:nvPr>
            <p:ph type="sldNum" sz="quarter" idx="12"/>
          </p:nvPr>
        </p:nvSpPr>
        <p:spPr/>
        <p:txBody>
          <a:bodyPr/>
          <a:lstStyle/>
          <a:p>
            <a:fld id="{B3811826-9277-4232-A2B5-17D05DFC7392}" type="slidenum">
              <a:rPr lang="en-GB" smtClean="0"/>
              <a:pPr/>
              <a:t>28</a:t>
            </a:fld>
            <a:endParaRPr lang="en-GB" dirty="0"/>
          </a:p>
        </p:txBody>
      </p:sp>
      <p:cxnSp>
        <p:nvCxnSpPr>
          <p:cNvPr id="9" name="Gerade Verbindung 7">
            <a:extLst>
              <a:ext uri="{FF2B5EF4-FFF2-40B4-BE49-F238E27FC236}">
                <a16:creationId xmlns:a16="http://schemas.microsoft.com/office/drawing/2014/main" id="{A7FDD5AB-8253-D5EB-77B0-CF79867DE37B}"/>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31A8C53D-375A-D374-E2F0-51FF6BA70D22}"/>
              </a:ext>
            </a:extLst>
          </p:cNvPr>
          <p:cNvSpPr>
            <a:spLocks noGrp="1"/>
          </p:cNvSpPr>
          <p:nvPr>
            <p:ph type="title"/>
          </p:nvPr>
        </p:nvSpPr>
        <p:spPr>
          <a:xfrm>
            <a:off x="334800" y="404813"/>
            <a:ext cx="11521840" cy="755936"/>
          </a:xfrm>
        </p:spPr>
        <p:txBody>
          <a:bodyPr/>
          <a:lstStyle/>
          <a:p>
            <a:r>
              <a:rPr lang="en-GB" dirty="0"/>
              <a:t>Is this really a morphological opposition?</a:t>
            </a:r>
          </a:p>
        </p:txBody>
      </p:sp>
      <p:sp>
        <p:nvSpPr>
          <p:cNvPr id="3" name="Datumsplatzhalter 3">
            <a:extLst>
              <a:ext uri="{FF2B5EF4-FFF2-40B4-BE49-F238E27FC236}">
                <a16:creationId xmlns:a16="http://schemas.microsoft.com/office/drawing/2014/main" id="{5A0C9710-BFAC-763A-7D06-F5E56DCD59D7}"/>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5E3C7E2A-F6FB-8630-1E5D-F7D0C3304154}"/>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pic>
        <p:nvPicPr>
          <p:cNvPr id="19" name="Grafik 18">
            <a:extLst>
              <a:ext uri="{FF2B5EF4-FFF2-40B4-BE49-F238E27FC236}">
                <a16:creationId xmlns:a16="http://schemas.microsoft.com/office/drawing/2014/main" id="{BC5C7CDF-DCA7-4CD7-F0C0-EDCFDD9A8B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800" y="1288486"/>
            <a:ext cx="6629400" cy="2844800"/>
          </a:xfrm>
          <a:prstGeom prst="rect">
            <a:avLst/>
          </a:prstGeom>
        </p:spPr>
      </p:pic>
      <p:sp>
        <p:nvSpPr>
          <p:cNvPr id="11" name="Textfeld 10">
            <a:extLst>
              <a:ext uri="{FF2B5EF4-FFF2-40B4-BE49-F238E27FC236}">
                <a16:creationId xmlns:a16="http://schemas.microsoft.com/office/drawing/2014/main" id="{189BDD67-5390-29A0-A5F2-36E2799AAA71}"/>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12" name="Geschweifte Klammer rechts 11">
            <a:extLst>
              <a:ext uri="{FF2B5EF4-FFF2-40B4-BE49-F238E27FC236}">
                <a16:creationId xmlns:a16="http://schemas.microsoft.com/office/drawing/2014/main" id="{164CC002-B766-5522-8C4F-D262A3DF7CE9}"/>
              </a:ext>
            </a:extLst>
          </p:cNvPr>
          <p:cNvSpPr/>
          <p:nvPr/>
        </p:nvSpPr>
        <p:spPr>
          <a:xfrm rot="5400000">
            <a:off x="2171564" y="2096852"/>
            <a:ext cx="288032" cy="1656184"/>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3" name="Geschweifte Klammer rechts 12">
            <a:extLst>
              <a:ext uri="{FF2B5EF4-FFF2-40B4-BE49-F238E27FC236}">
                <a16:creationId xmlns:a16="http://schemas.microsoft.com/office/drawing/2014/main" id="{5DE2BD87-0F7D-4C65-7A0F-4157D7367955}"/>
              </a:ext>
            </a:extLst>
          </p:cNvPr>
          <p:cNvSpPr/>
          <p:nvPr/>
        </p:nvSpPr>
        <p:spPr>
          <a:xfrm rot="5400000">
            <a:off x="3480671" y="3920577"/>
            <a:ext cx="323552" cy="70951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4" name="Gerade Verbindung 13">
            <a:extLst>
              <a:ext uri="{FF2B5EF4-FFF2-40B4-BE49-F238E27FC236}">
                <a16:creationId xmlns:a16="http://schemas.microsoft.com/office/drawing/2014/main" id="{02E959B1-D575-144B-8B61-8498C2D8F3C0}"/>
              </a:ext>
            </a:extLst>
          </p:cNvPr>
          <p:cNvCxnSpPr>
            <a:cxnSpLocks/>
          </p:cNvCxnSpPr>
          <p:nvPr/>
        </p:nvCxnSpPr>
        <p:spPr>
          <a:xfrm>
            <a:off x="7320136" y="1160749"/>
            <a:ext cx="0" cy="496855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0E583ACC-396C-30AF-7CFC-41BA491B972E}"/>
              </a:ext>
            </a:extLst>
          </p:cNvPr>
          <p:cNvSpPr txBox="1"/>
          <p:nvPr/>
        </p:nvSpPr>
        <p:spPr>
          <a:xfrm>
            <a:off x="695400" y="4449119"/>
            <a:ext cx="6120674" cy="1751955"/>
          </a:xfrm>
          <a:prstGeom prst="rect">
            <a:avLst/>
          </a:prstGeom>
          <a:noFill/>
        </p:spPr>
        <p:txBody>
          <a:bodyPr wrap="square" lIns="0" tIns="0" rIns="0" bIns="0" rtlCol="0">
            <a:noAutofit/>
          </a:bodyPr>
          <a:lstStyle/>
          <a:p>
            <a:pPr>
              <a:lnSpc>
                <a:spcPts val="2200"/>
              </a:lnSpc>
            </a:pPr>
            <a:endParaRPr lang="en-GB" sz="2200" dirty="0"/>
          </a:p>
          <a:p>
            <a:pPr>
              <a:lnSpc>
                <a:spcPct val="150000"/>
              </a:lnSpc>
            </a:pPr>
            <a:r>
              <a:rPr lang="en-GB" dirty="0"/>
              <a:t>➤ *a : primarily active/qual.</a:t>
            </a:r>
          </a:p>
          <a:p>
            <a:pPr>
              <a:lnSpc>
                <a:spcPct val="150000"/>
              </a:lnSpc>
            </a:pPr>
            <a:r>
              <a:rPr lang="en-GB" dirty="0"/>
              <a:t>➤ *E : primarily pass./res</a:t>
            </a:r>
          </a:p>
          <a:p>
            <a:pPr>
              <a:lnSpc>
                <a:spcPct val="150000"/>
              </a:lnSpc>
            </a:pPr>
            <a:endParaRPr lang="en-GB" dirty="0"/>
          </a:p>
        </p:txBody>
      </p:sp>
      <p:sp>
        <p:nvSpPr>
          <p:cNvPr id="20" name="Textfeld 19">
            <a:extLst>
              <a:ext uri="{FF2B5EF4-FFF2-40B4-BE49-F238E27FC236}">
                <a16:creationId xmlns:a16="http://schemas.microsoft.com/office/drawing/2014/main" id="{C5A8A34F-8535-9667-1446-D5C553C4F663}"/>
              </a:ext>
            </a:extLst>
          </p:cNvPr>
          <p:cNvSpPr txBox="1"/>
          <p:nvPr/>
        </p:nvSpPr>
        <p:spPr>
          <a:xfrm>
            <a:off x="4263702" y="5044898"/>
            <a:ext cx="2552372" cy="568115"/>
          </a:xfrm>
          <a:prstGeom prst="rect">
            <a:avLst/>
          </a:prstGeom>
          <a:noFill/>
        </p:spPr>
        <p:txBody>
          <a:bodyPr wrap="square" lIns="0" tIns="0" rIns="0" bIns="0" rtlCol="0">
            <a:noAutofit/>
          </a:bodyPr>
          <a:lstStyle/>
          <a:p>
            <a:pPr>
              <a:lnSpc>
                <a:spcPts val="2200"/>
              </a:lnSpc>
            </a:pPr>
            <a:r>
              <a:rPr lang="en-GB" dirty="0"/>
              <a:t>+/- Change of State</a:t>
            </a:r>
          </a:p>
        </p:txBody>
      </p:sp>
      <p:sp>
        <p:nvSpPr>
          <p:cNvPr id="2" name="Geschweifte Klammer rechts 1">
            <a:extLst>
              <a:ext uri="{FF2B5EF4-FFF2-40B4-BE49-F238E27FC236}">
                <a16:creationId xmlns:a16="http://schemas.microsoft.com/office/drawing/2014/main" id="{9D4AAB32-6FA7-2F37-79E2-07240903FE62}"/>
              </a:ext>
            </a:extLst>
          </p:cNvPr>
          <p:cNvSpPr/>
          <p:nvPr/>
        </p:nvSpPr>
        <p:spPr>
          <a:xfrm>
            <a:off x="3759640" y="4859996"/>
            <a:ext cx="213412" cy="568115"/>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2" name="Textfeld 21">
            <a:extLst>
              <a:ext uri="{FF2B5EF4-FFF2-40B4-BE49-F238E27FC236}">
                <a16:creationId xmlns:a16="http://schemas.microsoft.com/office/drawing/2014/main" id="{E31E7971-D267-53DE-C0AD-49F8D9567C39}"/>
              </a:ext>
            </a:extLst>
          </p:cNvPr>
          <p:cNvSpPr txBox="1"/>
          <p:nvPr/>
        </p:nvSpPr>
        <p:spPr>
          <a:xfrm>
            <a:off x="7644173" y="1239371"/>
            <a:ext cx="3960439" cy="3845813"/>
          </a:xfrm>
          <a:prstGeom prst="rect">
            <a:avLst/>
          </a:prstGeom>
          <a:noFill/>
        </p:spPr>
        <p:txBody>
          <a:bodyPr wrap="none" lIns="0" tIns="0" rIns="0" bIns="0" rtlCol="0">
            <a:noAutofit/>
          </a:bodyPr>
          <a:lstStyle/>
          <a:p>
            <a:pPr fontAlgn="b"/>
            <a:endParaRPr lang="en-GB" sz="1600" noProof="1"/>
          </a:p>
          <a:p>
            <a:pPr fontAlgn="b"/>
            <a:r>
              <a:rPr lang="en-GB" sz="1600" noProof="1"/>
              <a:t>- [S] ⲟⲩⲏⲏⲃ |wéːb| : 'priest' </a:t>
            </a:r>
            <a:br>
              <a:rPr lang="en-GB" sz="1600" noProof="1"/>
            </a:br>
            <a:r>
              <a:rPr lang="en-GB" sz="1600" noProof="1"/>
              <a:t>	&lt; 'one who purifies himself' ?</a:t>
            </a:r>
          </a:p>
          <a:p>
            <a:pPr marL="285750" indent="-285750" fontAlgn="b">
              <a:buFontTx/>
              <a:buChar char="-"/>
            </a:pPr>
            <a:endParaRPr lang="en-GB" sz="1600" noProof="1"/>
          </a:p>
          <a:p>
            <a:pPr fontAlgn="b"/>
            <a:r>
              <a:rPr lang="en-GB" sz="1600" noProof="1"/>
              <a:t>- [S] ⲥⲣⲙⲉ |sᵊrmɛ́| : 'wander', 'vagrant'</a:t>
            </a:r>
          </a:p>
          <a:p>
            <a:pPr fontAlgn="b"/>
            <a:r>
              <a:rPr lang="en-GB" sz="1600" noProof="1"/>
              <a:t>	&lt; 'one who moves away'</a:t>
            </a:r>
          </a:p>
          <a:p>
            <a:pPr marL="285750" indent="-285750" fontAlgn="b">
              <a:buFontTx/>
              <a:buChar char="-"/>
            </a:pPr>
            <a:endParaRPr lang="en-GB" sz="1600" noProof="1"/>
          </a:p>
          <a:p>
            <a:pPr fontAlgn="b"/>
            <a:r>
              <a:rPr lang="en-GB" sz="1600" noProof="1"/>
              <a:t>- [S] ⲙⲏⲏϣⲉ |méːšə| : 'troops', 'crowd'</a:t>
            </a:r>
          </a:p>
          <a:p>
            <a:pPr fontAlgn="b"/>
            <a:r>
              <a:rPr lang="en-GB" sz="1600" noProof="1"/>
              <a:t>	&lt; 'those who march'</a:t>
            </a:r>
          </a:p>
          <a:p>
            <a:pPr fontAlgn="b"/>
            <a:endParaRPr lang="en-GB" sz="1600" noProof="1"/>
          </a:p>
          <a:p>
            <a:pPr fontAlgn="b"/>
            <a:r>
              <a:rPr lang="en-GB" sz="1600" noProof="1"/>
              <a:t>- [F] ϫⲉⲛϯ |čɛ́ntɨ| : 'wrath'</a:t>
            </a:r>
          </a:p>
          <a:p>
            <a:pPr fontAlgn="b"/>
            <a:endParaRPr lang="en-GB" sz="1600" noProof="1"/>
          </a:p>
          <a:p>
            <a:pPr fontAlgn="b"/>
            <a:r>
              <a:rPr lang="en-GB" sz="1600" noProof="1"/>
              <a:t>- [S] ⲥⲛⲁⲧ |sᵊnat| : 'feat', 'to be(come?) afraid'</a:t>
            </a:r>
          </a:p>
          <a:p>
            <a:pPr fontAlgn="b"/>
            <a:endParaRPr lang="en-GB" sz="1600" noProof="1"/>
          </a:p>
          <a:p>
            <a:pPr fontAlgn="b"/>
            <a:endParaRPr lang="en-GB" sz="1600" dirty="0"/>
          </a:p>
          <a:p>
            <a:pPr fontAlgn="b"/>
            <a:r>
              <a:rPr lang="en-GB" sz="1600" dirty="0"/>
              <a:t>cf. German </a:t>
            </a:r>
            <a:r>
              <a:rPr lang="en-GB" sz="1600" dirty="0" err="1"/>
              <a:t>werden</a:t>
            </a:r>
            <a:r>
              <a:rPr lang="en-GB" sz="1600" dirty="0"/>
              <a:t> : </a:t>
            </a:r>
          </a:p>
          <a:p>
            <a:pPr fontAlgn="b"/>
            <a:r>
              <a:rPr lang="en-GB" sz="1600" dirty="0" err="1"/>
              <a:t>kalt</a:t>
            </a:r>
            <a:r>
              <a:rPr lang="en-GB" sz="1600" dirty="0"/>
              <a:t> </a:t>
            </a:r>
            <a:r>
              <a:rPr lang="en-GB" sz="1600" dirty="0" err="1"/>
              <a:t>werden</a:t>
            </a:r>
            <a:r>
              <a:rPr lang="en-GB" sz="1600" dirty="0"/>
              <a:t> : 'to become cold'</a:t>
            </a:r>
          </a:p>
          <a:p>
            <a:pPr fontAlgn="b"/>
            <a:r>
              <a:rPr lang="en-GB" sz="1600" dirty="0"/>
              <a:t>vs </a:t>
            </a:r>
          </a:p>
          <a:p>
            <a:pPr fontAlgn="b"/>
            <a:r>
              <a:rPr lang="en-GB" sz="1600" dirty="0" err="1"/>
              <a:t>gemacht</a:t>
            </a:r>
            <a:r>
              <a:rPr lang="en-GB" sz="1600" dirty="0"/>
              <a:t> </a:t>
            </a:r>
            <a:r>
              <a:rPr lang="en-GB" sz="1600" dirty="0" err="1"/>
              <a:t>werden</a:t>
            </a:r>
            <a:r>
              <a:rPr lang="en-GB" sz="1600" dirty="0"/>
              <a:t> : 'to be made'</a:t>
            </a:r>
          </a:p>
          <a:p>
            <a:pPr fontAlgn="b"/>
            <a:endParaRPr lang="en-GB" sz="1600" noProof="1"/>
          </a:p>
        </p:txBody>
      </p:sp>
    </p:spTree>
    <p:extLst>
      <p:ext uri="{BB962C8B-B14F-4D97-AF65-F5344CB8AC3E}">
        <p14:creationId xmlns:p14="http://schemas.microsoft.com/office/powerpoint/2010/main" val="2710697023"/>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5072-F50A-D8AD-637E-FA28CA1F67F2}"/>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E5CDECF-430D-A39D-AB51-6A32351D4066}"/>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94FC9B9C-EB0D-DBD5-8DEB-FCCF21E66DAE}"/>
              </a:ext>
            </a:extLst>
          </p:cNvPr>
          <p:cNvSpPr>
            <a:spLocks noGrp="1"/>
          </p:cNvSpPr>
          <p:nvPr>
            <p:ph type="sldNum" sz="quarter" idx="12"/>
          </p:nvPr>
        </p:nvSpPr>
        <p:spPr/>
        <p:txBody>
          <a:bodyPr/>
          <a:lstStyle/>
          <a:p>
            <a:fld id="{B3811826-9277-4232-A2B5-17D05DFC7392}" type="slidenum">
              <a:rPr lang="en-GB" smtClean="0"/>
              <a:pPr/>
              <a:t>29</a:t>
            </a:fld>
            <a:endParaRPr lang="en-GB" dirty="0"/>
          </a:p>
        </p:txBody>
      </p:sp>
      <p:cxnSp>
        <p:nvCxnSpPr>
          <p:cNvPr id="9" name="Gerade Verbindung 7">
            <a:extLst>
              <a:ext uri="{FF2B5EF4-FFF2-40B4-BE49-F238E27FC236}">
                <a16:creationId xmlns:a16="http://schemas.microsoft.com/office/drawing/2014/main" id="{15A5CA72-ECA9-4AF5-D100-FB9B272045E8}"/>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1AC962CD-0E62-37D9-A09D-A1204BCF8CFB}"/>
              </a:ext>
            </a:extLst>
          </p:cNvPr>
          <p:cNvSpPr>
            <a:spLocks noGrp="1"/>
          </p:cNvSpPr>
          <p:nvPr>
            <p:ph type="title"/>
          </p:nvPr>
        </p:nvSpPr>
        <p:spPr>
          <a:xfrm>
            <a:off x="334800" y="404813"/>
            <a:ext cx="11521840" cy="755936"/>
          </a:xfrm>
        </p:spPr>
        <p:txBody>
          <a:bodyPr/>
          <a:lstStyle/>
          <a:p>
            <a:r>
              <a:rPr lang="en-GB" dirty="0"/>
              <a:t>Conditioning factors?</a:t>
            </a:r>
          </a:p>
        </p:txBody>
      </p:sp>
      <p:sp>
        <p:nvSpPr>
          <p:cNvPr id="3" name="Datumsplatzhalter 3">
            <a:extLst>
              <a:ext uri="{FF2B5EF4-FFF2-40B4-BE49-F238E27FC236}">
                <a16:creationId xmlns:a16="http://schemas.microsoft.com/office/drawing/2014/main" id="{B5A05E72-CF3F-C7B3-AC47-EA51880F40FE}"/>
              </a:ext>
            </a:extLst>
          </p:cNvPr>
          <p:cNvSpPr>
            <a:spLocks noGrp="1"/>
          </p:cNvSpPr>
          <p:nvPr>
            <p:ph type="dt" sz="half" idx="10"/>
          </p:nvPr>
        </p:nvSpPr>
        <p:spPr>
          <a:xfrm>
            <a:off x="334800" y="6524626"/>
            <a:ext cx="3816984" cy="180000"/>
          </a:xfrm>
        </p:spPr>
        <p:txBody>
          <a:bodyPr/>
          <a:lstStyle/>
          <a:p>
            <a:r>
              <a:rPr lang="en-GB" dirty="0"/>
              <a:t>The Emergence of Ancient Egyptian</a:t>
            </a:r>
          </a:p>
        </p:txBody>
      </p:sp>
      <p:sp>
        <p:nvSpPr>
          <p:cNvPr id="16" name="Textfeld 15">
            <a:extLst>
              <a:ext uri="{FF2B5EF4-FFF2-40B4-BE49-F238E27FC236}">
                <a16:creationId xmlns:a16="http://schemas.microsoft.com/office/drawing/2014/main" id="{30E78223-7547-C594-7CA8-BB80EB42EEDE}"/>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en-GB" dirty="0"/>
          </a:p>
        </p:txBody>
      </p:sp>
      <p:sp>
        <p:nvSpPr>
          <p:cNvPr id="11" name="Textfeld 10">
            <a:extLst>
              <a:ext uri="{FF2B5EF4-FFF2-40B4-BE49-F238E27FC236}">
                <a16:creationId xmlns:a16="http://schemas.microsoft.com/office/drawing/2014/main" id="{01F59E19-1AEC-9740-4BDE-C86DADF6DC4F}"/>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en-GB" dirty="0"/>
          </a:p>
        </p:txBody>
      </p:sp>
      <p:sp>
        <p:nvSpPr>
          <p:cNvPr id="2" name="Textfeld 1">
            <a:extLst>
              <a:ext uri="{FF2B5EF4-FFF2-40B4-BE49-F238E27FC236}">
                <a16:creationId xmlns:a16="http://schemas.microsoft.com/office/drawing/2014/main" id="{2F7B68B7-5B4D-319A-CED0-599D3A5FF4D4}"/>
              </a:ext>
            </a:extLst>
          </p:cNvPr>
          <p:cNvSpPr txBox="1"/>
          <p:nvPr/>
        </p:nvSpPr>
        <p:spPr>
          <a:xfrm>
            <a:off x="1041593" y="2684775"/>
            <a:ext cx="10108254" cy="1488449"/>
          </a:xfrm>
          <a:prstGeom prst="rect">
            <a:avLst/>
          </a:prstGeom>
          <a:noFill/>
        </p:spPr>
        <p:txBody>
          <a:bodyPr wrap="square" lIns="0" tIns="0" rIns="0" bIns="0" rtlCol="0">
            <a:noAutofit/>
          </a:bodyPr>
          <a:lstStyle/>
          <a:p>
            <a:pPr>
              <a:lnSpc>
                <a:spcPct val="150000"/>
              </a:lnSpc>
              <a:spcAft>
                <a:spcPts val="600"/>
              </a:spcAft>
            </a:pPr>
            <a:r>
              <a:rPr lang="en-GB" sz="2200" dirty="0"/>
              <a:t>It does not depend on the nature of the “strong” consonants of the root, as each grammatical form consistently shows the same vowel across different roots.</a:t>
            </a:r>
          </a:p>
          <a:p>
            <a:pPr>
              <a:lnSpc>
                <a:spcPct val="150000"/>
              </a:lnSpc>
              <a:spcAft>
                <a:spcPts val="600"/>
              </a:spcAft>
            </a:pPr>
            <a:endParaRPr lang="en-GB" sz="2200" dirty="0"/>
          </a:p>
          <a:p>
            <a:pPr>
              <a:lnSpc>
                <a:spcPct val="150000"/>
              </a:lnSpc>
              <a:spcAft>
                <a:spcPts val="600"/>
              </a:spcAft>
            </a:pPr>
            <a:endParaRPr lang="en-GB" sz="2200" dirty="0"/>
          </a:p>
        </p:txBody>
      </p:sp>
      <p:sp>
        <p:nvSpPr>
          <p:cNvPr id="8" name="Titel 6">
            <a:extLst>
              <a:ext uri="{FF2B5EF4-FFF2-40B4-BE49-F238E27FC236}">
                <a16:creationId xmlns:a16="http://schemas.microsoft.com/office/drawing/2014/main" id="{835361CE-6FB3-1142-88C6-78128BBCFE52}"/>
              </a:ext>
            </a:extLst>
          </p:cNvPr>
          <p:cNvSpPr txBox="1">
            <a:spLocks/>
          </p:cNvSpPr>
          <p:nvPr/>
        </p:nvSpPr>
        <p:spPr>
          <a:xfrm>
            <a:off x="839416" y="1412628"/>
            <a:ext cx="98650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But then: </a:t>
            </a:r>
          </a:p>
          <a:p>
            <a:r>
              <a:rPr lang="en-GB" noProof="1">
                <a:latin typeface="Calibri" panose="020F0502020204030204" pitchFamily="34" charset="0"/>
                <a:cs typeface="Calibri" panose="020F0502020204030204" pitchFamily="34" charset="0"/>
              </a:rPr>
              <a:t>if </a:t>
            </a:r>
            <a:r>
              <a:rPr lang="en-GB" dirty="0"/>
              <a:t>ⲏ</a:t>
            </a:r>
            <a:r>
              <a:rPr lang="en-GB" noProof="1">
                <a:latin typeface="Calibri" panose="020F0502020204030204" pitchFamily="34" charset="0"/>
                <a:cs typeface="Calibri" panose="020F0502020204030204" pitchFamily="34" charset="0"/>
              </a:rPr>
              <a:t> and ⲓ are allophones of one proto-vowel, what are the conditioning factors?</a:t>
            </a:r>
          </a:p>
        </p:txBody>
      </p:sp>
    </p:spTree>
    <p:extLst>
      <p:ext uri="{BB962C8B-B14F-4D97-AF65-F5344CB8AC3E}">
        <p14:creationId xmlns:p14="http://schemas.microsoft.com/office/powerpoint/2010/main" val="892369850"/>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1289C-C2C2-F10D-34A7-B2C90DDA6F08}"/>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6283E372-A73E-A1A8-1890-A7F11C5C02B8}"/>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11123394-EF79-9E9B-D0C6-F7185895D95C}"/>
              </a:ext>
            </a:extLst>
          </p:cNvPr>
          <p:cNvSpPr>
            <a:spLocks noGrp="1"/>
          </p:cNvSpPr>
          <p:nvPr>
            <p:ph type="sldNum" sz="quarter" idx="12"/>
          </p:nvPr>
        </p:nvSpPr>
        <p:spPr/>
        <p:txBody>
          <a:bodyPr/>
          <a:lstStyle/>
          <a:p>
            <a:fld id="{B3811826-9277-4232-A2B5-17D05DFC7392}" type="slidenum">
              <a:rPr lang="de-CH" smtClean="0"/>
              <a:pPr/>
              <a:t>30</a:t>
            </a:fld>
            <a:endParaRPr lang="de-CH" dirty="0"/>
          </a:p>
        </p:txBody>
      </p:sp>
      <p:cxnSp>
        <p:nvCxnSpPr>
          <p:cNvPr id="9" name="Gerade Verbindung 7">
            <a:extLst>
              <a:ext uri="{FF2B5EF4-FFF2-40B4-BE49-F238E27FC236}">
                <a16:creationId xmlns:a16="http://schemas.microsoft.com/office/drawing/2014/main" id="{9ADD758F-A61E-E777-AD17-C94CD21ABA91}"/>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379B677B-B588-A7F8-69A5-384E04231175}"/>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43062318-BA8E-DF86-786C-FA41C8891B05}"/>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A860A8DC-45DE-F6CD-837E-5E59A67DF27B}"/>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ED948997-43AF-CF76-4959-071BC1C58694}"/>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Textfeld 1">
            <a:extLst>
              <a:ext uri="{FF2B5EF4-FFF2-40B4-BE49-F238E27FC236}">
                <a16:creationId xmlns:a16="http://schemas.microsoft.com/office/drawing/2014/main" id="{44ABB5E3-34FA-63DF-E855-0CE409EB96D6}"/>
              </a:ext>
            </a:extLst>
          </p:cNvPr>
          <p:cNvSpPr txBox="1"/>
          <p:nvPr/>
        </p:nvSpPr>
        <p:spPr>
          <a:xfrm>
            <a:off x="839416" y="1219865"/>
            <a:ext cx="10134828" cy="3756404"/>
          </a:xfrm>
          <a:prstGeom prst="rect">
            <a:avLst/>
          </a:prstGeom>
          <a:noFill/>
        </p:spPr>
        <p:txBody>
          <a:bodyPr wrap="square" lIns="0" tIns="0" rIns="0" bIns="0" rtlCol="0">
            <a:noAutofit/>
          </a:bodyPr>
          <a:lstStyle/>
          <a:p>
            <a:pPr>
              <a:lnSpc>
                <a:spcPct val="150000"/>
              </a:lnSpc>
              <a:spcAft>
                <a:spcPts val="600"/>
              </a:spcAft>
            </a:pPr>
            <a:r>
              <a:rPr lang="en-GB" sz="2200" noProof="1"/>
              <a:t>Rather, the conditions seem to relate to:</a:t>
            </a:r>
          </a:p>
          <a:p>
            <a:pPr>
              <a:lnSpc>
                <a:spcPct val="150000"/>
              </a:lnSpc>
              <a:spcAft>
                <a:spcPts val="600"/>
              </a:spcAft>
            </a:pPr>
            <a:r>
              <a:rPr lang="en-GB" sz="2200" noProof="1"/>
              <a:t>➤ </a:t>
            </a:r>
            <a:r>
              <a:rPr lang="en-GB" sz="2200" b="1" noProof="1"/>
              <a:t>To the form of the root and the possible presence of “weak” consonants</a:t>
            </a:r>
          </a:p>
          <a:p>
            <a:pPr>
              <a:lnSpc>
                <a:spcPct val="150000"/>
              </a:lnSpc>
              <a:spcAft>
                <a:spcPts val="600"/>
              </a:spcAft>
            </a:pPr>
            <a:r>
              <a:rPr lang="en-GB" sz="2200" noProof="1"/>
              <a:t>     3 strong consonants vs less than 3 strong consonants</a:t>
            </a:r>
          </a:p>
          <a:p>
            <a:pPr>
              <a:lnSpc>
                <a:spcPct val="150000"/>
              </a:lnSpc>
              <a:spcAft>
                <a:spcPts val="600"/>
              </a:spcAft>
            </a:pPr>
            <a:r>
              <a:rPr lang="en-GB" sz="2200" noProof="1"/>
              <a:t>	[S] ϣⲙϣⲏⲧ= |šᵊmšét=|		vs	[S] ⲙⲉⲣⲓⲧ= |mᵊrít=|</a:t>
            </a:r>
          </a:p>
          <a:p>
            <a:pPr>
              <a:lnSpc>
                <a:spcPct val="150000"/>
              </a:lnSpc>
              <a:spcAft>
                <a:spcPts val="600"/>
              </a:spcAft>
            </a:pPr>
            <a:r>
              <a:rPr lang="en-GB" sz="2200" b="1" noProof="1"/>
              <a:t>➤ To specific morphological forms</a:t>
            </a:r>
          </a:p>
        </p:txBody>
      </p:sp>
      <p:sp>
        <p:nvSpPr>
          <p:cNvPr id="12" name="Titel 6">
            <a:extLst>
              <a:ext uri="{FF2B5EF4-FFF2-40B4-BE49-F238E27FC236}">
                <a16:creationId xmlns:a16="http://schemas.microsoft.com/office/drawing/2014/main" id="{08A78231-109F-04DF-F7AF-75B3889BA4F4}"/>
              </a:ext>
            </a:extLst>
          </p:cNvPr>
          <p:cNvSpPr>
            <a:spLocks noGrp="1"/>
          </p:cNvSpPr>
          <p:nvPr>
            <p:ph type="title"/>
          </p:nvPr>
        </p:nvSpPr>
        <p:spPr>
          <a:xfrm>
            <a:off x="334800" y="404813"/>
            <a:ext cx="11521840" cy="755936"/>
          </a:xfrm>
        </p:spPr>
        <p:txBody>
          <a:bodyPr/>
          <a:lstStyle/>
          <a:p>
            <a:r>
              <a:rPr lang="en-GB" dirty="0"/>
              <a:t>Conditioning factors?</a:t>
            </a:r>
          </a:p>
        </p:txBody>
      </p:sp>
      <p:sp>
        <p:nvSpPr>
          <p:cNvPr id="4" name="Textfeld 3">
            <a:extLst>
              <a:ext uri="{FF2B5EF4-FFF2-40B4-BE49-F238E27FC236}">
                <a16:creationId xmlns:a16="http://schemas.microsoft.com/office/drawing/2014/main" id="{CCA8D340-9963-9852-8C08-E1396BD22EE2}"/>
              </a:ext>
            </a:extLst>
          </p:cNvPr>
          <p:cNvSpPr txBox="1"/>
          <p:nvPr/>
        </p:nvSpPr>
        <p:spPr>
          <a:xfrm>
            <a:off x="1559496" y="4245321"/>
            <a:ext cx="3613967" cy="1762511"/>
          </a:xfrm>
          <a:prstGeom prst="rect">
            <a:avLst/>
          </a:prstGeom>
          <a:noFill/>
        </p:spPr>
        <p:txBody>
          <a:bodyPr wrap="square" lIns="0" tIns="0" rIns="0" bIns="0" rtlCol="0">
            <a:noAutofit/>
          </a:bodyPr>
          <a:lstStyle/>
          <a:p>
            <a:pPr>
              <a:lnSpc>
                <a:spcPct val="150000"/>
              </a:lnSpc>
              <a:spcAft>
                <a:spcPts val="600"/>
              </a:spcAft>
            </a:pPr>
            <a:r>
              <a:rPr lang="en-GB" sz="2000" b="1" noProof="1"/>
              <a:t>With ⲏ</a:t>
            </a:r>
          </a:p>
          <a:p>
            <a:pPr>
              <a:lnSpc>
                <a:spcPct val="150000"/>
              </a:lnSpc>
              <a:spcAft>
                <a:spcPts val="600"/>
              </a:spcAft>
            </a:pPr>
            <a:r>
              <a:rPr lang="en-GB" sz="2000" noProof="1"/>
              <a:t>- Pseudoparticiples</a:t>
            </a:r>
          </a:p>
          <a:p>
            <a:pPr>
              <a:lnSpc>
                <a:spcPct val="150000"/>
              </a:lnSpc>
              <a:spcAft>
                <a:spcPts val="600"/>
              </a:spcAft>
            </a:pPr>
            <a:r>
              <a:rPr lang="en-GB" sz="2000" noProof="1"/>
              <a:t>- Deverbal feminine nouns</a:t>
            </a:r>
            <a:br>
              <a:rPr lang="en-GB" sz="2000" noProof="1"/>
            </a:br>
            <a:r>
              <a:rPr lang="en-GB" sz="2000" i="1" noProof="1"/>
              <a:t>*CVCCV́ỷVt / *CVCV́CVt  </a:t>
            </a:r>
          </a:p>
        </p:txBody>
      </p:sp>
      <p:cxnSp>
        <p:nvCxnSpPr>
          <p:cNvPr id="8" name="Gerade Verbindung 7">
            <a:extLst>
              <a:ext uri="{FF2B5EF4-FFF2-40B4-BE49-F238E27FC236}">
                <a16:creationId xmlns:a16="http://schemas.microsoft.com/office/drawing/2014/main" id="{70D5493B-E3E4-A69D-7E68-C63D3CEDEE5B}"/>
              </a:ext>
            </a:extLst>
          </p:cNvPr>
          <p:cNvCxnSpPr>
            <a:cxnSpLocks/>
          </p:cNvCxnSpPr>
          <p:nvPr/>
        </p:nvCxnSpPr>
        <p:spPr>
          <a:xfrm>
            <a:off x="5906830" y="4365104"/>
            <a:ext cx="0" cy="187220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56FA72EA-09A0-0969-20C9-0A7214742C42}"/>
              </a:ext>
            </a:extLst>
          </p:cNvPr>
          <p:cNvSpPr txBox="1"/>
          <p:nvPr/>
        </p:nvSpPr>
        <p:spPr>
          <a:xfrm>
            <a:off x="7018537" y="4245321"/>
            <a:ext cx="3613967" cy="1762511"/>
          </a:xfrm>
          <a:prstGeom prst="rect">
            <a:avLst/>
          </a:prstGeom>
          <a:noFill/>
        </p:spPr>
        <p:txBody>
          <a:bodyPr wrap="square" lIns="0" tIns="0" rIns="0" bIns="0" rtlCol="0">
            <a:noAutofit/>
          </a:bodyPr>
          <a:lstStyle/>
          <a:p>
            <a:pPr>
              <a:lnSpc>
                <a:spcPct val="150000"/>
              </a:lnSpc>
              <a:spcAft>
                <a:spcPts val="600"/>
              </a:spcAft>
            </a:pPr>
            <a:r>
              <a:rPr lang="en-GB" sz="2000" b="1" noProof="1"/>
              <a:t>With </a:t>
            </a:r>
            <a:r>
              <a:rPr lang="en-GB" sz="2000" noProof="1"/>
              <a:t>ⲓ</a:t>
            </a:r>
            <a:endParaRPr lang="en-GB" sz="2000" b="1" noProof="1"/>
          </a:p>
          <a:p>
            <a:pPr>
              <a:lnSpc>
                <a:spcPct val="150000"/>
              </a:lnSpc>
              <a:spcAft>
                <a:spcPts val="600"/>
              </a:spcAft>
            </a:pPr>
            <a:r>
              <a:rPr lang="en-GB" sz="2000" noProof="1"/>
              <a:t>- CⲓCⲉ action nouns</a:t>
            </a:r>
          </a:p>
          <a:p>
            <a:pPr>
              <a:lnSpc>
                <a:spcPct val="150000"/>
              </a:lnSpc>
              <a:spcAft>
                <a:spcPts val="600"/>
              </a:spcAft>
            </a:pPr>
            <a:r>
              <a:rPr lang="en-GB" sz="2000" noProof="1"/>
              <a:t>- Nisba</a:t>
            </a:r>
          </a:p>
          <a:p>
            <a:pPr>
              <a:lnSpc>
                <a:spcPct val="150000"/>
              </a:lnSpc>
              <a:spcAft>
                <a:spcPts val="600"/>
              </a:spcAft>
            </a:pPr>
            <a:r>
              <a:rPr lang="en-GB" sz="2000" noProof="1"/>
              <a:t>- -Cⲓⲧ= imperatives</a:t>
            </a:r>
            <a:endParaRPr lang="en-GB" sz="2000" i="1" noProof="1"/>
          </a:p>
        </p:txBody>
      </p:sp>
    </p:spTree>
    <p:extLst>
      <p:ext uri="{BB962C8B-B14F-4D97-AF65-F5344CB8AC3E}">
        <p14:creationId xmlns:p14="http://schemas.microsoft.com/office/powerpoint/2010/main" val="79504284"/>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9C14F-A10D-83D7-E653-7FBF7CCAA997}"/>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0594B264-4B4B-F560-8AB6-18265383B735}"/>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154C2839-F0B5-79F4-01CE-A7C847F57C1A}"/>
              </a:ext>
            </a:extLst>
          </p:cNvPr>
          <p:cNvSpPr>
            <a:spLocks noGrp="1"/>
          </p:cNvSpPr>
          <p:nvPr>
            <p:ph type="sldNum" sz="quarter" idx="12"/>
          </p:nvPr>
        </p:nvSpPr>
        <p:spPr/>
        <p:txBody>
          <a:bodyPr/>
          <a:lstStyle/>
          <a:p>
            <a:fld id="{B3811826-9277-4232-A2B5-17D05DFC7392}" type="slidenum">
              <a:rPr lang="de-CH" smtClean="0"/>
              <a:pPr/>
              <a:t>31</a:t>
            </a:fld>
            <a:endParaRPr lang="de-CH" dirty="0"/>
          </a:p>
        </p:txBody>
      </p:sp>
      <p:cxnSp>
        <p:nvCxnSpPr>
          <p:cNvPr id="9" name="Gerade Verbindung 7">
            <a:extLst>
              <a:ext uri="{FF2B5EF4-FFF2-40B4-BE49-F238E27FC236}">
                <a16:creationId xmlns:a16="http://schemas.microsoft.com/office/drawing/2014/main" id="{1E898A55-4F9D-F89C-212C-A7E787C905A2}"/>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C39116C6-0AEC-EEE1-4B61-0BFE991C2691}"/>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3C42A1A2-9F19-440E-7FE9-10276198297D}"/>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58E6E2DA-CD88-4005-1472-DA972493514B}"/>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A981EAD4-E078-C76A-AED3-6B6B367D83C1}"/>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2" name="Titel 6">
            <a:extLst>
              <a:ext uri="{FF2B5EF4-FFF2-40B4-BE49-F238E27FC236}">
                <a16:creationId xmlns:a16="http://schemas.microsoft.com/office/drawing/2014/main" id="{9A3847BC-A90B-89B9-B0FE-FE0F1FACEE7B}"/>
              </a:ext>
            </a:extLst>
          </p:cNvPr>
          <p:cNvSpPr>
            <a:spLocks noGrp="1"/>
          </p:cNvSpPr>
          <p:nvPr>
            <p:ph type="title"/>
          </p:nvPr>
        </p:nvSpPr>
        <p:spPr>
          <a:xfrm>
            <a:off x="334800" y="404813"/>
            <a:ext cx="11521840" cy="755936"/>
          </a:xfrm>
        </p:spPr>
        <p:txBody>
          <a:bodyPr/>
          <a:lstStyle/>
          <a:p>
            <a:r>
              <a:rPr lang="en-GB" dirty="0"/>
              <a:t>Conditioning factors?</a:t>
            </a:r>
          </a:p>
        </p:txBody>
      </p:sp>
      <p:sp>
        <p:nvSpPr>
          <p:cNvPr id="8" name="Textfeld 7">
            <a:extLst>
              <a:ext uri="{FF2B5EF4-FFF2-40B4-BE49-F238E27FC236}">
                <a16:creationId xmlns:a16="http://schemas.microsoft.com/office/drawing/2014/main" id="{8C7C4361-ACA7-6681-7977-245ED9CA313B}"/>
              </a:ext>
            </a:extLst>
          </p:cNvPr>
          <p:cNvSpPr txBox="1"/>
          <p:nvPr/>
        </p:nvSpPr>
        <p:spPr>
          <a:xfrm>
            <a:off x="767408" y="1271139"/>
            <a:ext cx="10009112" cy="948914"/>
          </a:xfrm>
          <a:prstGeom prst="rect">
            <a:avLst/>
          </a:prstGeom>
          <a:noFill/>
        </p:spPr>
        <p:txBody>
          <a:bodyPr wrap="square">
            <a:spAutoFit/>
          </a:bodyPr>
          <a:lstStyle/>
          <a:p>
            <a:pPr>
              <a:lnSpc>
                <a:spcPct val="150000"/>
              </a:lnSpc>
              <a:spcAft>
                <a:spcPts val="600"/>
              </a:spcAft>
            </a:pPr>
            <a:r>
              <a:rPr lang="en-GB" sz="1800" noProof="1"/>
              <a:t>In some cases, post-tonic vowels can be reconstructed/assumed through comparison</a:t>
            </a:r>
          </a:p>
          <a:p>
            <a:pPr>
              <a:lnSpc>
                <a:spcPct val="150000"/>
              </a:lnSpc>
              <a:spcAft>
                <a:spcPts val="600"/>
              </a:spcAft>
            </a:pPr>
            <a:r>
              <a:rPr lang="en-GB" sz="1800" b="1" noProof="1"/>
              <a:t>When these vowels are considered, a pattern emerges:</a:t>
            </a:r>
          </a:p>
        </p:txBody>
      </p:sp>
      <p:sp>
        <p:nvSpPr>
          <p:cNvPr id="10" name="Textfeld 9">
            <a:extLst>
              <a:ext uri="{FF2B5EF4-FFF2-40B4-BE49-F238E27FC236}">
                <a16:creationId xmlns:a16="http://schemas.microsoft.com/office/drawing/2014/main" id="{FE84F388-4316-4D39-49F2-277793975F7A}"/>
              </a:ext>
            </a:extLst>
          </p:cNvPr>
          <p:cNvSpPr txBox="1"/>
          <p:nvPr/>
        </p:nvSpPr>
        <p:spPr>
          <a:xfrm>
            <a:off x="1199456" y="2590207"/>
            <a:ext cx="4680520" cy="2626607"/>
          </a:xfrm>
          <a:prstGeom prst="rect">
            <a:avLst/>
          </a:prstGeom>
          <a:noFill/>
        </p:spPr>
        <p:txBody>
          <a:bodyPr wrap="square" lIns="0" tIns="0" rIns="0" bIns="0" rtlCol="0">
            <a:noAutofit/>
          </a:bodyPr>
          <a:lstStyle/>
          <a:p>
            <a:pPr>
              <a:lnSpc>
                <a:spcPct val="150000"/>
              </a:lnSpc>
              <a:spcAft>
                <a:spcPts val="600"/>
              </a:spcAft>
            </a:pPr>
            <a:r>
              <a:rPr lang="en-GB" sz="2000" b="1" noProof="1"/>
              <a:t>With ⲏ</a:t>
            </a:r>
          </a:p>
          <a:p>
            <a:pPr>
              <a:lnSpc>
                <a:spcPct val="150000"/>
              </a:lnSpc>
              <a:spcAft>
                <a:spcPts val="600"/>
              </a:spcAft>
            </a:pPr>
            <a:r>
              <a:rPr lang="en-GB" sz="2000" noProof="1"/>
              <a:t>- Pseudoparticiple 3SG.M: </a:t>
            </a:r>
            <a:r>
              <a:rPr lang="en-GB" sz="2000" i="1" noProof="1"/>
              <a:t>*=a </a:t>
            </a:r>
          </a:p>
          <a:p>
            <a:pPr>
              <a:lnSpc>
                <a:spcPct val="150000"/>
              </a:lnSpc>
              <a:spcAft>
                <a:spcPts val="600"/>
              </a:spcAft>
            </a:pPr>
            <a:r>
              <a:rPr lang="en-GB" sz="2000" i="1" noProof="1"/>
              <a:t>*CÉCCa</a:t>
            </a:r>
          </a:p>
          <a:p>
            <a:pPr>
              <a:lnSpc>
                <a:spcPct val="150000"/>
              </a:lnSpc>
              <a:spcAft>
                <a:spcPts val="600"/>
              </a:spcAft>
            </a:pPr>
            <a:r>
              <a:rPr lang="en-GB" sz="2000" noProof="1"/>
              <a:t>- Feminine suffix: *</a:t>
            </a:r>
            <a:r>
              <a:rPr lang="en-GB" sz="2000" i="1" noProof="1"/>
              <a:t>-at</a:t>
            </a:r>
            <a:br>
              <a:rPr lang="en-GB" sz="2000" noProof="1"/>
            </a:br>
            <a:r>
              <a:rPr lang="en-GB" sz="2000" i="1" noProof="1"/>
              <a:t>*CVCCÉỷat / *CVCÉCat  </a:t>
            </a:r>
          </a:p>
        </p:txBody>
      </p:sp>
      <p:sp>
        <p:nvSpPr>
          <p:cNvPr id="13" name="Textfeld 12">
            <a:extLst>
              <a:ext uri="{FF2B5EF4-FFF2-40B4-BE49-F238E27FC236}">
                <a16:creationId xmlns:a16="http://schemas.microsoft.com/office/drawing/2014/main" id="{3F89CB8C-A03C-2651-B659-746D0FE0F299}"/>
              </a:ext>
            </a:extLst>
          </p:cNvPr>
          <p:cNvSpPr txBox="1"/>
          <p:nvPr/>
        </p:nvSpPr>
        <p:spPr>
          <a:xfrm>
            <a:off x="6762640" y="2590207"/>
            <a:ext cx="4013880" cy="2909558"/>
          </a:xfrm>
          <a:prstGeom prst="rect">
            <a:avLst/>
          </a:prstGeom>
          <a:noFill/>
        </p:spPr>
        <p:txBody>
          <a:bodyPr wrap="square" lIns="0" tIns="0" rIns="0" bIns="0" rtlCol="0">
            <a:noAutofit/>
          </a:bodyPr>
          <a:lstStyle/>
          <a:p>
            <a:pPr>
              <a:lnSpc>
                <a:spcPct val="150000"/>
              </a:lnSpc>
              <a:spcAft>
                <a:spcPts val="600"/>
              </a:spcAft>
            </a:pPr>
            <a:r>
              <a:rPr lang="en-GB" sz="2000" b="1" noProof="1"/>
              <a:t>With </a:t>
            </a:r>
            <a:r>
              <a:rPr lang="en-GB" sz="2000" noProof="1"/>
              <a:t>ⲓ</a:t>
            </a:r>
            <a:endParaRPr lang="en-GB" sz="2000" b="1" noProof="1"/>
          </a:p>
          <a:p>
            <a:pPr>
              <a:lnSpc>
                <a:spcPct val="150000"/>
              </a:lnSpc>
              <a:spcAft>
                <a:spcPts val="600"/>
              </a:spcAft>
            </a:pPr>
            <a:r>
              <a:rPr lang="en-GB" sz="2000" noProof="1"/>
              <a:t>- CⲓCⲉ Action Nouns suffix: -</a:t>
            </a:r>
            <a:r>
              <a:rPr lang="en-GB" sz="2000" i="1" noProof="1"/>
              <a:t>Et</a:t>
            </a:r>
            <a:br>
              <a:rPr lang="en-GB" sz="2000" noProof="1"/>
            </a:br>
            <a:r>
              <a:rPr lang="en-GB" sz="2000" noProof="1"/>
              <a:t>*</a:t>
            </a:r>
            <a:r>
              <a:rPr lang="en-GB" sz="2000" i="1" noProof="1"/>
              <a:t>CÉCCEt</a:t>
            </a:r>
            <a:r>
              <a:rPr lang="en-GB" sz="2000" noProof="1"/>
              <a:t> </a:t>
            </a:r>
          </a:p>
          <a:p>
            <a:pPr>
              <a:lnSpc>
                <a:spcPct val="150000"/>
              </a:lnSpc>
              <a:spcAft>
                <a:spcPts val="600"/>
              </a:spcAft>
            </a:pPr>
            <a:r>
              <a:rPr lang="en-GB" sz="2000" noProof="1"/>
              <a:t>- Nisba suffix: -</a:t>
            </a:r>
            <a:r>
              <a:rPr lang="en-GB" sz="2000" i="1" noProof="1"/>
              <a:t>Eỷ </a:t>
            </a:r>
            <a:r>
              <a:rPr lang="en-GB" sz="2000" noProof="1"/>
              <a:t>(cf. Sem. *</a:t>
            </a:r>
            <a:r>
              <a:rPr lang="en-GB" sz="2000" i="1" noProof="1"/>
              <a:t>–iy</a:t>
            </a:r>
            <a:r>
              <a:rPr lang="en-GB" sz="2000" noProof="1"/>
              <a:t>)</a:t>
            </a:r>
            <a:br>
              <a:rPr lang="en-GB" sz="2000" noProof="1"/>
            </a:br>
            <a:r>
              <a:rPr lang="en-GB" sz="2000" noProof="1"/>
              <a:t>*</a:t>
            </a:r>
            <a:r>
              <a:rPr lang="en-GB" sz="2000" i="1" noProof="1"/>
              <a:t>CVCÉỷtEỷ</a:t>
            </a:r>
          </a:p>
        </p:txBody>
      </p:sp>
      <p:sp>
        <p:nvSpPr>
          <p:cNvPr id="15" name="Textfeld 14">
            <a:extLst>
              <a:ext uri="{FF2B5EF4-FFF2-40B4-BE49-F238E27FC236}">
                <a16:creationId xmlns:a16="http://schemas.microsoft.com/office/drawing/2014/main" id="{D28A0006-9A7D-1567-D10F-1A143708C6EE}"/>
              </a:ext>
            </a:extLst>
          </p:cNvPr>
          <p:cNvSpPr txBox="1"/>
          <p:nvPr/>
        </p:nvSpPr>
        <p:spPr>
          <a:xfrm>
            <a:off x="1695943" y="5305987"/>
            <a:ext cx="3391945" cy="456407"/>
          </a:xfrm>
          <a:prstGeom prst="rect">
            <a:avLst/>
          </a:prstGeom>
          <a:noFill/>
        </p:spPr>
        <p:txBody>
          <a:bodyPr wrap="square">
            <a:spAutoFit/>
          </a:bodyPr>
          <a:lstStyle/>
          <a:p>
            <a:pPr>
              <a:lnSpc>
                <a:spcPct val="150000"/>
              </a:lnSpc>
              <a:spcAft>
                <a:spcPts val="600"/>
              </a:spcAft>
            </a:pPr>
            <a:r>
              <a:rPr lang="en-GB" sz="1800" b="1" noProof="1"/>
              <a:t>➤ with postonic </a:t>
            </a:r>
            <a:r>
              <a:rPr lang="en-GB" sz="1800" b="1" i="1" noProof="1"/>
              <a:t>*a</a:t>
            </a:r>
            <a:r>
              <a:rPr lang="en-GB" sz="1800" b="1" noProof="1"/>
              <a:t> ?</a:t>
            </a:r>
          </a:p>
        </p:txBody>
      </p:sp>
      <p:sp>
        <p:nvSpPr>
          <p:cNvPr id="17" name="Textfeld 16">
            <a:extLst>
              <a:ext uri="{FF2B5EF4-FFF2-40B4-BE49-F238E27FC236}">
                <a16:creationId xmlns:a16="http://schemas.microsoft.com/office/drawing/2014/main" id="{4EA7C8B0-439A-94E7-ACCC-D8590E3E8AA2}"/>
              </a:ext>
            </a:extLst>
          </p:cNvPr>
          <p:cNvSpPr txBox="1"/>
          <p:nvPr/>
        </p:nvSpPr>
        <p:spPr>
          <a:xfrm>
            <a:off x="7189771" y="5214012"/>
            <a:ext cx="3391945" cy="456407"/>
          </a:xfrm>
          <a:prstGeom prst="rect">
            <a:avLst/>
          </a:prstGeom>
          <a:noFill/>
        </p:spPr>
        <p:txBody>
          <a:bodyPr wrap="square">
            <a:spAutoFit/>
          </a:bodyPr>
          <a:lstStyle/>
          <a:p>
            <a:pPr>
              <a:lnSpc>
                <a:spcPct val="150000"/>
              </a:lnSpc>
              <a:spcAft>
                <a:spcPts val="600"/>
              </a:spcAft>
            </a:pPr>
            <a:r>
              <a:rPr lang="en-GB" sz="1800" b="1" noProof="1"/>
              <a:t>➤ with postonic </a:t>
            </a:r>
            <a:r>
              <a:rPr lang="en-GB" sz="1800" b="1" i="1" noProof="1"/>
              <a:t>*E</a:t>
            </a:r>
            <a:r>
              <a:rPr lang="en-GB" sz="1800" b="1" noProof="1"/>
              <a:t> ?</a:t>
            </a:r>
          </a:p>
        </p:txBody>
      </p:sp>
    </p:spTree>
    <p:extLst>
      <p:ext uri="{BB962C8B-B14F-4D97-AF65-F5344CB8AC3E}">
        <p14:creationId xmlns:p14="http://schemas.microsoft.com/office/powerpoint/2010/main" val="2385755326"/>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1750E-CB65-AEC4-37FF-41C8B9E606B3}"/>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73996659-2714-4A3C-EE10-FB92E78D29BB}"/>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2BC1CFFF-CED4-EB75-24A3-636779526D5D}"/>
              </a:ext>
            </a:extLst>
          </p:cNvPr>
          <p:cNvSpPr>
            <a:spLocks noGrp="1"/>
          </p:cNvSpPr>
          <p:nvPr>
            <p:ph type="sldNum" sz="quarter" idx="12"/>
          </p:nvPr>
        </p:nvSpPr>
        <p:spPr/>
        <p:txBody>
          <a:bodyPr/>
          <a:lstStyle/>
          <a:p>
            <a:fld id="{B3811826-9277-4232-A2B5-17D05DFC7392}" type="slidenum">
              <a:rPr lang="de-CH" smtClean="0"/>
              <a:pPr/>
              <a:t>32</a:t>
            </a:fld>
            <a:endParaRPr lang="de-CH" dirty="0"/>
          </a:p>
        </p:txBody>
      </p:sp>
      <p:cxnSp>
        <p:nvCxnSpPr>
          <p:cNvPr id="9" name="Gerade Verbindung 7">
            <a:extLst>
              <a:ext uri="{FF2B5EF4-FFF2-40B4-BE49-F238E27FC236}">
                <a16:creationId xmlns:a16="http://schemas.microsoft.com/office/drawing/2014/main" id="{F42FD501-4A0C-BF11-108B-1204BD8A40F2}"/>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Datumsplatzhalter 3">
            <a:extLst>
              <a:ext uri="{FF2B5EF4-FFF2-40B4-BE49-F238E27FC236}">
                <a16:creationId xmlns:a16="http://schemas.microsoft.com/office/drawing/2014/main" id="{1C4969F5-C14D-314C-970C-F3BE7707CE40}"/>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4F6A5926-484C-C072-5B27-8B092EFA1959}"/>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C8A92976-2D7B-F207-6C10-F99FB4E74D9A}"/>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4306E210-186A-B8C6-E556-EC7C65833856}"/>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3" name="Titel 6">
            <a:extLst>
              <a:ext uri="{FF2B5EF4-FFF2-40B4-BE49-F238E27FC236}">
                <a16:creationId xmlns:a16="http://schemas.microsoft.com/office/drawing/2014/main" id="{7CB81465-BF6B-AA5F-1673-5679BF13ABB1}"/>
              </a:ext>
            </a:extLst>
          </p:cNvPr>
          <p:cNvSpPr>
            <a:spLocks noGrp="1"/>
          </p:cNvSpPr>
          <p:nvPr>
            <p:ph type="title"/>
          </p:nvPr>
        </p:nvSpPr>
        <p:spPr>
          <a:xfrm>
            <a:off x="334800" y="404813"/>
            <a:ext cx="11521840" cy="755936"/>
          </a:xfrm>
        </p:spPr>
        <p:txBody>
          <a:bodyPr/>
          <a:lstStyle/>
          <a:p>
            <a:r>
              <a:rPr lang="en-GB" dirty="0"/>
              <a:t>Some rules</a:t>
            </a:r>
          </a:p>
        </p:txBody>
      </p:sp>
      <p:sp>
        <p:nvSpPr>
          <p:cNvPr id="14" name="Textfeld 13">
            <a:extLst>
              <a:ext uri="{FF2B5EF4-FFF2-40B4-BE49-F238E27FC236}">
                <a16:creationId xmlns:a16="http://schemas.microsoft.com/office/drawing/2014/main" id="{A3B6E41E-910F-F00D-9FC9-3909FC0FC8F4}"/>
              </a:ext>
            </a:extLst>
          </p:cNvPr>
          <p:cNvSpPr txBox="1"/>
          <p:nvPr/>
        </p:nvSpPr>
        <p:spPr>
          <a:xfrm>
            <a:off x="1163172" y="2168564"/>
            <a:ext cx="9865096" cy="2588632"/>
          </a:xfrm>
          <a:prstGeom prst="rect">
            <a:avLst/>
          </a:prstGeom>
          <a:noFill/>
        </p:spPr>
        <p:txBody>
          <a:bodyPr wrap="square" lIns="0" tIns="0" rIns="0" bIns="0" rtlCol="0">
            <a:noAutofit/>
          </a:bodyPr>
          <a:lstStyle/>
          <a:p>
            <a:pPr lvl="0">
              <a:lnSpc>
                <a:spcPct val="150000"/>
              </a:lnSpc>
            </a:pPr>
            <a:r>
              <a:rPr lang="en-GB" noProof="1"/>
              <a:t>1. </a:t>
            </a:r>
            <a:r>
              <a:rPr lang="en-GB" i="1" noProof="1"/>
              <a:t>*É</a:t>
            </a:r>
            <a:r>
              <a:rPr lang="en-GB" noProof="1"/>
              <a:t> becomes ⲓ |i| before unstressed </a:t>
            </a:r>
            <a:r>
              <a:rPr lang="en-GB" i="1" noProof="1"/>
              <a:t>*E</a:t>
            </a:r>
            <a:endParaRPr lang="en-GB" noProof="1"/>
          </a:p>
          <a:p>
            <a:pPr lvl="0">
              <a:lnSpc>
                <a:spcPct val="150000"/>
              </a:lnSpc>
            </a:pPr>
            <a:r>
              <a:rPr lang="en-GB" noProof="1"/>
              <a:t>2. </a:t>
            </a:r>
            <a:r>
              <a:rPr lang="en-GB" i="1" noProof="1"/>
              <a:t>*É</a:t>
            </a:r>
            <a:r>
              <a:rPr lang="en-GB" noProof="1"/>
              <a:t> becomes ⲏ |e| before unstressed </a:t>
            </a:r>
            <a:r>
              <a:rPr lang="en-GB" i="1" noProof="1"/>
              <a:t>*a</a:t>
            </a:r>
          </a:p>
          <a:p>
            <a:pPr lvl="0">
              <a:lnSpc>
                <a:spcPct val="150000"/>
              </a:lnSpc>
            </a:pPr>
            <a:endParaRPr lang="en-GB" i="1" noProof="1"/>
          </a:p>
          <a:p>
            <a:pPr>
              <a:lnSpc>
                <a:spcPct val="150000"/>
              </a:lnSpc>
            </a:pPr>
            <a:r>
              <a:rPr lang="en-GB" noProof="1"/>
              <a:t>3. </a:t>
            </a:r>
            <a:r>
              <a:rPr lang="en-GB" i="1" noProof="1"/>
              <a:t>*É</a:t>
            </a:r>
            <a:r>
              <a:rPr lang="en-GB" noProof="1"/>
              <a:t> becomes ⲏ |e| in the environment -CÉC= when the root has three strong consonants</a:t>
            </a:r>
          </a:p>
          <a:p>
            <a:pPr>
              <a:lnSpc>
                <a:spcPct val="150000"/>
              </a:lnSpc>
            </a:pPr>
            <a:r>
              <a:rPr lang="en-GB" noProof="1"/>
              <a:t>4. </a:t>
            </a:r>
            <a:r>
              <a:rPr lang="en-GB" i="1" noProof="1"/>
              <a:t>*É</a:t>
            </a:r>
            <a:r>
              <a:rPr lang="en-GB" noProof="1"/>
              <a:t> becomes ⲓ |i| in the environment -CÉC= when the root has less than three strong consonants (i.e. has at least one weak consonant)</a:t>
            </a:r>
          </a:p>
          <a:p>
            <a:pPr lvl="0">
              <a:lnSpc>
                <a:spcPct val="150000"/>
              </a:lnSpc>
            </a:pPr>
            <a:endParaRPr lang="en-GB" noProof="1"/>
          </a:p>
          <a:p>
            <a:pPr lvl="0"/>
            <a:endParaRPr lang="en-GB" noProof="1"/>
          </a:p>
          <a:p>
            <a:pPr>
              <a:lnSpc>
                <a:spcPct val="150000"/>
              </a:lnSpc>
              <a:spcAft>
                <a:spcPts val="600"/>
              </a:spcAft>
            </a:pPr>
            <a:endParaRPr lang="en-GB" sz="2200" noProof="1"/>
          </a:p>
          <a:p>
            <a:pPr>
              <a:lnSpc>
                <a:spcPct val="150000"/>
              </a:lnSpc>
              <a:spcAft>
                <a:spcPts val="600"/>
              </a:spcAft>
            </a:pPr>
            <a:endParaRPr lang="en-GB" sz="2200" noProof="1"/>
          </a:p>
        </p:txBody>
      </p:sp>
      <p:sp>
        <p:nvSpPr>
          <p:cNvPr id="15" name="Titel 6">
            <a:extLst>
              <a:ext uri="{FF2B5EF4-FFF2-40B4-BE49-F238E27FC236}">
                <a16:creationId xmlns:a16="http://schemas.microsoft.com/office/drawing/2014/main" id="{9469AFEC-208D-99F1-5B3B-B84973AE7B14}"/>
              </a:ext>
            </a:extLst>
          </p:cNvPr>
          <p:cNvSpPr txBox="1">
            <a:spLocks/>
          </p:cNvSpPr>
          <p:nvPr/>
        </p:nvSpPr>
        <p:spPr>
          <a:xfrm>
            <a:off x="839416" y="1412628"/>
            <a:ext cx="98650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The following rules can be suggested:</a:t>
            </a:r>
          </a:p>
        </p:txBody>
      </p:sp>
      <p:sp>
        <p:nvSpPr>
          <p:cNvPr id="17" name="Titel 6">
            <a:extLst>
              <a:ext uri="{FF2B5EF4-FFF2-40B4-BE49-F238E27FC236}">
                <a16:creationId xmlns:a16="http://schemas.microsoft.com/office/drawing/2014/main" id="{305F50EC-66DB-6B73-20C8-CED7ACF1A9D0}"/>
              </a:ext>
            </a:extLst>
          </p:cNvPr>
          <p:cNvSpPr txBox="1">
            <a:spLocks/>
          </p:cNvSpPr>
          <p:nvPr/>
        </p:nvSpPr>
        <p:spPr>
          <a:xfrm>
            <a:off x="983432" y="5067404"/>
            <a:ext cx="98650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sz="3200" noProof="1">
                <a:latin typeface="Calibri" panose="020F0502020204030204" pitchFamily="34" charset="0"/>
                <a:cs typeface="Calibri" panose="020F0502020204030204" pitchFamily="34" charset="0"/>
              </a:rPr>
              <a:t>⚠️</a:t>
            </a:r>
            <a:r>
              <a:rPr lang="en-GB" noProof="1">
                <a:latin typeface="Calibri" panose="020F0502020204030204" pitchFamily="34" charset="0"/>
                <a:cs typeface="Calibri" panose="020F0502020204030204" pitchFamily="34" charset="0"/>
              </a:rPr>
              <a:t>  This is an open set of rules that explain the forms that have been analysed in this study. Additional rules might exist for other cases (e.g. deverbal nouns of "weak" roots etc.)</a:t>
            </a:r>
          </a:p>
        </p:txBody>
      </p:sp>
    </p:spTree>
    <p:extLst>
      <p:ext uri="{BB962C8B-B14F-4D97-AF65-F5344CB8AC3E}">
        <p14:creationId xmlns:p14="http://schemas.microsoft.com/office/powerpoint/2010/main" val="3066006799"/>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AD9B-5D96-F42B-6121-6989A34144D9}"/>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D2BBBD44-65D4-01E5-E1C1-00335E045D81}"/>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304A5834-F6EF-D3B8-3B1A-1FD05BD4D83D}"/>
              </a:ext>
            </a:extLst>
          </p:cNvPr>
          <p:cNvSpPr>
            <a:spLocks noGrp="1"/>
          </p:cNvSpPr>
          <p:nvPr>
            <p:ph type="sldNum" sz="quarter" idx="12"/>
          </p:nvPr>
        </p:nvSpPr>
        <p:spPr/>
        <p:txBody>
          <a:bodyPr/>
          <a:lstStyle/>
          <a:p>
            <a:fld id="{B3811826-9277-4232-A2B5-17D05DFC7392}" type="slidenum">
              <a:rPr lang="de-CH" smtClean="0"/>
              <a:pPr/>
              <a:t>33</a:t>
            </a:fld>
            <a:endParaRPr lang="de-CH" dirty="0"/>
          </a:p>
        </p:txBody>
      </p:sp>
      <p:cxnSp>
        <p:nvCxnSpPr>
          <p:cNvPr id="9" name="Gerade Verbindung 7">
            <a:extLst>
              <a:ext uri="{FF2B5EF4-FFF2-40B4-BE49-F238E27FC236}">
                <a16:creationId xmlns:a16="http://schemas.microsoft.com/office/drawing/2014/main" id="{DB3BC4F1-04CB-6014-9258-B5707423823E}"/>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4584E5D9-4164-BDC7-F82E-1300837FF184}"/>
              </a:ext>
            </a:extLst>
          </p:cNvPr>
          <p:cNvSpPr>
            <a:spLocks noGrp="1"/>
          </p:cNvSpPr>
          <p:nvPr>
            <p:ph type="title"/>
          </p:nvPr>
        </p:nvSpPr>
        <p:spPr>
          <a:xfrm>
            <a:off x="334800" y="404813"/>
            <a:ext cx="11521840" cy="755936"/>
          </a:xfrm>
        </p:spPr>
        <p:txBody>
          <a:bodyPr/>
          <a:lstStyle/>
          <a:p>
            <a:r>
              <a:rPr lang="en-GB" dirty="0"/>
              <a:t>Some rules</a:t>
            </a:r>
            <a:endParaRPr lang="de-CH" dirty="0"/>
          </a:p>
        </p:txBody>
      </p:sp>
      <p:sp>
        <p:nvSpPr>
          <p:cNvPr id="3" name="Datumsplatzhalter 3">
            <a:extLst>
              <a:ext uri="{FF2B5EF4-FFF2-40B4-BE49-F238E27FC236}">
                <a16:creationId xmlns:a16="http://schemas.microsoft.com/office/drawing/2014/main" id="{DFC97093-5DF1-4FFD-BD11-58C22544432F}"/>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EBBE5FA7-86B3-5AC3-BA22-80B546E2431F}"/>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7C495A8B-173D-B54B-4C75-C439DC466D82}"/>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06004F05-369D-2B58-5394-B37854001C3C}"/>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Titel 6">
            <a:extLst>
              <a:ext uri="{FF2B5EF4-FFF2-40B4-BE49-F238E27FC236}">
                <a16:creationId xmlns:a16="http://schemas.microsoft.com/office/drawing/2014/main" id="{41EEBE66-F241-DDD2-8EE6-09B5395A7F04}"/>
              </a:ext>
            </a:extLst>
          </p:cNvPr>
          <p:cNvSpPr txBox="1">
            <a:spLocks/>
          </p:cNvSpPr>
          <p:nvPr/>
        </p:nvSpPr>
        <p:spPr>
          <a:xfrm>
            <a:off x="839416" y="1412628"/>
            <a:ext cx="98650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These rules provide a solution for the issue of the apparent ⲏ &gt; ⲓ in the Nisba :</a:t>
            </a:r>
          </a:p>
        </p:txBody>
      </p:sp>
      <p:sp>
        <p:nvSpPr>
          <p:cNvPr id="7" name="Textfeld 6">
            <a:extLst>
              <a:ext uri="{FF2B5EF4-FFF2-40B4-BE49-F238E27FC236}">
                <a16:creationId xmlns:a16="http://schemas.microsoft.com/office/drawing/2014/main" id="{7FA0BAD5-829C-8912-A921-C8F82A2BECA4}"/>
              </a:ext>
            </a:extLst>
          </p:cNvPr>
          <p:cNvSpPr txBox="1"/>
          <p:nvPr/>
        </p:nvSpPr>
        <p:spPr>
          <a:xfrm>
            <a:off x="1199456" y="2590207"/>
            <a:ext cx="4680520" cy="2626607"/>
          </a:xfrm>
          <a:prstGeom prst="rect">
            <a:avLst/>
          </a:prstGeom>
          <a:noFill/>
        </p:spPr>
        <p:txBody>
          <a:bodyPr wrap="square" lIns="0" tIns="0" rIns="0" bIns="0" rtlCol="0">
            <a:noAutofit/>
          </a:bodyPr>
          <a:lstStyle/>
          <a:p>
            <a:pPr>
              <a:lnSpc>
                <a:spcPct val="150000"/>
              </a:lnSpc>
              <a:spcAft>
                <a:spcPts val="600"/>
              </a:spcAft>
            </a:pPr>
            <a:r>
              <a:rPr lang="en-GB" sz="2000" b="1" noProof="1"/>
              <a:t>With ⲏ + postonic </a:t>
            </a:r>
            <a:r>
              <a:rPr lang="en-GB" sz="2000" b="1" i="1" noProof="1"/>
              <a:t>*a</a:t>
            </a:r>
          </a:p>
          <a:p>
            <a:pPr>
              <a:lnSpc>
                <a:spcPct val="150000"/>
              </a:lnSpc>
              <a:spcAft>
                <a:spcPts val="600"/>
              </a:spcAft>
            </a:pPr>
            <a:r>
              <a:rPr lang="en-GB" sz="2000" noProof="1"/>
              <a:t>- [L] ⲙϩⲏ |mᵊhé| &lt; </a:t>
            </a:r>
            <a:r>
              <a:rPr lang="en-GB" sz="2000" i="1" noProof="1"/>
              <a:t>*mVḥÉỷat </a:t>
            </a:r>
          </a:p>
          <a:p>
            <a:pPr>
              <a:lnSpc>
                <a:spcPct val="150000"/>
              </a:lnSpc>
              <a:spcAft>
                <a:spcPts val="600"/>
              </a:spcAft>
            </a:pPr>
            <a:r>
              <a:rPr lang="en-GB" sz="2000" noProof="1"/>
              <a:t>'northwind'</a:t>
            </a:r>
            <a:endParaRPr lang="en-GB" sz="2000" i="1" noProof="1"/>
          </a:p>
        </p:txBody>
      </p:sp>
      <p:sp>
        <p:nvSpPr>
          <p:cNvPr id="8" name="Textfeld 7">
            <a:extLst>
              <a:ext uri="{FF2B5EF4-FFF2-40B4-BE49-F238E27FC236}">
                <a16:creationId xmlns:a16="http://schemas.microsoft.com/office/drawing/2014/main" id="{F124A2D6-5094-752C-9143-DC3F42AEE60F}"/>
              </a:ext>
            </a:extLst>
          </p:cNvPr>
          <p:cNvSpPr txBox="1"/>
          <p:nvPr/>
        </p:nvSpPr>
        <p:spPr>
          <a:xfrm>
            <a:off x="6492044" y="2590206"/>
            <a:ext cx="4680520" cy="2626607"/>
          </a:xfrm>
          <a:prstGeom prst="rect">
            <a:avLst/>
          </a:prstGeom>
          <a:noFill/>
        </p:spPr>
        <p:txBody>
          <a:bodyPr wrap="square" lIns="0" tIns="0" rIns="0" bIns="0" rtlCol="0">
            <a:noAutofit/>
          </a:bodyPr>
          <a:lstStyle/>
          <a:p>
            <a:pPr>
              <a:lnSpc>
                <a:spcPct val="150000"/>
              </a:lnSpc>
              <a:spcAft>
                <a:spcPts val="600"/>
              </a:spcAft>
            </a:pPr>
            <a:r>
              <a:rPr lang="en-GB" sz="2000" b="1" noProof="1"/>
              <a:t>With ⲓ + postonic </a:t>
            </a:r>
            <a:r>
              <a:rPr lang="en-GB" sz="2000" b="1" i="1" noProof="1"/>
              <a:t>*E</a:t>
            </a:r>
          </a:p>
          <a:p>
            <a:pPr>
              <a:lnSpc>
                <a:spcPct val="150000"/>
              </a:lnSpc>
              <a:spcAft>
                <a:spcPts val="600"/>
              </a:spcAft>
            </a:pPr>
            <a:r>
              <a:rPr lang="en-GB" sz="2000" noProof="1"/>
              <a:t>- [S] ⲙϩⲓⲧ |mᵊhít(ᵊ)| &lt; </a:t>
            </a:r>
            <a:r>
              <a:rPr lang="en-GB" sz="2000" i="1" noProof="1"/>
              <a:t>*mVḥÉỷtEỷ</a:t>
            </a:r>
          </a:p>
          <a:p>
            <a:pPr>
              <a:lnSpc>
                <a:spcPct val="150000"/>
              </a:lnSpc>
              <a:spcAft>
                <a:spcPts val="600"/>
              </a:spcAft>
            </a:pPr>
            <a:r>
              <a:rPr lang="en-GB" sz="2000" noProof="1"/>
              <a:t>'north'</a:t>
            </a:r>
          </a:p>
          <a:p>
            <a:pPr>
              <a:lnSpc>
                <a:spcPct val="150000"/>
              </a:lnSpc>
              <a:spcAft>
                <a:spcPts val="600"/>
              </a:spcAft>
            </a:pPr>
            <a:endParaRPr lang="en-GB" sz="2000" i="1" noProof="1"/>
          </a:p>
        </p:txBody>
      </p:sp>
    </p:spTree>
    <p:extLst>
      <p:ext uri="{BB962C8B-B14F-4D97-AF65-F5344CB8AC3E}">
        <p14:creationId xmlns:p14="http://schemas.microsoft.com/office/powerpoint/2010/main" val="2481953142"/>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F5645-8169-A2AB-C90D-313855F5BBF4}"/>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F77CDA2-F14F-CD19-9045-80EA567FA849}"/>
              </a:ext>
            </a:extLst>
          </p:cNvPr>
          <p:cNvSpPr>
            <a:spLocks noGrp="1"/>
          </p:cNvSpPr>
          <p:nvPr>
            <p:ph type="ftr" sz="quarter" idx="11"/>
          </p:nvPr>
        </p:nvSpPr>
        <p:spPr/>
        <p:txBody>
          <a:bodyPr/>
          <a:lstStyle/>
          <a:p>
            <a:pPr algn="r"/>
            <a:r>
              <a:rPr lang="en-GB" dirty="0"/>
              <a:t>University of Basel</a:t>
            </a:r>
          </a:p>
        </p:txBody>
      </p:sp>
      <p:sp>
        <p:nvSpPr>
          <p:cNvPr id="6" name="Foliennummernplatzhalter 5">
            <a:extLst>
              <a:ext uri="{FF2B5EF4-FFF2-40B4-BE49-F238E27FC236}">
                <a16:creationId xmlns:a16="http://schemas.microsoft.com/office/drawing/2014/main" id="{E67DA256-90AB-8982-A874-02338ABB3B7B}"/>
              </a:ext>
            </a:extLst>
          </p:cNvPr>
          <p:cNvSpPr>
            <a:spLocks noGrp="1"/>
          </p:cNvSpPr>
          <p:nvPr>
            <p:ph type="sldNum" sz="quarter" idx="12"/>
          </p:nvPr>
        </p:nvSpPr>
        <p:spPr/>
        <p:txBody>
          <a:bodyPr/>
          <a:lstStyle/>
          <a:p>
            <a:fld id="{B3811826-9277-4232-A2B5-17D05DFC7392}" type="slidenum">
              <a:rPr lang="de-CH" smtClean="0"/>
              <a:pPr/>
              <a:t>34</a:t>
            </a:fld>
            <a:endParaRPr lang="de-CH" dirty="0"/>
          </a:p>
        </p:txBody>
      </p:sp>
      <p:cxnSp>
        <p:nvCxnSpPr>
          <p:cNvPr id="9" name="Gerade Verbindung 7">
            <a:extLst>
              <a:ext uri="{FF2B5EF4-FFF2-40B4-BE49-F238E27FC236}">
                <a16:creationId xmlns:a16="http://schemas.microsoft.com/office/drawing/2014/main" id="{A737AA30-6559-D775-2AB1-3FD8E262CCD6}"/>
              </a:ext>
            </a:extLst>
          </p:cNvPr>
          <p:cNvCxnSpPr/>
          <p:nvPr/>
        </p:nvCxnSpPr>
        <p:spPr>
          <a:xfrm>
            <a:off x="334800" y="908720"/>
            <a:ext cx="1152184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el 6">
            <a:extLst>
              <a:ext uri="{FF2B5EF4-FFF2-40B4-BE49-F238E27FC236}">
                <a16:creationId xmlns:a16="http://schemas.microsoft.com/office/drawing/2014/main" id="{EEC80395-E563-BB6D-7CB1-772275C0E25E}"/>
              </a:ext>
            </a:extLst>
          </p:cNvPr>
          <p:cNvSpPr>
            <a:spLocks noGrp="1"/>
          </p:cNvSpPr>
          <p:nvPr>
            <p:ph type="title"/>
          </p:nvPr>
        </p:nvSpPr>
        <p:spPr>
          <a:xfrm>
            <a:off x="334800" y="404813"/>
            <a:ext cx="11521840" cy="755936"/>
          </a:xfrm>
        </p:spPr>
        <p:txBody>
          <a:bodyPr/>
          <a:lstStyle/>
          <a:p>
            <a:r>
              <a:rPr lang="en-GB" dirty="0"/>
              <a:t>The bigger picture</a:t>
            </a:r>
            <a:endParaRPr lang="de-CH" dirty="0"/>
          </a:p>
        </p:txBody>
      </p:sp>
      <p:sp>
        <p:nvSpPr>
          <p:cNvPr id="3" name="Datumsplatzhalter 3">
            <a:extLst>
              <a:ext uri="{FF2B5EF4-FFF2-40B4-BE49-F238E27FC236}">
                <a16:creationId xmlns:a16="http://schemas.microsoft.com/office/drawing/2014/main" id="{AFA5885C-E082-BF6C-DA55-641F7C42D938}"/>
              </a:ext>
            </a:extLst>
          </p:cNvPr>
          <p:cNvSpPr>
            <a:spLocks noGrp="1"/>
          </p:cNvSpPr>
          <p:nvPr>
            <p:ph type="dt" sz="half" idx="10"/>
          </p:nvPr>
        </p:nvSpPr>
        <p:spPr>
          <a:xfrm>
            <a:off x="334800" y="6524626"/>
            <a:ext cx="3816984" cy="180000"/>
          </a:xfrm>
        </p:spPr>
        <p:txBody>
          <a:bodyPr/>
          <a:lstStyle/>
          <a:p>
            <a:r>
              <a:rPr lang="de-DE" dirty="0"/>
              <a:t>The </a:t>
            </a:r>
            <a:r>
              <a:rPr lang="de-DE" dirty="0" err="1"/>
              <a:t>Emergence</a:t>
            </a:r>
            <a:r>
              <a:rPr lang="de-DE" dirty="0"/>
              <a:t> </a:t>
            </a:r>
            <a:r>
              <a:rPr lang="de-DE" dirty="0" err="1"/>
              <a:t>of</a:t>
            </a:r>
            <a:r>
              <a:rPr lang="de-DE" dirty="0"/>
              <a:t> </a:t>
            </a:r>
            <a:r>
              <a:rPr lang="de-DE" dirty="0" err="1"/>
              <a:t>Ancient</a:t>
            </a:r>
            <a:r>
              <a:rPr lang="de-DE" dirty="0"/>
              <a:t> </a:t>
            </a:r>
            <a:r>
              <a:rPr lang="de-DE" dirty="0" err="1"/>
              <a:t>Egyptian</a:t>
            </a:r>
            <a:endParaRPr lang="en-GB" dirty="0"/>
          </a:p>
        </p:txBody>
      </p:sp>
      <p:sp>
        <p:nvSpPr>
          <p:cNvPr id="16" name="Textfeld 15">
            <a:extLst>
              <a:ext uri="{FF2B5EF4-FFF2-40B4-BE49-F238E27FC236}">
                <a16:creationId xmlns:a16="http://schemas.microsoft.com/office/drawing/2014/main" id="{4BC19956-D8BE-EA9F-9369-CD4C3A6F1F14}"/>
              </a:ext>
            </a:extLst>
          </p:cNvPr>
          <p:cNvSpPr txBox="1"/>
          <p:nvPr/>
        </p:nvSpPr>
        <p:spPr>
          <a:xfrm>
            <a:off x="1993692" y="4317167"/>
            <a:ext cx="0" cy="0"/>
          </a:xfrm>
          <a:prstGeom prst="rect">
            <a:avLst/>
          </a:prstGeom>
          <a:noFill/>
        </p:spPr>
        <p:txBody>
          <a:bodyPr wrap="none" lIns="0" tIns="0" rIns="0" bIns="0" rtlCol="0">
            <a:noAutofit/>
          </a:bodyPr>
          <a:lstStyle/>
          <a:p>
            <a:pPr>
              <a:lnSpc>
                <a:spcPts val="2200"/>
              </a:lnSpc>
            </a:pPr>
            <a:endParaRPr lang="de-DE" dirty="0"/>
          </a:p>
        </p:txBody>
      </p:sp>
      <p:sp>
        <p:nvSpPr>
          <p:cNvPr id="11" name="Textfeld 10">
            <a:extLst>
              <a:ext uri="{FF2B5EF4-FFF2-40B4-BE49-F238E27FC236}">
                <a16:creationId xmlns:a16="http://schemas.microsoft.com/office/drawing/2014/main" id="{D365C267-5A80-2211-1DE1-CBE8BB5B91F0}"/>
              </a:ext>
            </a:extLst>
          </p:cNvPr>
          <p:cNvSpPr txBox="1"/>
          <p:nvPr/>
        </p:nvSpPr>
        <p:spPr>
          <a:xfrm>
            <a:off x="5172075" y="1614488"/>
            <a:ext cx="0" cy="0"/>
          </a:xfrm>
          <a:prstGeom prst="rect">
            <a:avLst/>
          </a:prstGeom>
          <a:noFill/>
        </p:spPr>
        <p:txBody>
          <a:bodyPr wrap="none" lIns="0" tIns="0" rIns="0" bIns="0" rtlCol="0">
            <a:noAutofit/>
          </a:bodyPr>
          <a:lstStyle/>
          <a:p>
            <a:pPr>
              <a:lnSpc>
                <a:spcPts val="2200"/>
              </a:lnSpc>
            </a:pPr>
            <a:endParaRPr lang="de-DE" dirty="0"/>
          </a:p>
        </p:txBody>
      </p:sp>
      <p:sp>
        <p:nvSpPr>
          <p:cNvPr id="28" name="Rechteck 27">
            <a:extLst>
              <a:ext uri="{FF2B5EF4-FFF2-40B4-BE49-F238E27FC236}">
                <a16:creationId xmlns:a16="http://schemas.microsoft.com/office/drawing/2014/main" id="{A9D9E176-F740-0322-2583-D83523653BEB}"/>
              </a:ext>
            </a:extLst>
          </p:cNvPr>
          <p:cNvSpPr/>
          <p:nvPr/>
        </p:nvSpPr>
        <p:spPr>
          <a:xfrm>
            <a:off x="6816080" y="4941168"/>
            <a:ext cx="201622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Textfeld 1">
            <a:extLst>
              <a:ext uri="{FF2B5EF4-FFF2-40B4-BE49-F238E27FC236}">
                <a16:creationId xmlns:a16="http://schemas.microsoft.com/office/drawing/2014/main" id="{EB17A95B-3B2B-3B49-671E-248BB79444A0}"/>
              </a:ext>
            </a:extLst>
          </p:cNvPr>
          <p:cNvSpPr txBox="1"/>
          <p:nvPr/>
        </p:nvSpPr>
        <p:spPr>
          <a:xfrm>
            <a:off x="1028306" y="2030641"/>
            <a:ext cx="10134828" cy="2796717"/>
          </a:xfrm>
          <a:prstGeom prst="rect">
            <a:avLst/>
          </a:prstGeom>
          <a:noFill/>
        </p:spPr>
        <p:txBody>
          <a:bodyPr wrap="square" lIns="0" tIns="0" rIns="0" bIns="0" rtlCol="0">
            <a:noAutofit/>
          </a:bodyPr>
          <a:lstStyle/>
          <a:p>
            <a:pPr marL="360363" indent="-346075">
              <a:spcAft>
                <a:spcPts val="600"/>
              </a:spcAft>
            </a:pPr>
            <a:r>
              <a:rPr lang="en-GB" sz="2000" noProof="1"/>
              <a:t>➤ Similar to what is reconstructed for Chadic languages and observed in Berber languages: Saharan areal feature?</a:t>
            </a:r>
          </a:p>
          <a:p>
            <a:pPr marL="360363" indent="-346075">
              <a:spcAft>
                <a:spcPts val="600"/>
              </a:spcAft>
            </a:pPr>
            <a:endParaRPr lang="en-GB" sz="2000" noProof="1"/>
          </a:p>
          <a:p>
            <a:pPr marL="360363" indent="-346075">
              <a:spcAft>
                <a:spcPts val="600"/>
              </a:spcAft>
            </a:pPr>
            <a:r>
              <a:rPr lang="en-GB" sz="2000" noProof="1"/>
              <a:t>➤ Is this a secondary development, a simplification of a more complex vocalic system (3+ vowels), or the "original" system?</a:t>
            </a:r>
          </a:p>
          <a:p>
            <a:pPr marL="360363" indent="-346075">
              <a:spcAft>
                <a:spcPts val="600"/>
              </a:spcAft>
            </a:pPr>
            <a:endParaRPr lang="en-GB" sz="2000" noProof="1"/>
          </a:p>
          <a:p>
            <a:pPr marL="360363" indent="-346075">
              <a:spcAft>
                <a:spcPts val="600"/>
              </a:spcAft>
            </a:pPr>
            <a:r>
              <a:rPr lang="en-GB" sz="2000" noProof="1"/>
              <a:t>➤ Pre-Coptic Egyptian shows widespread palatalization and labialization (already in Old Egyptian), with no clear conditioning under a three-vowel model. Two-vowel systems are often associated with consonantal palatalization and labialization.</a:t>
            </a:r>
            <a:br>
              <a:rPr lang="en-GB" sz="2000" noProof="1"/>
            </a:br>
            <a:br>
              <a:rPr lang="en-GB" sz="2000" noProof="1"/>
            </a:br>
            <a:r>
              <a:rPr lang="en-GB" sz="2000" noProof="1"/>
              <a:t>Could this also have been the case in Egyptian?</a:t>
            </a:r>
          </a:p>
        </p:txBody>
      </p:sp>
      <p:sp>
        <p:nvSpPr>
          <p:cNvPr id="7" name="Titel 6">
            <a:extLst>
              <a:ext uri="{FF2B5EF4-FFF2-40B4-BE49-F238E27FC236}">
                <a16:creationId xmlns:a16="http://schemas.microsoft.com/office/drawing/2014/main" id="{9E705A3E-1474-8397-CF04-0A1E2B427D94}"/>
              </a:ext>
            </a:extLst>
          </p:cNvPr>
          <p:cNvSpPr txBox="1">
            <a:spLocks/>
          </p:cNvSpPr>
          <p:nvPr/>
        </p:nvSpPr>
        <p:spPr>
          <a:xfrm>
            <a:off x="839416" y="1412628"/>
            <a:ext cx="9865096" cy="755936"/>
          </a:xfrm>
          <a:prstGeom prst="rect">
            <a:avLst/>
          </a:prstGeom>
        </p:spPr>
        <p:txBody>
          <a:bodyPr vert="horz" lIns="0" tIns="0" rIns="0" bIns="0" rtlCol="0" anchor="t" anchorCtr="0">
            <a:noAutofit/>
          </a:bodyPr>
          <a:lstStyle>
            <a:lvl1pPr algn="l" defTabSz="914400" rtl="0" eaLnBrk="1" latinLnBrk="0" hangingPunct="1">
              <a:lnSpc>
                <a:spcPts val="2500"/>
              </a:lnSpc>
              <a:spcBef>
                <a:spcPct val="0"/>
              </a:spcBef>
              <a:buNone/>
              <a:defRPr sz="2300" b="1" kern="1200">
                <a:solidFill>
                  <a:schemeClr val="tx1"/>
                </a:solidFill>
                <a:latin typeface="+mj-lt"/>
                <a:ea typeface="+mj-ea"/>
                <a:cs typeface="+mj-cs"/>
              </a:defRPr>
            </a:lvl1pPr>
          </a:lstStyle>
          <a:p>
            <a:r>
              <a:rPr lang="en-GB" noProof="1">
                <a:latin typeface="Calibri" panose="020F0502020204030204" pitchFamily="34" charset="0"/>
                <a:cs typeface="Calibri" panose="020F0502020204030204" pitchFamily="34" charset="0"/>
              </a:rPr>
              <a:t>How does this two-vowel system fit within Afro-Asiatic?</a:t>
            </a:r>
          </a:p>
        </p:txBody>
      </p:sp>
    </p:spTree>
    <p:extLst>
      <p:ext uri="{BB962C8B-B14F-4D97-AF65-F5344CB8AC3E}">
        <p14:creationId xmlns:p14="http://schemas.microsoft.com/office/powerpoint/2010/main" val="1775936213"/>
      </p:ext>
    </p:extLst>
  </p:cSld>
  <p:clrMapOvr>
    <a:masterClrMapping/>
  </p:clrMapOvr>
  <mc:AlternateContent xmlns:mc="http://schemas.openxmlformats.org/markup-compatibility/2006" xmlns:p14="http://schemas.microsoft.com/office/powerpoint/2010/main">
    <mc:Choice Requires="p14">
      <p:transition spd="slow" p14:dur="2000" advTm="53386"/>
    </mc:Choice>
    <mc:Fallback xmlns="">
      <p:transition spd="slow" advTm="5338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E967B2-8CF7-304E-39D6-1115BB9FD25C}"/>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06A26D20-D063-5D77-686A-421DF054664F}"/>
              </a:ext>
            </a:extLst>
          </p:cNvPr>
          <p:cNvSpPr>
            <a:spLocks noGrp="1"/>
          </p:cNvSpPr>
          <p:nvPr>
            <p:ph idx="1"/>
          </p:nvPr>
        </p:nvSpPr>
        <p:spPr/>
        <p:txBody>
          <a:bodyPr/>
          <a:lstStyle/>
          <a:p>
            <a:endParaRPr lang="de-DE"/>
          </a:p>
        </p:txBody>
      </p:sp>
      <p:sp>
        <p:nvSpPr>
          <p:cNvPr id="4" name="Datumsplatzhalter 3">
            <a:extLst>
              <a:ext uri="{FF2B5EF4-FFF2-40B4-BE49-F238E27FC236}">
                <a16:creationId xmlns:a16="http://schemas.microsoft.com/office/drawing/2014/main" id="{642BD817-EBB9-EFEB-AC08-7AF35C2C3EBD}"/>
              </a:ext>
            </a:extLst>
          </p:cNvPr>
          <p:cNvSpPr>
            <a:spLocks noGrp="1"/>
          </p:cNvSpPr>
          <p:nvPr>
            <p:ph type="dt" sz="half" idx="10"/>
          </p:nvPr>
        </p:nvSpPr>
        <p:spPr/>
        <p:txBody>
          <a:bodyPr/>
          <a:lstStyle/>
          <a:p>
            <a:r>
              <a:rPr lang="de-DE"/>
              <a:t>Title of presentation, author, DD.MM.YY</a:t>
            </a:r>
            <a:endParaRPr lang="en-GB" dirty="0"/>
          </a:p>
        </p:txBody>
      </p:sp>
      <p:sp>
        <p:nvSpPr>
          <p:cNvPr id="5" name="Fußzeilenplatzhalter 4">
            <a:extLst>
              <a:ext uri="{FF2B5EF4-FFF2-40B4-BE49-F238E27FC236}">
                <a16:creationId xmlns:a16="http://schemas.microsoft.com/office/drawing/2014/main" id="{AD6A20EE-6C06-F984-03E6-D0912667C7D2}"/>
              </a:ext>
            </a:extLst>
          </p:cNvPr>
          <p:cNvSpPr>
            <a:spLocks noGrp="1"/>
          </p:cNvSpPr>
          <p:nvPr>
            <p:ph type="ftr" sz="quarter" idx="11"/>
          </p:nvPr>
        </p:nvSpPr>
        <p:spPr/>
        <p:txBody>
          <a:bodyPr/>
          <a:lstStyle/>
          <a:p>
            <a:pPr algn="r"/>
            <a:r>
              <a:rPr lang="en-GB"/>
              <a:t>University of Basel</a:t>
            </a:r>
            <a:endParaRPr lang="en-GB" dirty="0"/>
          </a:p>
        </p:txBody>
      </p:sp>
      <p:sp>
        <p:nvSpPr>
          <p:cNvPr id="6" name="Foliennummernplatzhalter 5">
            <a:extLst>
              <a:ext uri="{FF2B5EF4-FFF2-40B4-BE49-F238E27FC236}">
                <a16:creationId xmlns:a16="http://schemas.microsoft.com/office/drawing/2014/main" id="{B36E585C-448C-8B45-340F-7FAEC55CF074}"/>
              </a:ext>
            </a:extLst>
          </p:cNvPr>
          <p:cNvSpPr>
            <a:spLocks noGrp="1"/>
          </p:cNvSpPr>
          <p:nvPr>
            <p:ph type="sldNum" sz="quarter" idx="12"/>
          </p:nvPr>
        </p:nvSpPr>
        <p:spPr/>
        <p:txBody>
          <a:bodyPr/>
          <a:lstStyle/>
          <a:p>
            <a:fld id="{B3811826-9277-4232-A2B5-17D05DFC7392}" type="slidenum">
              <a:rPr lang="de-CH" smtClean="0"/>
              <a:pPr/>
              <a:t>35</a:t>
            </a:fld>
            <a:endParaRPr lang="de-CH" dirty="0"/>
          </a:p>
        </p:txBody>
      </p:sp>
    </p:spTree>
    <p:extLst>
      <p:ext uri="{BB962C8B-B14F-4D97-AF65-F5344CB8AC3E}">
        <p14:creationId xmlns:p14="http://schemas.microsoft.com/office/powerpoint/2010/main" val="4159036223"/>
      </p:ext>
    </p:extLst>
  </p:cSld>
  <p:clrMapOvr>
    <a:masterClrMapping/>
  </p:clrMapOvr>
</p:sld>
</file>

<file path=ppt/theme/theme1.xml><?xml version="1.0" encoding="utf-8"?>
<a:theme xmlns:a="http://schemas.openxmlformats.org/drawingml/2006/main" name="uni_basel_V04_de">
  <a:themeElements>
    <a:clrScheme name="Uni Basel">
      <a:dk1>
        <a:srgbClr val="000000"/>
      </a:dk1>
      <a:lt1>
        <a:srgbClr val="FFFFFF"/>
      </a:lt1>
      <a:dk2>
        <a:srgbClr val="006E6E"/>
      </a:dk2>
      <a:lt2>
        <a:srgbClr val="BEC3C8"/>
      </a:lt2>
      <a:accent1>
        <a:srgbClr val="A5D7D2"/>
      </a:accent1>
      <a:accent2>
        <a:srgbClr val="1EA5A5"/>
      </a:accent2>
      <a:accent3>
        <a:srgbClr val="2D373C"/>
      </a:accent3>
      <a:accent4>
        <a:srgbClr val="8C9196"/>
      </a:accent4>
      <a:accent5>
        <a:srgbClr val="D20537"/>
      </a:accent5>
      <a:accent6>
        <a:srgbClr val="EB829B"/>
      </a:accent6>
      <a:hlink>
        <a:srgbClr val="000000"/>
      </a:hlink>
      <a:folHlink>
        <a:srgbClr val="000000"/>
      </a:folHlink>
    </a:clrScheme>
    <a:fontScheme name="Uni Basel">
      <a:majorFont>
        <a:latin typeface="Georgia"/>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ts val="2200"/>
          </a:lnSpc>
          <a:defRPr dirty="0"/>
        </a:defPPr>
      </a:lstStyle>
    </a:txDef>
  </a:objectDefaults>
  <a:extraClrSchemeLst>
    <a:extraClrScheme>
      <a:clrScheme name="Uni Basel">
        <a:dk1>
          <a:srgbClr val="000000"/>
        </a:dk1>
        <a:lt1>
          <a:srgbClr val="FFFFFF"/>
        </a:lt1>
        <a:dk2>
          <a:srgbClr val="006E6E"/>
        </a:dk2>
        <a:lt2>
          <a:srgbClr val="BEC3C8"/>
        </a:lt2>
        <a:accent1>
          <a:srgbClr val="A5D7D2"/>
        </a:accent1>
        <a:accent2>
          <a:srgbClr val="1EA5A5"/>
        </a:accent2>
        <a:accent3>
          <a:srgbClr val="2D373C"/>
        </a:accent3>
        <a:accent4>
          <a:srgbClr val="8C9196"/>
        </a:accent4>
        <a:accent5>
          <a:srgbClr val="D20537"/>
        </a:accent5>
        <a:accent6>
          <a:srgbClr val="EB829B"/>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vowels 1.1" id="{337CEC61-822E-894E-B641-AF293FA7B486}" vid="{301E974A-25C0-AF4C-9548-AA4E86A74E24}"/>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uni_basel_V04_de</Template>
  <TotalTime>0</TotalTime>
  <Words>3704</Words>
  <Application>Microsoft Macintosh PowerPoint</Application>
  <PresentationFormat>Breitbild</PresentationFormat>
  <Paragraphs>556</Paragraphs>
  <Slides>35</Slides>
  <Notes>33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35</vt:i4>
      </vt:variant>
    </vt:vector>
  </HeadingPairs>
  <TitlesOfParts>
    <vt:vector size="40" baseType="lpstr">
      <vt:lpstr>Arial</vt:lpstr>
      <vt:lpstr>Calibri</vt:lpstr>
      <vt:lpstr>Georgia</vt:lpstr>
      <vt:lpstr>Times New Roman</vt:lpstr>
      <vt:lpstr>uni_basel_V04_de</vt:lpstr>
      <vt:lpstr>Reconstructing a two-vowel system in  Proto-Coptic</vt:lpstr>
      <vt:lpstr>Coptic Vowels - Overview</vt:lpstr>
      <vt:lpstr>Proto-Coptic vowels</vt:lpstr>
      <vt:lpstr>Proto-Coptic vowels: why do we need a new model?</vt:lpstr>
      <vt:lpstr>Current Model: the problem of *i vs *u</vt:lpstr>
      <vt:lpstr>Current Model: the problem of *i vs *u</vt:lpstr>
      <vt:lpstr>Why reconstructing 3 vowels in the first place?</vt:lpstr>
      <vt:lpstr>Why reconstructing 3 vowels in the first place?</vt:lpstr>
      <vt:lpstr>But Egyptian is not Semitic!</vt:lpstr>
      <vt:lpstr>The second problem: Akkadian transcriptions</vt:lpstr>
      <vt:lpstr>Proto-Coptic vowels: a new model </vt:lpstr>
      <vt:lpstr>Lexical minimal pairs... and why they are not an option</vt:lpstr>
      <vt:lpstr>Lexical minimal pairs... and why they are not an option</vt:lpstr>
      <vt:lpstr>Morphological minimal pairs</vt:lpstr>
      <vt:lpstr>Morphological minimal pairs</vt:lpstr>
      <vt:lpstr>Morphological minimal pairs : in plurals</vt:lpstr>
      <vt:lpstr>Morphological minimal pairs : in pseudoparticiples</vt:lpstr>
      <vt:lpstr>Morphological minimal pairs : ⲏ vs ⲓ ?</vt:lpstr>
      <vt:lpstr>Morphological minimal pairs : ⲏ vs ⲓ ?</vt:lpstr>
      <vt:lpstr>Morphological minimal pairs : (de)verbal nouns</vt:lpstr>
      <vt:lpstr>Morphological minimal pairs : (de)verbal nouns</vt:lpstr>
      <vt:lpstr>Morphological minimal pairs : (de)verbal nouns</vt:lpstr>
      <vt:lpstr>Morphological minimal pairs : summary</vt:lpstr>
      <vt:lpstr>Morphological minimal pairs : summary</vt:lpstr>
      <vt:lpstr>Is this really a morphological opposition?</vt:lpstr>
      <vt:lpstr>Is this really a morphological opposition?</vt:lpstr>
      <vt:lpstr>Is this really a morphological opposition?</vt:lpstr>
      <vt:lpstr>Is this really a morphological opposition?</vt:lpstr>
      <vt:lpstr>Conditioning factors?</vt:lpstr>
      <vt:lpstr>Conditioning factors?</vt:lpstr>
      <vt:lpstr>Conditioning factors?</vt:lpstr>
      <vt:lpstr>Some rules</vt:lpstr>
      <vt:lpstr>Some rules</vt:lpstr>
      <vt:lpstr>The bigger picture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Marwan Kilani</dc:creator>
  <cp:lastModifiedBy>Marwan Kilani</cp:lastModifiedBy>
  <cp:revision>12</cp:revision>
  <dcterms:created xsi:type="dcterms:W3CDTF">2026-04-28T10:36:54Z</dcterms:created>
  <dcterms:modified xsi:type="dcterms:W3CDTF">2026-05-02T08:10:12Z</dcterms:modified>
</cp:coreProperties>
</file>